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 / 55</a:t>
            </a:r>
            <a:endParaRPr lang="en-US" sz="1000" dirty="0"/>
          </a:p>
        </p:txBody>
      </p:sp>
      <p:sp>
        <p:nvSpPr>
          <p:cNvPr id="4" name="Shape 2"/>
          <p:cNvSpPr/>
          <p:nvPr/>
        </p:nvSpPr>
        <p:spPr>
          <a:xfrm>
            <a:off x="640080" y="640080"/>
            <a:ext cx="640080" cy="640080"/>
          </a:xfrm>
          <a:prstGeom prst="ellipse">
            <a:avLst/>
          </a:prstGeom>
          <a:ln w="38100">
            <a:solidFill>
              <a:srgbClr val="FFF6E9"/>
            </a:solidFill>
            <a:prstDash val="solid"/>
          </a:ln>
        </p:spPr>
      </p:sp>
      <p:sp>
        <p:nvSpPr>
          <p:cNvPr id="5" name="Shape 3"/>
          <p:cNvSpPr/>
          <p:nvPr/>
        </p:nvSpPr>
        <p:spPr>
          <a:xfrm>
            <a:off x="914400" y="5760720"/>
            <a:ext cx="502920" cy="457200"/>
          </a:xfrm>
          <a:prstGeom prst="triangle">
            <a:avLst/>
          </a:prstGeom>
          <a:solidFill>
            <a:srgbClr val="2EC4B6"/>
          </a:solidFill>
          <a:ln w="25400">
            <a:solidFill>
              <a:srgbClr val="FFF6E9"/>
            </a:solidFill>
            <a:prstDash val="solid"/>
          </a:ln>
        </p:spPr>
      </p:sp>
      <p:sp>
        <p:nvSpPr>
          <p:cNvPr id="6" name="Shape 4"/>
          <p:cNvSpPr/>
          <p:nvPr/>
        </p:nvSpPr>
        <p:spPr>
          <a:xfrm>
            <a:off x="4480560" y="502920"/>
            <a:ext cx="3200400" cy="1417320"/>
          </a:xfrm>
          <a:prstGeom prst="roundRect">
            <a:avLst>
              <a:gd name="adj" fmla="val 9677"/>
            </a:avLst>
          </a:prstGeom>
          <a:solidFill>
            <a:srgbClr val="FFF6E9"/>
          </a:solidFill>
          <a:ln/>
        </p:spPr>
      </p:sp>
      <p:pic>
        <p:nvPicPr>
          <p:cNvPr id="7" name="Image 0" descr="C:\Users\TL-77057\Downloads\AccessAI\screenshots\00-logo-nagorik-sathi.png">    </p:cNvPr>
          <p:cNvPicPr>
            <a:picLocks noChangeAspect="1"/>
          </p:cNvPicPr>
          <p:nvPr/>
        </p:nvPicPr>
        <p:blipFill>
          <a:blip r:embed="rId1"/>
          <a:stretch>
            <a:fillRect/>
          </a:stretch>
        </p:blipFill>
        <p:spPr>
          <a:xfrm>
            <a:off x="4617720" y="719633"/>
            <a:ext cx="2926080" cy="974750"/>
          </a:xfrm>
          <a:prstGeom prst="rect">
            <a:avLst/>
          </a:prstGeom>
        </p:spPr>
      </p:pic>
      <p:sp>
        <p:nvSpPr>
          <p:cNvPr id="8" name="Text 5"/>
          <p:cNvSpPr/>
          <p:nvPr/>
        </p:nvSpPr>
        <p:spPr>
          <a:xfrm>
            <a:off x="4434840" y="2148840"/>
            <a:ext cx="329184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ENGINEERING PROJECT NAME: ACCESSAI</a:t>
            </a:r>
            <a:endParaRPr lang="en-US" sz="1100" dirty="0"/>
          </a:p>
        </p:txBody>
      </p:sp>
      <p:sp>
        <p:nvSpPr>
          <p:cNvPr id="9" name="Text 6"/>
          <p:cNvSpPr/>
          <p:nvPr/>
        </p:nvSpPr>
        <p:spPr>
          <a:xfrm>
            <a:off x="1371600" y="2651760"/>
            <a:ext cx="9445752" cy="914400"/>
          </a:xfrm>
          <a:prstGeom prst="rect">
            <a:avLst/>
          </a:prstGeom>
          <a:noFill/>
          <a:ln/>
        </p:spPr>
        <p:txBody>
          <a:bodyPr wrap="square" rtlCol="0" anchor="ctr"/>
          <a:lstStyle/>
          <a:p>
            <a:pPr algn="ctr" indent="0" marL="0">
              <a:buNone/>
            </a:pPr>
            <a:r>
              <a:rPr lang="en-US" sz="4400" b="1" dirty="0">
                <a:solidFill>
                  <a:srgbClr val="FFF6E9"/>
                </a:solidFill>
                <a:latin typeface="Baloo 2" pitchFamily="34" charset="0"/>
                <a:ea typeface="Baloo 2" pitchFamily="34" charset="-122"/>
                <a:cs typeface="Baloo 2" pitchFamily="34" charset="-120"/>
              </a:rPr>
              <a:t>নাগরিক সাথী</a:t>
            </a:r>
            <a:endParaRPr lang="en-US" sz="4400" dirty="0"/>
          </a:p>
        </p:txBody>
      </p:sp>
      <p:sp>
        <p:nvSpPr>
          <p:cNvPr id="10" name="Text 7"/>
          <p:cNvSpPr/>
          <p:nvPr/>
        </p:nvSpPr>
        <p:spPr>
          <a:xfrm>
            <a:off x="2286000" y="3520440"/>
            <a:ext cx="7616952" cy="502920"/>
          </a:xfrm>
          <a:prstGeom prst="rect">
            <a:avLst/>
          </a:prstGeom>
          <a:noFill/>
          <a:ln/>
        </p:spPr>
        <p:txBody>
          <a:bodyPr wrap="square" rtlCol="0" anchor="ctr"/>
          <a:lstStyle/>
          <a:p>
            <a:pPr algn="ctr" indent="0" marL="0">
              <a:buNone/>
            </a:pPr>
            <a:r>
              <a:rPr lang="en-US" sz="1800" b="1" dirty="0">
                <a:solidFill>
                  <a:srgbClr val="E9DFC9"/>
                </a:solidFill>
                <a:latin typeface="Nunito" pitchFamily="34" charset="0"/>
                <a:ea typeface="Nunito" pitchFamily="34" charset="-122"/>
                <a:cs typeface="Nunito" pitchFamily="34" charset="-120"/>
              </a:rPr>
              <a:t>প্রত্যেক নাগরিকের জন্য একজন এআই সহকারী।</a:t>
            </a:r>
            <a:endParaRPr lang="en-US" sz="1800" dirty="0"/>
          </a:p>
        </p:txBody>
      </p:sp>
      <p:sp>
        <p:nvSpPr>
          <p:cNvPr id="11" name="Text 8"/>
          <p:cNvSpPr/>
          <p:nvPr/>
        </p:nvSpPr>
        <p:spPr>
          <a:xfrm>
            <a:off x="2651760" y="4114800"/>
            <a:ext cx="6885432" cy="822960"/>
          </a:xfrm>
          <a:prstGeom prst="rect">
            <a:avLst/>
          </a:prstGeom>
          <a:noFill/>
          <a:ln/>
        </p:spPr>
        <p:txBody>
          <a:bodyPr wrap="square" rtlCol="0" anchor="t"/>
          <a:lstStyle/>
          <a:p>
            <a:pPr algn="ctr" indent="0" marL="0">
              <a:lnSpc>
                <a:spcPct val="130000"/>
              </a:lnSpc>
              <a:buNone/>
            </a:pPr>
            <a:r>
              <a:rPr lang="en-US" sz="1300" dirty="0">
                <a:solidFill>
                  <a:srgbClr val="DCD2BD"/>
                </a:solidFill>
                <a:latin typeface="Nunito" pitchFamily="34" charset="0"/>
                <a:ea typeface="Nunito" pitchFamily="34" charset="-122"/>
                <a:cs typeface="Nunito" pitchFamily="34" charset="-120"/>
              </a:rPr>
              <a:t>One AI assistant that tells a citizen exactly what they qualify for and why — then makes sure the money and the promises around it can be checked, too.</a:t>
            </a:r>
            <a:endParaRPr lang="en-US" sz="1300" dirty="0"/>
          </a:p>
        </p:txBody>
      </p:sp>
      <p:sp>
        <p:nvSpPr>
          <p:cNvPr id="12" name="Shape 9"/>
          <p:cNvSpPr/>
          <p:nvPr/>
        </p:nvSpPr>
        <p:spPr>
          <a:xfrm rot="-540000">
            <a:off x="5184648" y="4892040"/>
            <a:ext cx="1828800" cy="1828800"/>
          </a:xfrm>
          <a:prstGeom prst="ellipse">
            <a:avLst/>
          </a:prstGeom>
          <a:solidFill>
            <a:srgbClr val="FFBF00"/>
          </a:solidFill>
          <a:ln w="50800">
            <a:solidFill>
              <a:srgbClr val="1D1D1D"/>
            </a:solidFill>
            <a:prstDash val="solid"/>
          </a:ln>
          <a:effectLst>
            <a:outerShdw sx="100000" sy="100000" kx="0" ky="0" algn="bl" rotWithShape="0" blurRad="101600" dist="114300" dir="2700000">
              <a:srgbClr val="1D1D1D">
                <a:alpha val="100000"/>
              </a:srgbClr>
            </a:outerShdw>
          </a:effectLst>
        </p:spPr>
      </p:sp>
      <p:sp>
        <p:nvSpPr>
          <p:cNvPr id="13" name="Text 10"/>
          <p:cNvSpPr/>
          <p:nvPr/>
        </p:nvSpPr>
        <p:spPr>
          <a:xfrm rot="-540000">
            <a:off x="5184648" y="4892040"/>
            <a:ext cx="1828800" cy="1828800"/>
          </a:xfrm>
          <a:prstGeom prst="rect">
            <a:avLst/>
          </a:prstGeom>
          <a:noFill/>
          <a:ln/>
        </p:spPr>
        <p:txBody>
          <a:bodyPr wrap="square" rtlCol="0" anchor="ctr"/>
          <a:lstStyle/>
          <a:p>
            <a:pPr algn="ctr" indent="0" marL="0">
              <a:buNone/>
            </a:pPr>
            <a:r>
              <a:rPr lang="en-US" sz="1500" b="1" dirty="0">
                <a:solidFill>
                  <a:srgbClr val="1D1D1D"/>
                </a:solidFill>
                <a:latin typeface="Baloo 2" pitchFamily="34" charset="0"/>
                <a:ea typeface="Baloo 2" pitchFamily="34" charset="-122"/>
                <a:cs typeface="Baloo 2" pitchFamily="34" charset="-120"/>
              </a:rPr>
              <a:t>Built for</a:t>
            </a:r>
            <a:endParaRPr lang="en-US" sz="1500" dirty="0"/>
          </a:p>
          <a:p>
            <a:pPr algn="ctr" indent="0" marL="0">
              <a:buNone/>
            </a:pPr>
            <a:r>
              <a:rPr lang="en-US" sz="1500" b="1" dirty="0">
                <a:solidFill>
                  <a:srgbClr val="1D1D1D"/>
                </a:solidFill>
                <a:latin typeface="Baloo 2" pitchFamily="34" charset="0"/>
                <a:ea typeface="Baloo 2" pitchFamily="34" charset="-122"/>
                <a:cs typeface="Baloo 2" pitchFamily="34" charset="-120"/>
              </a:rPr>
              <a:t>Bangladesh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 / 55</a:t>
            </a:r>
            <a:endParaRPr lang="en-US" sz="1000" dirty="0"/>
          </a:p>
        </p:txBody>
      </p:sp>
      <p:sp>
        <p:nvSpPr>
          <p:cNvPr id="4" name="Text 2"/>
          <p:cNvSpPr/>
          <p:nvPr/>
        </p:nvSpPr>
        <p:spPr>
          <a:xfrm>
            <a:off x="4160520" y="68580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A TRUE-TO-LIFE SCENARIO</a:t>
            </a:r>
            <a:endParaRPr lang="en-US" sz="1100" dirty="0"/>
          </a:p>
        </p:txBody>
      </p:sp>
      <p:sp>
        <p:nvSpPr>
          <p:cNvPr id="5" name="Text 3"/>
          <p:cNvSpPr/>
          <p:nvPr/>
        </p:nvSpPr>
        <p:spPr>
          <a:xfrm>
            <a:off x="914400" y="1417320"/>
            <a:ext cx="10360152" cy="2000936"/>
          </a:xfrm>
          <a:prstGeom prst="rect">
            <a:avLst/>
          </a:prstGeom>
          <a:noFill/>
          <a:ln/>
        </p:spPr>
        <p:txBody>
          <a:bodyPr wrap="square" rtlCol="0" anchor="t"/>
          <a:lstStyle/>
          <a:p>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Her husband just died. She has </a:t>
            </a:r>
            <a:pPr algn="ctr"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three</a:t>
            </a:r>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 children, no income, and no idea what she is owed.</a:t>
            </a:r>
            <a:endParaRPr lang="en-US" sz="3800" dirty="0"/>
          </a:p>
        </p:txBody>
      </p:sp>
      <p:sp>
        <p:nvSpPr>
          <p:cNvPr id="6" name="Text 4"/>
          <p:cNvSpPr/>
          <p:nvPr/>
        </p:nvSpPr>
        <p:spPr>
          <a:xfrm>
            <a:off x="1645920" y="3838880"/>
            <a:ext cx="8897112" cy="1618234"/>
          </a:xfrm>
          <a:prstGeom prst="rect">
            <a:avLst/>
          </a:prstGeom>
          <a:noFill/>
          <a:ln/>
        </p:spPr>
        <p:txBody>
          <a:bodyPr wrap="square" rtlCol="0" anchor="t"/>
          <a:lstStyle/>
          <a:p>
            <a:pPr algn="ctr" indent="0" marL="0">
              <a:lnSpc>
                <a:spcPct val="125000"/>
              </a:lnSpc>
              <a:buNone/>
            </a:pPr>
            <a:r>
              <a:rPr lang="en-US" sz="1900" dirty="0">
                <a:solidFill>
                  <a:srgbClr val="332F2A"/>
                </a:solidFill>
                <a:latin typeface="Nunito" pitchFamily="34" charset="0"/>
                <a:ea typeface="Nunito" pitchFamily="34" charset="-122"/>
                <a:cs typeface="Nunito" pitchFamily="34" charset="-120"/>
              </a:rPr>
              <a:t>Somewhere, right now, a government office has an allowance with her name on it — on paper. She doesn’t know it exists. Nobody is going to tell her. That gap is not a technology problem first. It’s a trust problem. This is what we built to close it.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 / 55</a:t>
            </a:r>
            <a:endParaRPr lang="en-US" sz="1000" dirty="0"/>
          </a:p>
        </p:txBody>
      </p:sp>
      <p:sp>
        <p:nvSpPr>
          <p:cNvPr id="4" name="Text 2"/>
          <p:cNvSpPr/>
          <p:nvPr/>
        </p:nvSpPr>
        <p:spPr>
          <a:xfrm>
            <a:off x="640080" y="45720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THE PROBLEM, PART ONE</a:t>
            </a:r>
            <a:endParaRPr lang="en-US" sz="1100" dirty="0"/>
          </a:p>
        </p:txBody>
      </p:sp>
      <p:sp>
        <p:nvSpPr>
          <p:cNvPr id="5" name="Text 3"/>
          <p:cNvSpPr/>
          <p:nvPr/>
        </p:nvSpPr>
        <p:spPr>
          <a:xfrm>
            <a:off x="640080" y="960120"/>
            <a:ext cx="6309360" cy="1708099"/>
          </a:xfrm>
          <a:prstGeom prst="rect">
            <a:avLst/>
          </a:prstGeom>
          <a:noFill/>
          <a:ln/>
        </p:spPr>
        <p:txBody>
          <a:bodyPr wrap="square" rtlCol="0" anchor="t"/>
          <a:lstStyle/>
          <a:p>
            <a:pPr algn="l" indent="0" marL="0">
              <a:lnSpc>
                <a:spcPct val="105000"/>
              </a:lnSpc>
              <a:buNone/>
            </a:pPr>
            <a:r>
              <a:rPr lang="en-US" sz="3200" b="1" dirty="0">
                <a:solidFill>
                  <a:srgbClr val="1D1D1D"/>
                </a:solidFill>
                <a:latin typeface="Baloo 2" pitchFamily="34" charset="0"/>
                <a:ea typeface="Baloo 2" pitchFamily="34" charset="-122"/>
                <a:cs typeface="Baloo 2" pitchFamily="34" charset="-120"/>
              </a:rPr>
              <a:t>Bangladesh doesn’t lack welfare programmes. It lacks a way to </a:t>
            </a:r>
            <a:pPr algn="l" indent="0" marL="0">
              <a:lnSpc>
                <a:spcPct val="105000"/>
              </a:lnSpc>
              <a:buNone/>
            </a:pPr>
            <a:r>
              <a:rPr lang="en-US" sz="3200" b="1" dirty="0">
                <a:solidFill>
                  <a:srgbClr val="1D1D1D"/>
                </a:solidFill>
                <a:highlight>
                  <a:srgbClr val="FFBF00"/>
                </a:highlight>
                <a:latin typeface="Baloo 2" pitchFamily="34" charset="0"/>
                <a:ea typeface="Baloo 2" pitchFamily="34" charset="-122"/>
                <a:cs typeface="Baloo 2" pitchFamily="34" charset="-120"/>
              </a:rPr>
              <a:t>find</a:t>
            </a:r>
            <a:pPr algn="l" indent="0" marL="0">
              <a:lnSpc>
                <a:spcPct val="105000"/>
              </a:lnSpc>
              <a:buNone/>
            </a:pPr>
            <a:r>
              <a:rPr lang="en-US" sz="3200" b="1" dirty="0">
                <a:solidFill>
                  <a:srgbClr val="1D1D1D"/>
                </a:solidFill>
                <a:latin typeface="Baloo 2" pitchFamily="34" charset="0"/>
                <a:ea typeface="Baloo 2" pitchFamily="34" charset="-122"/>
                <a:cs typeface="Baloo 2" pitchFamily="34" charset="-120"/>
              </a:rPr>
              <a:t> them.</a:t>
            </a:r>
            <a:endParaRPr lang="en-US" sz="3200" dirty="0"/>
          </a:p>
        </p:txBody>
      </p:sp>
      <p:sp>
        <p:nvSpPr>
          <p:cNvPr id="6" name="Text 4"/>
          <p:cNvSpPr/>
          <p:nvPr/>
        </p:nvSpPr>
        <p:spPr>
          <a:xfrm>
            <a:off x="640080" y="2832811"/>
            <a:ext cx="6309360" cy="2121789"/>
          </a:xfrm>
          <a:prstGeom prst="rect">
            <a:avLst/>
          </a:prstGeom>
          <a:noFill/>
          <a:ln/>
        </p:spPr>
        <p:txBody>
          <a:bodyPr wrap="square" rtlCol="0" anchor="t"/>
          <a:lstStyle/>
          <a:p>
            <a:pPr algn="l" indent="0" marL="0">
              <a:lnSpc>
                <a:spcPct val="125000"/>
              </a:lnSpc>
              <a:buNone/>
            </a:pPr>
            <a:r>
              <a:rPr lang="en-US" sz="1700" dirty="0">
                <a:solidFill>
                  <a:srgbClr val="332F2A"/>
                </a:solidFill>
                <a:latin typeface="Nunito" pitchFamily="34" charset="0"/>
                <a:ea typeface="Nunito" pitchFamily="34" charset="-122"/>
                <a:cs typeface="Nunito" pitchFamily="34" charset="-120"/>
              </a:rPr>
              <a:t>Allowances for widows, the elderly, students, farmers, disabled citizens, disaster survivors — dozens of real schemes, run by different ministries, departments and NGOs, each with its own eligibility rules, its own office, its own form. There is no single place that asks “what happened to you” and answers “here’s what you’re entitled to.”</a:t>
            </a:r>
            <a:endParaRPr lang="en-US" sz="1700" dirty="0"/>
          </a:p>
        </p:txBody>
      </p:sp>
      <p:sp>
        <p:nvSpPr>
          <p:cNvPr id="7" name="Shape 5"/>
          <p:cNvSpPr/>
          <p:nvPr/>
        </p:nvSpPr>
        <p:spPr>
          <a:xfrm>
            <a:off x="7223760" y="960120"/>
            <a:ext cx="4297680" cy="4297680"/>
          </a:xfrm>
          <a:prstGeom prst="roundRect">
            <a:avLst>
              <a:gd name="adj" fmla="val 2979"/>
            </a:avLst>
          </a:prstGeom>
          <a:solidFill>
            <a:srgbClr val="FFBF00"/>
          </a:solidFill>
          <a:ln w="31750">
            <a:solidFill>
              <a:srgbClr val="1D1D1D"/>
            </a:solidFill>
            <a:prstDash val="solid"/>
          </a:ln>
          <a:effectLst>
            <a:outerShdw sx="100000" sy="100000" kx="0" ky="0" algn="bl" rotWithShape="0" blurRad="1290320000" dist="1451610000" dir="162000000000">
              <a:srgbClr val="1D1D1D">
                <a:alpha val="10000000000"/>
              </a:srgbClr>
            </a:outerShdw>
          </a:effectLst>
        </p:spPr>
      </p:sp>
      <p:sp>
        <p:nvSpPr>
          <p:cNvPr id="8" name="Text 6"/>
          <p:cNvSpPr/>
          <p:nvPr/>
        </p:nvSpPr>
        <p:spPr>
          <a:xfrm>
            <a:off x="7452360" y="1143000"/>
            <a:ext cx="3840480" cy="320040"/>
          </a:xfrm>
          <a:prstGeom prst="rect">
            <a:avLst/>
          </a:prstGeom>
          <a:noFill/>
          <a:ln/>
        </p:spPr>
        <p:txBody>
          <a:bodyPr wrap="square" rtlCol="0" anchor="t"/>
          <a:lstStyle/>
          <a:p>
            <a:pPr indent="0" marL="0">
              <a:buNone/>
            </a:pPr>
            <a:r>
              <a:rPr lang="en-US" sz="1100" b="1" dirty="0">
                <a:solidFill>
                  <a:srgbClr val="1D1D1D"/>
                </a:solidFill>
                <a:latin typeface="Nunito" pitchFamily="34" charset="0"/>
                <a:ea typeface="Nunito" pitchFamily="34" charset="-122"/>
                <a:cs typeface="Nunito" pitchFamily="34" charset="-120"/>
              </a:rPr>
              <a:t>JUST IN OUR OWN SAMPLE CORPUS</a:t>
            </a:r>
            <a:endParaRPr lang="en-US" sz="1100" dirty="0"/>
          </a:p>
        </p:txBody>
      </p:sp>
      <p:sp>
        <p:nvSpPr>
          <p:cNvPr id="9" name="Shape 7"/>
          <p:cNvSpPr/>
          <p:nvPr/>
        </p:nvSpPr>
        <p:spPr>
          <a:xfrm>
            <a:off x="7452360" y="1928553"/>
            <a:ext cx="563270" cy="2826327"/>
          </a:xfrm>
          <a:prstGeom prst="roundRect">
            <a:avLst>
              <a:gd name="adj" fmla="val 8117"/>
            </a:avLst>
          </a:prstGeom>
          <a:solidFill>
            <a:srgbClr val="FF5D73"/>
          </a:solidFill>
          <a:ln w="25400">
            <a:solidFill>
              <a:srgbClr val="1D1D1D"/>
            </a:solidFill>
            <a:prstDash val="solid"/>
          </a:ln>
          <a:effectLst>
            <a:outerShdw sx="100000" sy="100000" kx="0" ky="0" algn="bl" rotWithShape="0" blurRad="101600" dist="69850" dir="2700000">
              <a:srgbClr val="1D1D1D">
                <a:alpha val="100000"/>
              </a:srgbClr>
            </a:outerShdw>
          </a:effectLst>
        </p:spPr>
      </p:sp>
      <p:sp>
        <p:nvSpPr>
          <p:cNvPr id="10" name="Text 8"/>
          <p:cNvSpPr/>
          <p:nvPr/>
        </p:nvSpPr>
        <p:spPr>
          <a:xfrm>
            <a:off x="7452360" y="1635945"/>
            <a:ext cx="563270" cy="274320"/>
          </a:xfrm>
          <a:prstGeom prst="rect">
            <a:avLst/>
          </a:prstGeom>
          <a:noFill/>
          <a:ln/>
        </p:spPr>
        <p:txBody>
          <a:bodyPr wrap="square" rtlCol="0" anchor="ctr"/>
          <a:lstStyle/>
          <a:p>
            <a:pPr algn="ctr" indent="0" marL="0">
              <a:buNone/>
            </a:pPr>
            <a:r>
              <a:rPr lang="en-US" sz="1400" b="1" dirty="0">
                <a:solidFill>
                  <a:srgbClr val="1D1D1D"/>
                </a:solidFill>
                <a:latin typeface="Baloo 2" pitchFamily="34" charset="0"/>
                <a:ea typeface="Baloo 2" pitchFamily="34" charset="-122"/>
                <a:cs typeface="Baloo 2" pitchFamily="34" charset="-120"/>
              </a:rPr>
              <a:t>10</a:t>
            </a:r>
            <a:endParaRPr lang="en-US" sz="1400" dirty="0"/>
          </a:p>
        </p:txBody>
      </p:sp>
      <p:sp>
        <p:nvSpPr>
          <p:cNvPr id="11" name="Text 9"/>
          <p:cNvSpPr/>
          <p:nvPr/>
        </p:nvSpPr>
        <p:spPr>
          <a:xfrm>
            <a:off x="7406640" y="4800600"/>
            <a:ext cx="654710" cy="365760"/>
          </a:xfrm>
          <a:prstGeom prst="rect">
            <a:avLst/>
          </a:prstGeom>
          <a:noFill/>
          <a:ln/>
        </p:spPr>
        <p:txBody>
          <a:bodyPr wrap="square" rtlCol="0" anchor="t"/>
          <a:lstStyle/>
          <a:p>
            <a:pPr algn="ctr" indent="0" marL="0">
              <a:buNone/>
            </a:pPr>
            <a:r>
              <a:rPr lang="en-US" sz="950" b="1" dirty="0">
                <a:solidFill>
                  <a:srgbClr val="1D1D1D"/>
                </a:solidFill>
                <a:latin typeface="Nunito" pitchFamily="34" charset="0"/>
                <a:ea typeface="Nunito" pitchFamily="34" charset="-122"/>
                <a:cs typeface="Nunito" pitchFamily="34" charset="-120"/>
              </a:rPr>
              <a:t>Welfare</a:t>
            </a:r>
            <a:endParaRPr lang="en-US" sz="950" dirty="0"/>
          </a:p>
        </p:txBody>
      </p:sp>
      <p:sp>
        <p:nvSpPr>
          <p:cNvPr id="12" name="Shape 10"/>
          <p:cNvSpPr/>
          <p:nvPr/>
        </p:nvSpPr>
        <p:spPr>
          <a:xfrm>
            <a:off x="8271662" y="2776451"/>
            <a:ext cx="563270" cy="1978429"/>
          </a:xfrm>
          <a:prstGeom prst="roundRect">
            <a:avLst>
              <a:gd name="adj" fmla="val 8117"/>
            </a:avLst>
          </a:prstGeom>
          <a:solidFill>
            <a:srgbClr val="2EC4B6"/>
          </a:solidFill>
          <a:ln w="25400">
            <a:solidFill>
              <a:srgbClr val="1D1D1D"/>
            </a:solidFill>
            <a:prstDash val="solid"/>
          </a:ln>
          <a:effectLst>
            <a:outerShdw sx="100000" sy="100000" kx="0" ky="0" algn="bl" rotWithShape="0" blurRad="1290320000" dist="887095000" dir="162000000000">
              <a:srgbClr val="1D1D1D">
                <a:alpha val="10000000000"/>
              </a:srgbClr>
            </a:outerShdw>
          </a:effectLst>
        </p:spPr>
      </p:sp>
      <p:sp>
        <p:nvSpPr>
          <p:cNvPr id="13" name="Text 11"/>
          <p:cNvSpPr/>
          <p:nvPr/>
        </p:nvSpPr>
        <p:spPr>
          <a:xfrm>
            <a:off x="8271662" y="2483843"/>
            <a:ext cx="563270" cy="274320"/>
          </a:xfrm>
          <a:prstGeom prst="rect">
            <a:avLst/>
          </a:prstGeom>
          <a:noFill/>
          <a:ln/>
        </p:spPr>
        <p:txBody>
          <a:bodyPr wrap="square" rtlCol="0" anchor="ctr"/>
          <a:lstStyle/>
          <a:p>
            <a:pPr algn="ctr" indent="0" marL="0">
              <a:buNone/>
            </a:pPr>
            <a:r>
              <a:rPr lang="en-US" sz="1400" b="1" dirty="0">
                <a:solidFill>
                  <a:srgbClr val="1D1D1D"/>
                </a:solidFill>
                <a:latin typeface="Baloo 2" pitchFamily="34" charset="0"/>
                <a:ea typeface="Baloo 2" pitchFamily="34" charset="-122"/>
                <a:cs typeface="Baloo 2" pitchFamily="34" charset="-120"/>
              </a:rPr>
              <a:t>7</a:t>
            </a:r>
            <a:endParaRPr lang="en-US" sz="1400" dirty="0"/>
          </a:p>
        </p:txBody>
      </p:sp>
      <p:sp>
        <p:nvSpPr>
          <p:cNvPr id="14" name="Text 12"/>
          <p:cNvSpPr/>
          <p:nvPr/>
        </p:nvSpPr>
        <p:spPr>
          <a:xfrm>
            <a:off x="8225942" y="4800600"/>
            <a:ext cx="654710" cy="365760"/>
          </a:xfrm>
          <a:prstGeom prst="rect">
            <a:avLst/>
          </a:prstGeom>
          <a:noFill/>
          <a:ln/>
        </p:spPr>
        <p:txBody>
          <a:bodyPr wrap="square" rtlCol="0" anchor="t"/>
          <a:lstStyle/>
          <a:p>
            <a:pPr algn="ctr" indent="0" marL="0">
              <a:buNone/>
            </a:pPr>
            <a:r>
              <a:rPr lang="en-US" sz="950" b="1" dirty="0">
                <a:solidFill>
                  <a:srgbClr val="1D1D1D"/>
                </a:solidFill>
                <a:latin typeface="Nunito" pitchFamily="34" charset="0"/>
                <a:ea typeface="Nunito" pitchFamily="34" charset="-122"/>
                <a:cs typeface="Nunito" pitchFamily="34" charset="-120"/>
              </a:rPr>
              <a:t>Education</a:t>
            </a:r>
            <a:endParaRPr lang="en-US" sz="950" dirty="0"/>
          </a:p>
        </p:txBody>
      </p:sp>
      <p:sp>
        <p:nvSpPr>
          <p:cNvPr id="15" name="Shape 13"/>
          <p:cNvSpPr/>
          <p:nvPr/>
        </p:nvSpPr>
        <p:spPr>
          <a:xfrm>
            <a:off x="9090965" y="2776451"/>
            <a:ext cx="563270" cy="1978429"/>
          </a:xfrm>
          <a:prstGeom prst="roundRect">
            <a:avLst>
              <a:gd name="adj" fmla="val 8117"/>
            </a:avLst>
          </a:prstGeom>
          <a:solidFill>
            <a:srgbClr val="FFFFFF"/>
          </a:solidFill>
          <a:ln w="25400">
            <a:solidFill>
              <a:srgbClr val="1D1D1D"/>
            </a:solidFill>
            <a:prstDash val="solid"/>
          </a:ln>
          <a:effectLst>
            <a:outerShdw sx="100000" sy="100000" kx="0" ky="0" algn="bl" rotWithShape="0" blurRad="16387064000000" dist="11266106500000" dir="9720000000000000">
              <a:srgbClr val="1D1D1D">
                <a:alpha val="1000000000000000"/>
              </a:srgbClr>
            </a:outerShdw>
          </a:effectLst>
        </p:spPr>
      </p:sp>
      <p:sp>
        <p:nvSpPr>
          <p:cNvPr id="16" name="Text 14"/>
          <p:cNvSpPr/>
          <p:nvPr/>
        </p:nvSpPr>
        <p:spPr>
          <a:xfrm>
            <a:off x="9090965" y="2483843"/>
            <a:ext cx="563270" cy="274320"/>
          </a:xfrm>
          <a:prstGeom prst="rect">
            <a:avLst/>
          </a:prstGeom>
          <a:noFill/>
          <a:ln/>
        </p:spPr>
        <p:txBody>
          <a:bodyPr wrap="square" rtlCol="0" anchor="ctr"/>
          <a:lstStyle/>
          <a:p>
            <a:pPr algn="ctr" indent="0" marL="0">
              <a:buNone/>
            </a:pPr>
            <a:r>
              <a:rPr lang="en-US" sz="1400" b="1" dirty="0">
                <a:solidFill>
                  <a:srgbClr val="1D1D1D"/>
                </a:solidFill>
                <a:latin typeface="Baloo 2" pitchFamily="34" charset="0"/>
                <a:ea typeface="Baloo 2" pitchFamily="34" charset="-122"/>
                <a:cs typeface="Baloo 2" pitchFamily="34" charset="-120"/>
              </a:rPr>
              <a:t>7</a:t>
            </a:r>
            <a:endParaRPr lang="en-US" sz="1400" dirty="0"/>
          </a:p>
        </p:txBody>
      </p:sp>
      <p:sp>
        <p:nvSpPr>
          <p:cNvPr id="17" name="Text 15"/>
          <p:cNvSpPr/>
          <p:nvPr/>
        </p:nvSpPr>
        <p:spPr>
          <a:xfrm>
            <a:off x="9045245" y="4800600"/>
            <a:ext cx="654710" cy="365760"/>
          </a:xfrm>
          <a:prstGeom prst="rect">
            <a:avLst/>
          </a:prstGeom>
          <a:noFill/>
          <a:ln/>
        </p:spPr>
        <p:txBody>
          <a:bodyPr wrap="square" rtlCol="0" anchor="t"/>
          <a:lstStyle/>
          <a:p>
            <a:pPr algn="ctr" indent="0" marL="0">
              <a:buNone/>
            </a:pPr>
            <a:r>
              <a:rPr lang="en-US" sz="950" b="1" dirty="0">
                <a:solidFill>
                  <a:srgbClr val="1D1D1D"/>
                </a:solidFill>
                <a:latin typeface="Nunito" pitchFamily="34" charset="0"/>
                <a:ea typeface="Nunito" pitchFamily="34" charset="-122"/>
                <a:cs typeface="Nunito" pitchFamily="34" charset="-120"/>
              </a:rPr>
              <a:t>Health</a:t>
            </a:r>
            <a:endParaRPr lang="en-US" sz="950" dirty="0"/>
          </a:p>
        </p:txBody>
      </p:sp>
      <p:sp>
        <p:nvSpPr>
          <p:cNvPr id="18" name="Shape 16"/>
          <p:cNvSpPr/>
          <p:nvPr/>
        </p:nvSpPr>
        <p:spPr>
          <a:xfrm>
            <a:off x="9910267" y="1645920"/>
            <a:ext cx="563270" cy="3108960"/>
          </a:xfrm>
          <a:prstGeom prst="roundRect">
            <a:avLst>
              <a:gd name="adj" fmla="val 8117"/>
            </a:avLst>
          </a:prstGeom>
          <a:solidFill>
            <a:srgbClr val="FFBF00"/>
          </a:solidFill>
          <a:ln w="25400">
            <a:solidFill>
              <a:srgbClr val="1D1D1D"/>
            </a:solidFill>
            <a:prstDash val="solid"/>
          </a:ln>
          <a:effectLst>
            <a:outerShdw sx="100000" sy="100000" kx="0" ky="0" algn="bl" rotWithShape="0" blurRad="208115712800000000" dist="143079552550000000" dir="583200000000000000000">
              <a:srgbClr val="1D1D1D">
                <a:alpha val="100000000000000000000"/>
              </a:srgbClr>
            </a:outerShdw>
          </a:effectLst>
        </p:spPr>
      </p:sp>
      <p:sp>
        <p:nvSpPr>
          <p:cNvPr id="19" name="Text 17"/>
          <p:cNvSpPr/>
          <p:nvPr/>
        </p:nvSpPr>
        <p:spPr>
          <a:xfrm>
            <a:off x="9910267" y="1353312"/>
            <a:ext cx="563270" cy="274320"/>
          </a:xfrm>
          <a:prstGeom prst="rect">
            <a:avLst/>
          </a:prstGeom>
          <a:noFill/>
          <a:ln/>
        </p:spPr>
        <p:txBody>
          <a:bodyPr wrap="square" rtlCol="0" anchor="ctr"/>
          <a:lstStyle/>
          <a:p>
            <a:pPr algn="ctr" indent="0" marL="0">
              <a:buNone/>
            </a:pPr>
            <a:r>
              <a:rPr lang="en-US" sz="1400" b="1" dirty="0">
                <a:solidFill>
                  <a:srgbClr val="1D1D1D"/>
                </a:solidFill>
                <a:latin typeface="Baloo 2" pitchFamily="34" charset="0"/>
                <a:ea typeface="Baloo 2" pitchFamily="34" charset="-122"/>
                <a:cs typeface="Baloo 2" pitchFamily="34" charset="-120"/>
              </a:rPr>
              <a:t>11</a:t>
            </a:r>
            <a:endParaRPr lang="en-US" sz="1400" dirty="0"/>
          </a:p>
        </p:txBody>
      </p:sp>
      <p:sp>
        <p:nvSpPr>
          <p:cNvPr id="20" name="Text 18"/>
          <p:cNvSpPr/>
          <p:nvPr/>
        </p:nvSpPr>
        <p:spPr>
          <a:xfrm>
            <a:off x="9864547" y="4800600"/>
            <a:ext cx="654710" cy="365760"/>
          </a:xfrm>
          <a:prstGeom prst="rect">
            <a:avLst/>
          </a:prstGeom>
          <a:noFill/>
          <a:ln/>
        </p:spPr>
        <p:txBody>
          <a:bodyPr wrap="square" rtlCol="0" anchor="t"/>
          <a:lstStyle/>
          <a:p>
            <a:pPr algn="ctr" indent="0" marL="0">
              <a:buNone/>
            </a:pPr>
            <a:r>
              <a:rPr lang="en-US" sz="950" b="1" dirty="0">
                <a:solidFill>
                  <a:srgbClr val="1D1D1D"/>
                </a:solidFill>
                <a:latin typeface="Nunito" pitchFamily="34" charset="0"/>
                <a:ea typeface="Nunito" pitchFamily="34" charset="-122"/>
                <a:cs typeface="Nunito" pitchFamily="34" charset="-120"/>
              </a:rPr>
              <a:t>Livelihood</a:t>
            </a:r>
            <a:endParaRPr lang="en-US" sz="950" dirty="0"/>
          </a:p>
        </p:txBody>
      </p:sp>
      <p:sp>
        <p:nvSpPr>
          <p:cNvPr id="21" name="Shape 19"/>
          <p:cNvSpPr/>
          <p:nvPr/>
        </p:nvSpPr>
        <p:spPr>
          <a:xfrm>
            <a:off x="10729570" y="2776451"/>
            <a:ext cx="563270" cy="1978429"/>
          </a:xfrm>
          <a:prstGeom prst="roundRect">
            <a:avLst>
              <a:gd name="adj" fmla="val 8117"/>
            </a:avLst>
          </a:prstGeom>
          <a:solidFill>
            <a:srgbClr val="F5E6CC"/>
          </a:solidFill>
          <a:ln w="25400">
            <a:solidFill>
              <a:srgbClr val="1D1D1D"/>
            </a:solidFill>
            <a:prstDash val="solid"/>
          </a:ln>
          <a:effectLst>
            <a:outerShdw sx="100000" sy="100000" kx="0" ky="0" algn="bl" rotWithShape="0" blurRad="2.64306955256e+21" dist="1.817110317385e+21" dir="3.4992e+25">
              <a:srgbClr val="1D1D1D">
                <a:alpha val="1e+25"/>
              </a:srgbClr>
            </a:outerShdw>
          </a:effectLst>
        </p:spPr>
      </p:sp>
      <p:sp>
        <p:nvSpPr>
          <p:cNvPr id="22" name="Text 20"/>
          <p:cNvSpPr/>
          <p:nvPr/>
        </p:nvSpPr>
        <p:spPr>
          <a:xfrm>
            <a:off x="10729570" y="2483843"/>
            <a:ext cx="563270" cy="274320"/>
          </a:xfrm>
          <a:prstGeom prst="rect">
            <a:avLst/>
          </a:prstGeom>
          <a:noFill/>
          <a:ln/>
        </p:spPr>
        <p:txBody>
          <a:bodyPr wrap="square" rtlCol="0" anchor="ctr"/>
          <a:lstStyle/>
          <a:p>
            <a:pPr algn="ctr" indent="0" marL="0">
              <a:buNone/>
            </a:pPr>
            <a:r>
              <a:rPr lang="en-US" sz="1400" b="1" dirty="0">
                <a:solidFill>
                  <a:srgbClr val="1D1D1D"/>
                </a:solidFill>
                <a:latin typeface="Baloo 2" pitchFamily="34" charset="0"/>
                <a:ea typeface="Baloo 2" pitchFamily="34" charset="-122"/>
                <a:cs typeface="Baloo 2" pitchFamily="34" charset="-120"/>
              </a:rPr>
              <a:t>7</a:t>
            </a:r>
            <a:endParaRPr lang="en-US" sz="1400" dirty="0"/>
          </a:p>
        </p:txBody>
      </p:sp>
      <p:sp>
        <p:nvSpPr>
          <p:cNvPr id="23" name="Text 21"/>
          <p:cNvSpPr/>
          <p:nvPr/>
        </p:nvSpPr>
        <p:spPr>
          <a:xfrm>
            <a:off x="10683850" y="4800600"/>
            <a:ext cx="654710" cy="365760"/>
          </a:xfrm>
          <a:prstGeom prst="rect">
            <a:avLst/>
          </a:prstGeom>
          <a:noFill/>
          <a:ln/>
        </p:spPr>
        <p:txBody>
          <a:bodyPr wrap="square" rtlCol="0" anchor="t"/>
          <a:lstStyle/>
          <a:p>
            <a:pPr algn="ctr" indent="0" marL="0">
              <a:buNone/>
            </a:pPr>
            <a:r>
              <a:rPr lang="en-US" sz="950" b="1" dirty="0">
                <a:solidFill>
                  <a:srgbClr val="1D1D1D"/>
                </a:solidFill>
                <a:latin typeface="Nunito" pitchFamily="34" charset="0"/>
                <a:ea typeface="Nunito" pitchFamily="34" charset="-122"/>
                <a:cs typeface="Nunito" pitchFamily="34" charset="-120"/>
              </a:rPr>
              <a:t>Support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 / 55</a:t>
            </a:r>
            <a:endParaRPr lang="en-US" sz="1000" dirty="0"/>
          </a:p>
        </p:txBody>
      </p:sp>
      <p:sp>
        <p:nvSpPr>
          <p:cNvPr id="4" name="Text 2"/>
          <p:cNvSpPr/>
          <p:nvPr/>
        </p:nvSpPr>
        <p:spPr>
          <a:xfrm>
            <a:off x="640080" y="50292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THE PROBLEM, PART TWO</a:t>
            </a:r>
            <a:endParaRPr lang="en-US" sz="1100" dirty="0"/>
          </a:p>
        </p:txBody>
      </p:sp>
      <p:sp>
        <p:nvSpPr>
          <p:cNvPr id="5" name="Text 3"/>
          <p:cNvSpPr/>
          <p:nvPr/>
        </p:nvSpPr>
        <p:spPr>
          <a:xfrm>
            <a:off x="640080" y="1051560"/>
            <a:ext cx="10881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The cost isn’t paperwork. It’s a lost day, spent standing in the wrong queue.</a:t>
            </a:r>
            <a:endParaRPr lang="en-US" sz="3800" dirty="0"/>
          </a:p>
        </p:txBody>
      </p:sp>
      <p:sp>
        <p:nvSpPr>
          <p:cNvPr id="6" name="Shape 4"/>
          <p:cNvSpPr/>
          <p:nvPr/>
        </p:nvSpPr>
        <p:spPr>
          <a:xfrm rot="60000">
            <a:off x="640080" y="3473120"/>
            <a:ext cx="5212080" cy="3108960"/>
          </a:xfrm>
          <a:prstGeom prst="roundRect">
            <a:avLst>
              <a:gd name="adj" fmla="val 2941"/>
            </a:avLst>
          </a:prstGeom>
          <a:solidFill>
            <a:srgbClr val="F5E6CC"/>
          </a:solidFill>
          <a:ln w="28575">
            <a:solidFill>
              <a:srgbClr val="1D1D1D"/>
            </a:solidFill>
            <a:prstDash val="solid"/>
          </a:ln>
          <a:effectLst>
            <a:outerShdw sx="100000" sy="100000" kx="0" ky="0" algn="bl" rotWithShape="0" blurRad="3.3566983317512e+25" dist="2.30773010307895e+25" dir="2.09952e+30">
              <a:srgbClr val="1D1D1D">
                <a:alpha val="1.0000000000000002e+30"/>
              </a:srgbClr>
            </a:outerShdw>
          </a:effectLst>
        </p:spPr>
      </p:sp>
      <p:sp>
        <p:nvSpPr>
          <p:cNvPr id="7" name="Text 5"/>
          <p:cNvSpPr/>
          <p:nvPr/>
        </p:nvSpPr>
        <p:spPr>
          <a:xfrm rot="60000">
            <a:off x="841248" y="3637712"/>
            <a:ext cx="4809744" cy="2798064"/>
          </a:xfrm>
          <a:prstGeom prst="rect">
            <a:avLst/>
          </a:prstGeom>
          <a:noFill/>
          <a:ln/>
        </p:spPr>
        <p:txBody>
          <a:bodyPr wrap="square" rtlCol="0" anchor="t"/>
          <a:lstStyle/>
          <a:p>
            <a:pPr indent="0" marL="0">
              <a:lnSpc>
                <a:spcPct val="125000"/>
              </a:lnSpc>
              <a:buNone/>
            </a:pPr>
            <a:r>
              <a:rPr lang="en-US" sz="1400" dirty="0">
                <a:solidFill>
                  <a:srgbClr val="332F2A"/>
                </a:solidFill>
                <a:latin typeface="Nunito" pitchFamily="34" charset="0"/>
                <a:ea typeface="Nunito" pitchFamily="34" charset="-122"/>
                <a:cs typeface="Nunito" pitchFamily="34" charset="-120"/>
              </a:rPr>
              <a:t>She asks a neighbour, who heard something from a cousin. She travels to the Union Parishad office. They send her to the Upazila Social Services office. That office needs a certificate she doesn’t have. She comes back another day.</a:t>
            </a:r>
            <a:endParaRPr lang="en-US" sz="1400" dirty="0"/>
          </a:p>
        </p:txBody>
      </p:sp>
      <p:sp>
        <p:nvSpPr>
          <p:cNvPr id="8" name="Shape 6"/>
          <p:cNvSpPr/>
          <p:nvPr/>
        </p:nvSpPr>
        <p:spPr>
          <a:xfrm rot="-60000">
            <a:off x="6126480" y="3473120"/>
            <a:ext cx="5212080" cy="3108960"/>
          </a:xfrm>
          <a:prstGeom prst="roundRect">
            <a:avLst>
              <a:gd name="adj" fmla="val 2941"/>
            </a:avLst>
          </a:prstGeom>
          <a:solidFill>
            <a:srgbClr val="FF5D73"/>
          </a:solidFill>
          <a:ln w="28575">
            <a:solidFill>
              <a:srgbClr val="1D1D1D"/>
            </a:solidFill>
            <a:prstDash val="solid"/>
          </a:ln>
          <a:effectLst>
            <a:outerShdw sx="100000" sy="100000" kx="0" ky="0" algn="bl" rotWithShape="0" blurRad="4.2630068813240236e+29" dist="2.9308172309102665e+29" dir="1.259712e+35">
              <a:srgbClr val="1D1D1D">
                <a:alpha val="1.0000000000000002e+35"/>
              </a:srgbClr>
            </a:outerShdw>
          </a:effectLst>
        </p:spPr>
      </p:sp>
      <p:sp>
        <p:nvSpPr>
          <p:cNvPr id="9" name="Text 7"/>
          <p:cNvSpPr/>
          <p:nvPr/>
        </p:nvSpPr>
        <p:spPr>
          <a:xfrm rot="-60000">
            <a:off x="6327648" y="3637712"/>
            <a:ext cx="4809744" cy="2798064"/>
          </a:xfrm>
          <a:prstGeom prst="rect">
            <a:avLst/>
          </a:prstGeom>
          <a:noFill/>
          <a:ln/>
        </p:spPr>
        <p:txBody>
          <a:bodyPr wrap="square" rtlCol="0" anchor="t"/>
          <a:lstStyle/>
          <a:p>
            <a:pPr indent="0" marL="0">
              <a:lnSpc>
                <a:spcPct val="125000"/>
              </a:lnSpc>
              <a:buNone/>
            </a:pPr>
            <a:r>
              <a:rPr lang="en-US" sz="1400" dirty="0">
                <a:solidFill>
                  <a:srgbClr val="332F2A"/>
                </a:solidFill>
                <a:latin typeface="Nunito" pitchFamily="34" charset="0"/>
                <a:ea typeface="Nunito" pitchFamily="34" charset="-122"/>
                <a:cs typeface="Nunito" pitchFamily="34" charset="-120"/>
              </a:rPr>
              <a:t>Multiply that by every citizen who doesn’t know a scheme exists, every officer who can’t hold 42 rule sets in their head, and every family that gives up after the second wrong office. That is the real, everyday cost — not an abstraction.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5 / 55</a:t>
            </a:r>
            <a:endParaRPr lang="en-US" sz="1000" dirty="0"/>
          </a:p>
        </p:txBody>
      </p:sp>
      <p:sp>
        <p:nvSpPr>
          <p:cNvPr id="4" name="Text 2"/>
          <p:cNvSpPr/>
          <p:nvPr/>
        </p:nvSpPr>
        <p:spPr>
          <a:xfrm>
            <a:off x="640080" y="50292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THE PROBLEM, PART THREE</a:t>
            </a:r>
            <a:endParaRPr lang="en-US" sz="1100" dirty="0"/>
          </a:p>
        </p:txBody>
      </p:sp>
      <p:sp>
        <p:nvSpPr>
          <p:cNvPr id="5" name="Text 3"/>
          <p:cNvSpPr/>
          <p:nvPr/>
        </p:nvSpPr>
        <p:spPr>
          <a:xfrm>
            <a:off x="640080" y="105156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generic solution quietly assumes the wrong Bangladesh.</a:t>
            </a:r>
            <a:endParaRPr lang="en-US" sz="3800" dirty="0"/>
          </a:p>
        </p:txBody>
      </p:sp>
      <p:sp>
        <p:nvSpPr>
          <p:cNvPr id="6" name="Text 4"/>
          <p:cNvSpPr/>
          <p:nvPr/>
        </p:nvSpPr>
        <p:spPr>
          <a:xfrm>
            <a:off x="640080" y="2672029"/>
            <a:ext cx="10908792" cy="1986217"/>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Most digital benefit tools are designed for a smartphone on fast data, in a language its author already reads comfortably. Our own product decisions — the ones judges will see in a moment — were made for the opposite assumption on every count: a 2G connection, a cracked screen in direct sun, a citizen who may not read fluently, and a phone that might not even be a smartphone at all.</a:t>
            </a:r>
            <a:endParaRPr lang="en-US" sz="1900" dirty="0"/>
          </a:p>
        </p:txBody>
      </p:sp>
      <p:sp>
        <p:nvSpPr>
          <p:cNvPr id="7" name="Text 5"/>
          <p:cNvSpPr/>
          <p:nvPr/>
        </p:nvSpPr>
        <p:spPr>
          <a:xfrm>
            <a:off x="640080" y="5124590"/>
            <a:ext cx="5317236" cy="566928"/>
          </a:xfrm>
          <a:prstGeom prst="roundRect">
            <a:avLst>
              <a:gd name="adj" fmla="val 80645"/>
            </a:avLst>
          </a:prstGeom>
          <a:solidFill>
            <a:srgbClr val="FFFFFF"/>
          </a:solidFill>
          <a:ln w="25400">
            <a:solidFill>
              <a:srgbClr val="1D1D1D"/>
            </a:solidFill>
          </a:ln>
          <a:effectLst>
            <a:outerShdw sx="100000" sy="100000" kx="0" ky="0" algn="bl" rotWithShape="0" blurRad="5.41401873928151e+33" dist="3.7221378832560384e+33" dir="7.558272e+39">
              <a:srgbClr val="1D1D1D">
                <a:alpha val="1.0000000000000002e+40"/>
              </a:srgbClr>
            </a:outerShdw>
          </a:effectLst>
        </p:spPr>
        <p:txBody>
          <a:bodyPr wrap="square" rtlCol="0" anchor="ctr"/>
          <a:lstStyle/>
          <a:p>
            <a:pPr algn="ctr" indent="0" marL="0">
              <a:buNone/>
            </a:pPr>
            <a:r>
              <a:rPr lang="en-US" sz="1350" b="1" dirty="0">
                <a:solidFill>
                  <a:srgbClr val="1D1D1D"/>
                </a:solidFill>
                <a:latin typeface="Nunito" pitchFamily="34" charset="0"/>
                <a:ea typeface="Nunito" pitchFamily="34" charset="-122"/>
                <a:cs typeface="Nunito" pitchFamily="34" charset="-120"/>
              </a:rPr>
              <a:t>📶 2G / cheap Android, not fibre and flagships</a:t>
            </a:r>
            <a:endParaRPr lang="en-US" sz="1350" dirty="0"/>
          </a:p>
        </p:txBody>
      </p:sp>
      <p:sp>
        <p:nvSpPr>
          <p:cNvPr id="8" name="Text 6"/>
          <p:cNvSpPr/>
          <p:nvPr/>
        </p:nvSpPr>
        <p:spPr>
          <a:xfrm>
            <a:off x="6231636" y="5124590"/>
            <a:ext cx="5317236" cy="566928"/>
          </a:xfrm>
          <a:prstGeom prst="roundRect">
            <a:avLst>
              <a:gd name="adj" fmla="val 80645"/>
            </a:avLst>
          </a:prstGeom>
          <a:solidFill>
            <a:srgbClr val="FFFFFF"/>
          </a:solidFill>
          <a:ln w="25400">
            <a:solidFill>
              <a:srgbClr val="1D1D1D"/>
            </a:solidFill>
          </a:ln>
          <a:effectLst>
            <a:outerShdw sx="100000" sy="100000" kx="0" ky="0" algn="bl" rotWithShape="0" blurRad="6.875803798887518e+37" dist="4.727115111735169e+37" dir="4.5349632000000006e+44">
              <a:srgbClr val="1D1D1D">
                <a:alpha val="1.0000000000000001e+45"/>
              </a:srgbClr>
            </a:outerShdw>
          </a:effectLst>
        </p:spPr>
        <p:txBody>
          <a:bodyPr wrap="square" rtlCol="0" anchor="ctr"/>
          <a:lstStyle/>
          <a:p>
            <a:pPr algn="ctr" indent="0" marL="0">
              <a:buNone/>
            </a:pPr>
            <a:r>
              <a:rPr lang="en-US" sz="1350" b="1" dirty="0">
                <a:solidFill>
                  <a:srgbClr val="1D1D1D"/>
                </a:solidFill>
                <a:latin typeface="Nunito" pitchFamily="34" charset="0"/>
                <a:ea typeface="Nunito" pitchFamily="34" charset="-122"/>
                <a:cs typeface="Nunito" pitchFamily="34" charset="-120"/>
              </a:rPr>
              <a:t>🗣 Bangla first — not Bangla translated later</a:t>
            </a:r>
            <a:endParaRPr lang="en-US" sz="1350" dirty="0"/>
          </a:p>
        </p:txBody>
      </p:sp>
      <p:sp>
        <p:nvSpPr>
          <p:cNvPr id="9" name="Text 7"/>
          <p:cNvSpPr/>
          <p:nvPr/>
        </p:nvSpPr>
        <p:spPr>
          <a:xfrm>
            <a:off x="640080" y="5856110"/>
            <a:ext cx="5317236" cy="566928"/>
          </a:xfrm>
          <a:prstGeom prst="roundRect">
            <a:avLst>
              <a:gd name="adj" fmla="val 80645"/>
            </a:avLst>
          </a:prstGeom>
          <a:solidFill>
            <a:srgbClr val="FFFFFF"/>
          </a:solidFill>
          <a:ln w="25400">
            <a:solidFill>
              <a:srgbClr val="1D1D1D"/>
            </a:solidFill>
          </a:ln>
          <a:effectLst>
            <a:outerShdw sx="100000" sy="100000" kx="0" ky="0" algn="bl" rotWithShape="0" blurRad="8.732270824587148e+41" dist="6.003436191903665e+41" dir="2.72097792e+49">
              <a:srgbClr val="1D1D1D">
                <a:alpha val="1e+50"/>
              </a:srgbClr>
            </a:outerShdw>
          </a:effectLst>
        </p:spPr>
        <p:txBody>
          <a:bodyPr wrap="square" rtlCol="0" anchor="ctr"/>
          <a:lstStyle/>
          <a:p>
            <a:pPr algn="ctr" indent="0" marL="0">
              <a:buNone/>
            </a:pPr>
            <a:r>
              <a:rPr lang="en-US" sz="1350" b="1" dirty="0">
                <a:solidFill>
                  <a:srgbClr val="1D1D1D"/>
                </a:solidFill>
                <a:latin typeface="Nunito" pitchFamily="34" charset="0"/>
                <a:ea typeface="Nunito" pitchFamily="34" charset="-122"/>
                <a:cs typeface="Nunito" pitchFamily="34" charset="-120"/>
              </a:rPr>
              <a:t>📵 Millions still reachable only by feature phone</a:t>
            </a:r>
            <a:endParaRPr lang="en-US" sz="1350" dirty="0"/>
          </a:p>
        </p:txBody>
      </p:sp>
      <p:sp>
        <p:nvSpPr>
          <p:cNvPr id="10" name="Text 8"/>
          <p:cNvSpPr/>
          <p:nvPr/>
        </p:nvSpPr>
        <p:spPr>
          <a:xfrm>
            <a:off x="6231636" y="5856110"/>
            <a:ext cx="5317236" cy="566928"/>
          </a:xfrm>
          <a:prstGeom prst="roundRect">
            <a:avLst>
              <a:gd name="adj" fmla="val 80645"/>
            </a:avLst>
          </a:prstGeom>
          <a:solidFill>
            <a:srgbClr val="FFFFFF"/>
          </a:solidFill>
          <a:ln w="25400">
            <a:solidFill>
              <a:srgbClr val="1D1D1D"/>
            </a:solidFill>
          </a:ln>
          <a:effectLst>
            <a:outerShdw sx="100000" sy="100000" kx="0" ky="0" algn="bl" rotWithShape="0" blurRad="1.1089983947225678e+46" dist="7.624363963717654e+45" dir="1.6325867520000003e+54">
              <a:srgbClr val="1D1D1D">
                <a:alpha val="1e+55"/>
              </a:srgbClr>
            </a:outerShdw>
          </a:effectLst>
        </p:spPr>
        <p:txBody>
          <a:bodyPr wrap="square" rtlCol="0" anchor="ctr"/>
          <a:lstStyle/>
          <a:p>
            <a:pPr algn="ctr" indent="0" marL="0">
              <a:buNone/>
            </a:pPr>
            <a:r>
              <a:rPr lang="en-US" sz="1350" b="1" dirty="0">
                <a:solidFill>
                  <a:srgbClr val="1D1D1D"/>
                </a:solidFill>
                <a:latin typeface="Nunito" pitchFamily="34" charset="0"/>
                <a:ea typeface="Nunito" pitchFamily="34" charset="-122"/>
                <a:cs typeface="Nunito" pitchFamily="34" charset="-120"/>
              </a:rPr>
              <a:t>🏛 Local government (Union Parishad) is where trust is actually won or lost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5D7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6 / 55</a:t>
            </a:r>
            <a:endParaRPr lang="en-US" sz="1000" dirty="0"/>
          </a:p>
        </p:txBody>
      </p:sp>
      <p:sp>
        <p:nvSpPr>
          <p:cNvPr id="4" name="Text 2"/>
          <p:cNvSpPr/>
          <p:nvPr/>
        </p:nvSpPr>
        <p:spPr>
          <a:xfrm>
            <a:off x="3749040" y="640080"/>
            <a:ext cx="475488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THE TRAP EVERYONE ELSE FALLS INTO</a:t>
            </a:r>
            <a:endParaRPr lang="en-US" sz="1100" dirty="0"/>
          </a:p>
        </p:txBody>
      </p:sp>
      <p:sp>
        <p:nvSpPr>
          <p:cNvPr id="5" name="Text 3"/>
          <p:cNvSpPr/>
          <p:nvPr/>
        </p:nvSpPr>
        <p:spPr>
          <a:xfrm>
            <a:off x="914400" y="1371600"/>
            <a:ext cx="10360152" cy="1382725"/>
          </a:xfrm>
          <a:prstGeom prst="rect">
            <a:avLst/>
          </a:prstGeom>
          <a:noFill/>
          <a:ln/>
        </p:spPr>
        <p:txBody>
          <a:bodyPr wrap="square" rtlCol="0" anchor="t"/>
          <a:lstStyle/>
          <a:p>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chatbot that </a:t>
            </a:r>
            <a:pPr algn="ctr"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guesses</a:t>
            </a:r>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 is worse than no chatbot at all.</a:t>
            </a:r>
            <a:endParaRPr lang="en-US" sz="3800" dirty="0"/>
          </a:p>
        </p:txBody>
      </p:sp>
      <p:sp>
        <p:nvSpPr>
          <p:cNvPr id="6" name="Text 4"/>
          <p:cNvSpPr/>
          <p:nvPr/>
        </p:nvSpPr>
        <p:spPr>
          <a:xfrm>
            <a:off x="1645920" y="3174949"/>
            <a:ext cx="8897112" cy="2722181"/>
          </a:xfrm>
          <a:prstGeom prst="rect">
            <a:avLst/>
          </a:prstGeom>
          <a:noFill/>
          <a:ln/>
        </p:spPr>
        <p:txBody>
          <a:bodyPr wrap="square" rtlCol="0" anchor="t"/>
          <a:lstStyle/>
          <a:p>
            <a:pPr algn="ctr" indent="0" marL="0">
              <a:lnSpc>
                <a:spcPct val="125000"/>
              </a:lnSpc>
              <a:buNone/>
            </a:pPr>
            <a:r>
              <a:rPr lang="en-US" sz="1900" dirty="0">
                <a:solidFill>
                  <a:srgbClr val="1D1D1D"/>
                </a:solidFill>
                <a:latin typeface="Nunito" pitchFamily="34" charset="0"/>
                <a:ea typeface="Nunito" pitchFamily="34" charset="-122"/>
                <a:cs typeface="Nunito" pitchFamily="34" charset="-120"/>
              </a:rPr>
              <a:t>Point a general-purpose language model at “am I eligible for this allowance” and it will answer fluently — and it will sometimes invent a threshold, forget a citation, or state an unverified number as settled fact. For a scholarship, that’s annoying. For a widow’s allowance, a confidently wrong answer is a real harm. So the question we actually had to answer wasn’t “how good is our AI” — it was “how do we stop the AI from ever being the one who decides.”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7 / 55</a:t>
            </a:r>
            <a:endParaRPr lang="en-US" sz="1000" dirty="0"/>
          </a:p>
        </p:txBody>
      </p:sp>
      <p:sp>
        <p:nvSpPr>
          <p:cNvPr id="4" name="Text 2"/>
          <p:cNvSpPr/>
          <p:nvPr/>
        </p:nvSpPr>
        <p:spPr>
          <a:xfrm>
            <a:off x="3794760" y="777240"/>
            <a:ext cx="457200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THE INSIGHT THAT SHAPED EVERYTHING</a:t>
            </a:r>
            <a:endParaRPr lang="en-US" sz="1100" dirty="0"/>
          </a:p>
        </p:txBody>
      </p:sp>
      <p:sp>
        <p:nvSpPr>
          <p:cNvPr id="5" name="Text 3"/>
          <p:cNvSpPr/>
          <p:nvPr/>
        </p:nvSpPr>
        <p:spPr>
          <a:xfrm>
            <a:off x="914400" y="1737360"/>
            <a:ext cx="10360152" cy="1382725"/>
          </a:xfrm>
          <a:prstGeom prst="rect">
            <a:avLst/>
          </a:prstGeom>
          <a:noFill/>
          <a:ln/>
        </p:spPr>
        <p:txBody>
          <a:bodyPr wrap="square" rtlCol="0" anchor="t"/>
          <a:lstStyle/>
          <a:p>
            <a:pPr algn="ctr" indent="0" marL="0">
              <a:lnSpc>
                <a:spcPct val="105000"/>
              </a:lnSpc>
              <a:buNone/>
            </a:pPr>
            <a:r>
              <a:rPr lang="en-US" sz="3800" b="1" dirty="0">
                <a:solidFill>
                  <a:srgbClr val="FFF6E9"/>
                </a:solidFill>
                <a:latin typeface="Baloo 2" pitchFamily="34" charset="0"/>
                <a:ea typeface="Baloo 2" pitchFamily="34" charset="-122"/>
                <a:cs typeface="Baloo 2" pitchFamily="34" charset="-120"/>
              </a:rPr>
              <a:t>Separate the </a:t>
            </a:r>
            <a:pPr algn="ctr" indent="0" marL="0">
              <a:lnSpc>
                <a:spcPct val="105000"/>
              </a:lnSpc>
              <a:buNone/>
            </a:pPr>
            <a:r>
              <a:rPr lang="en-US" sz="3800" b="1" dirty="0">
                <a:solidFill>
                  <a:srgbClr val="FFF6E9"/>
                </a:solidFill>
                <a:highlight>
                  <a:srgbClr val="2EC4B6"/>
                </a:highlight>
                <a:latin typeface="Baloo 2" pitchFamily="34" charset="0"/>
                <a:ea typeface="Baloo 2" pitchFamily="34" charset="-122"/>
                <a:cs typeface="Baloo 2" pitchFamily="34" charset="-120"/>
              </a:rPr>
              <a:t>decision</a:t>
            </a:r>
            <a:pPr algn="ctr" indent="0" marL="0">
              <a:lnSpc>
                <a:spcPct val="105000"/>
              </a:lnSpc>
              <a:buNone/>
            </a:pPr>
            <a:r>
              <a:rPr lang="en-US" sz="3800" b="1" dirty="0">
                <a:solidFill>
                  <a:srgbClr val="FFF6E9"/>
                </a:solidFill>
                <a:latin typeface="Baloo 2" pitchFamily="34" charset="0"/>
                <a:ea typeface="Baloo 2" pitchFamily="34" charset="-122"/>
                <a:cs typeface="Baloo 2" pitchFamily="34" charset="-120"/>
              </a:rPr>
              <a:t> from the </a:t>
            </a:r>
            <a:pPr algn="ctr" indent="0" marL="0">
              <a:lnSpc>
                <a:spcPct val="105000"/>
              </a:lnSpc>
              <a:buNone/>
            </a:pPr>
            <a:r>
              <a:rPr lang="en-US" sz="3800" b="1" dirty="0">
                <a:solidFill>
                  <a:srgbClr val="FFF6E9"/>
                </a:solidFill>
                <a:highlight>
                  <a:srgbClr val="FFBF00"/>
                </a:highlight>
                <a:latin typeface="Baloo 2" pitchFamily="34" charset="0"/>
                <a:ea typeface="Baloo 2" pitchFamily="34" charset="-122"/>
                <a:cs typeface="Baloo 2" pitchFamily="34" charset="-120"/>
              </a:rPr>
              <a:t>explanation</a:t>
            </a:r>
            <a:pPr algn="ctr" indent="0" marL="0">
              <a:lnSpc>
                <a:spcPct val="105000"/>
              </a:lnSpc>
              <a:buNone/>
            </a:pPr>
            <a:r>
              <a:rPr lang="en-US" sz="3800" b="1" dirty="0">
                <a:solidFill>
                  <a:srgbClr val="FFF6E9"/>
                </a:solidFill>
                <a:latin typeface="Baloo 2" pitchFamily="34" charset="0"/>
                <a:ea typeface="Baloo 2" pitchFamily="34" charset="-122"/>
                <a:cs typeface="Baloo 2" pitchFamily="34" charset="-120"/>
              </a:rPr>
              <a:t>.</a:t>
            </a:r>
            <a:endParaRPr lang="en-US" sz="3800" dirty="0"/>
          </a:p>
        </p:txBody>
      </p:sp>
      <p:sp>
        <p:nvSpPr>
          <p:cNvPr id="6" name="Text 4"/>
          <p:cNvSpPr/>
          <p:nvPr/>
        </p:nvSpPr>
        <p:spPr>
          <a:xfrm>
            <a:off x="1645920" y="3540709"/>
            <a:ext cx="8897112" cy="1986217"/>
          </a:xfrm>
          <a:prstGeom prst="rect">
            <a:avLst/>
          </a:prstGeom>
          <a:noFill/>
          <a:ln/>
        </p:spPr>
        <p:txBody>
          <a:bodyPr wrap="square" rtlCol="0" anchor="t"/>
          <a:lstStyle/>
          <a:p>
            <a:pPr algn="ctr" indent="0" marL="0">
              <a:lnSpc>
                <a:spcPct val="125000"/>
              </a:lnSpc>
              <a:buNone/>
            </a:pPr>
            <a:r>
              <a:rPr lang="en-US" sz="1900" dirty="0">
                <a:solidFill>
                  <a:srgbClr val="DCD2BD"/>
                </a:solidFill>
                <a:latin typeface="Nunito" pitchFamily="34" charset="0"/>
                <a:ea typeface="Nunito" pitchFamily="34" charset="-122"/>
                <a:cs typeface="Nunito" pitchFamily="34" charset="-120"/>
              </a:rPr>
              <a:t>A rule engine decides what a citizen qualifies for — deterministic, traceable, boring in the best way. An AI model is only ever allowed to take a decision that has already been made and say it warmly, in Bangla or English. It cannot add a fact. It cannot invent a number. If it has nothing grounded to say, it is not called at all.</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8 / 55</a:t>
            </a:r>
            <a:endParaRPr lang="en-US" sz="1000" dirty="0"/>
          </a:p>
        </p:txBody>
      </p:sp>
      <p:sp>
        <p:nvSpPr>
          <p:cNvPr id="4" name="Text 2"/>
          <p:cNvSpPr/>
          <p:nvPr/>
        </p:nvSpPr>
        <p:spPr>
          <a:xfrm>
            <a:off x="3794760" y="777240"/>
            <a:ext cx="457200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THE SECOND INSIGHT</a:t>
            </a:r>
            <a:endParaRPr lang="en-US" sz="1100" dirty="0"/>
          </a:p>
        </p:txBody>
      </p:sp>
      <p:sp>
        <p:nvSpPr>
          <p:cNvPr id="5" name="Text 3"/>
          <p:cNvSpPr/>
          <p:nvPr/>
        </p:nvSpPr>
        <p:spPr>
          <a:xfrm>
            <a:off x="914400" y="1737360"/>
            <a:ext cx="10360152" cy="1382725"/>
          </a:xfrm>
          <a:prstGeom prst="rect">
            <a:avLst/>
          </a:prstGeom>
          <a:noFill/>
          <a:ln/>
        </p:spPr>
        <p:txBody>
          <a:bodyPr wrap="square" rtlCol="0" anchor="t"/>
          <a:lstStyle/>
          <a:p>
            <a:pPr algn="ctr" indent="0" marL="0">
              <a:lnSpc>
                <a:spcPct val="105000"/>
              </a:lnSpc>
              <a:buNone/>
            </a:pPr>
            <a:r>
              <a:rPr lang="en-US" sz="3800" b="1" dirty="0">
                <a:solidFill>
                  <a:srgbClr val="FFF6E9"/>
                </a:solidFill>
                <a:latin typeface="Baloo 2" pitchFamily="34" charset="0"/>
                <a:ea typeface="Baloo 2" pitchFamily="34" charset="-122"/>
                <a:cs typeface="Baloo 2" pitchFamily="34" charset="-120"/>
              </a:rPr>
              <a:t>Access without </a:t>
            </a:r>
            <a:pPr algn="ctr" indent="0" marL="0">
              <a:lnSpc>
                <a:spcPct val="105000"/>
              </a:lnSpc>
              <a:buNone/>
            </a:pPr>
            <a:r>
              <a:rPr lang="en-US" sz="3800" b="1" dirty="0">
                <a:solidFill>
                  <a:srgbClr val="FFF6E9"/>
                </a:solidFill>
                <a:highlight>
                  <a:srgbClr val="2EC4B6"/>
                </a:highlight>
                <a:latin typeface="Baloo 2" pitchFamily="34" charset="0"/>
                <a:ea typeface="Baloo 2" pitchFamily="34" charset="-122"/>
                <a:cs typeface="Baloo 2" pitchFamily="34" charset="-120"/>
              </a:rPr>
              <a:t>accountability</a:t>
            </a:r>
            <a:pPr algn="ctr" indent="0" marL="0">
              <a:lnSpc>
                <a:spcPct val="105000"/>
              </a:lnSpc>
              <a:buNone/>
            </a:pPr>
            <a:r>
              <a:rPr lang="en-US" sz="3800" b="1" dirty="0">
                <a:solidFill>
                  <a:srgbClr val="FFF6E9"/>
                </a:solidFill>
                <a:latin typeface="Baloo 2" pitchFamily="34" charset="0"/>
                <a:ea typeface="Baloo 2" pitchFamily="34" charset="-122"/>
                <a:cs typeface="Baloo 2" pitchFamily="34" charset="-120"/>
              </a:rPr>
              <a:t> just digitises the same broken trust.</a:t>
            </a:r>
            <a:endParaRPr lang="en-US" sz="3800" dirty="0"/>
          </a:p>
        </p:txBody>
      </p:sp>
      <p:sp>
        <p:nvSpPr>
          <p:cNvPr id="6" name="Text 4"/>
          <p:cNvSpPr/>
          <p:nvPr/>
        </p:nvSpPr>
        <p:spPr>
          <a:xfrm>
            <a:off x="1645920" y="3540709"/>
            <a:ext cx="8897112" cy="1986217"/>
          </a:xfrm>
          <a:prstGeom prst="rect">
            <a:avLst/>
          </a:prstGeom>
          <a:noFill/>
          <a:ln/>
        </p:spPr>
        <p:txBody>
          <a:bodyPr wrap="square" rtlCol="0" anchor="t"/>
          <a:lstStyle/>
          <a:p>
            <a:pPr algn="ctr" indent="0" marL="0">
              <a:lnSpc>
                <a:spcPct val="125000"/>
              </a:lnSpc>
              <a:buNone/>
            </a:pPr>
            <a:r>
              <a:rPr lang="en-US" sz="1900" dirty="0">
                <a:solidFill>
                  <a:srgbClr val="DCD2BD"/>
                </a:solidFill>
                <a:latin typeface="Nunito" pitchFamily="34" charset="0"/>
                <a:ea typeface="Nunito" pitchFamily="34" charset="-122"/>
                <a:cs typeface="Nunito" pitchFamily="34" charset="-120"/>
              </a:rPr>
              <a:t>Telling a citizen what they can get is only half the promise. If the same phone in her hand can’t also show her where her union’s budget went, or give her a real channel when a tube well breaks, we’ve built a nicer front door onto the same opaque system. So we built both halves as one platform, not two products.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9 / 55</a:t>
            </a:r>
            <a:endParaRPr lang="en-US" sz="1000" dirty="0"/>
          </a:p>
        </p:txBody>
      </p:sp>
      <p:sp>
        <p:nvSpPr>
          <p:cNvPr id="4" name="Text 2"/>
          <p:cNvSpPr/>
          <p:nvPr/>
        </p:nvSpPr>
        <p:spPr>
          <a:xfrm>
            <a:off x="640080" y="50292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MEET THE PRODUCT</a:t>
            </a:r>
            <a:endParaRPr lang="en-US" sz="1100" dirty="0"/>
          </a:p>
        </p:txBody>
      </p:sp>
      <p:sp>
        <p:nvSpPr>
          <p:cNvPr id="5" name="Text 3"/>
          <p:cNvSpPr/>
          <p:nvPr/>
        </p:nvSpPr>
        <p:spPr>
          <a:xfrm>
            <a:off x="640080" y="1051560"/>
            <a:ext cx="5943600"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This is what she would actually open.</a:t>
            </a:r>
            <a:endParaRPr lang="en-US" sz="3800" dirty="0"/>
          </a:p>
        </p:txBody>
      </p:sp>
      <p:sp>
        <p:nvSpPr>
          <p:cNvPr id="6" name="Text 4"/>
          <p:cNvSpPr/>
          <p:nvPr/>
        </p:nvSpPr>
        <p:spPr>
          <a:xfrm>
            <a:off x="640080" y="2672029"/>
            <a:ext cx="5760720" cy="1618234"/>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Real screen, real running system — not a mockup. A life-event grid, not a form. She doesn’t pick a ministry or a scheme name; she says what happened, in her own words, in Bangla.</a:t>
            </a:r>
            <a:endParaRPr lang="en-US" sz="1900" dirty="0"/>
          </a:p>
        </p:txBody>
      </p:sp>
      <p:sp>
        <p:nvSpPr>
          <p:cNvPr id="7" name="Text 5"/>
          <p:cNvSpPr/>
          <p:nvPr/>
        </p:nvSpPr>
        <p:spPr>
          <a:xfrm>
            <a:off x="640080" y="4802327"/>
            <a:ext cx="1737360" cy="365760"/>
          </a:xfrm>
          <a:prstGeom prst="roundRect">
            <a:avLst>
              <a:gd name="adj" fmla="val 125000"/>
            </a:avLst>
          </a:prstGeom>
          <a:solidFill>
            <a:srgbClr val="FFFFFF"/>
          </a:solidFill>
          <a:ln w="25400">
            <a:solidFill>
              <a:srgbClr val="1D1D1D"/>
            </a:solidFill>
          </a:ln>
          <a:effectLst>
            <a:outerShdw sx="100000" sy="100000" kx="0" ky="0" algn="bl" rotWithShape="0" blurRad="1.408427961297661e+50" dist="9.682942233921421e+49" dir="9.795520512000002e+58">
              <a:srgbClr val="1D1D1D">
                <a:alpha val="1e+60"/>
              </a:srgbClr>
            </a:outerShdw>
          </a:effectLst>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42 programmes</a:t>
            </a:r>
            <a:endParaRPr lang="en-US" sz="1100" dirty="0"/>
          </a:p>
        </p:txBody>
      </p:sp>
      <p:sp>
        <p:nvSpPr>
          <p:cNvPr id="8" name="Text 6"/>
          <p:cNvSpPr/>
          <p:nvPr/>
        </p:nvSpPr>
        <p:spPr>
          <a:xfrm>
            <a:off x="2514600" y="4802327"/>
            <a:ext cx="1645920" cy="365760"/>
          </a:xfrm>
          <a:prstGeom prst="roundRect">
            <a:avLst>
              <a:gd name="adj" fmla="val 125000"/>
            </a:avLst>
          </a:prstGeom>
          <a:solidFill>
            <a:srgbClr val="FFFFFF"/>
          </a:solidFill>
          <a:ln w="25400">
            <a:solidFill>
              <a:srgbClr val="1D1D1D"/>
            </a:solidFill>
          </a:ln>
          <a:effectLst>
            <a:outerShdw sx="100000" sy="100000" kx="0" ky="0" algn="bl" rotWithShape="0" blurRad="1.7887035108480297e+54" dist="1.2297336637080205e+54" dir="5.877312307200001e+63">
              <a:srgbClr val="1D1D1D">
                <a:alpha val="1e+65"/>
              </a:srgbClr>
            </a:outerShdw>
          </a:effectLst>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64 districts</a:t>
            </a:r>
            <a:endParaRPr lang="en-US" sz="1100" dirty="0"/>
          </a:p>
        </p:txBody>
      </p:sp>
      <p:sp>
        <p:nvSpPr>
          <p:cNvPr id="9" name="Text 7"/>
          <p:cNvSpPr/>
          <p:nvPr/>
        </p:nvSpPr>
        <p:spPr>
          <a:xfrm>
            <a:off x="4297680" y="4802327"/>
            <a:ext cx="1554480" cy="365760"/>
          </a:xfrm>
          <a:prstGeom prst="roundRect">
            <a:avLst>
              <a:gd name="adj" fmla="val 125000"/>
            </a:avLst>
          </a:prstGeom>
          <a:solidFill>
            <a:srgbClr val="FFFFFF"/>
          </a:solidFill>
          <a:ln w="25400">
            <a:solidFill>
              <a:srgbClr val="1D1D1D"/>
            </a:solidFill>
          </a:ln>
          <a:effectLst>
            <a:outerShdw sx="100000" sy="100000" kx="0" ky="0" algn="bl" rotWithShape="0" blurRad="2.2716534587769977e+58" dist="1.5617617529091861e+58" dir="3.526387384320001e+68">
              <a:srgbClr val="1D1D1D">
                <a:alpha val="9.999999999999999e+69"/>
              </a:srgbClr>
            </a:outerShdw>
          </a:effectLst>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2 languages</a:t>
            </a:r>
            <a:endParaRPr lang="en-US" sz="1100" dirty="0"/>
          </a:p>
        </p:txBody>
      </p:sp>
      <p:sp>
        <p:nvSpPr>
          <p:cNvPr id="10" name="Shape 8"/>
          <p:cNvSpPr/>
          <p:nvPr/>
        </p:nvSpPr>
        <p:spPr>
          <a:xfrm>
            <a:off x="7899617" y="438912"/>
            <a:ext cx="2854527" cy="6071616"/>
          </a:xfrm>
          <a:prstGeom prst="roundRect">
            <a:avLst>
              <a:gd name="adj" fmla="val 5125"/>
            </a:avLst>
          </a:prstGeom>
          <a:solidFill>
            <a:srgbClr val="1D1D1D"/>
          </a:solidFill>
          <a:ln/>
          <a:effectLst>
            <a:outerShdw sx="100000" sy="100000" kx="0" ky="0" algn="bl" rotWithShape="0" blurRad="16387064000000" dist="18435447000000" dir="9720000000000000">
              <a:srgbClr val="1D1D1D">
                <a:alpha val="1000000000000000"/>
              </a:srgbClr>
            </a:outerShdw>
          </a:effectLst>
        </p:spPr>
      </p:sp>
      <p:pic>
        <p:nvPicPr>
          <p:cNvPr id="11" name="Image 0" descr="C:\Users\TL-77057\Downloads\AccessAI\screenshots\01-landing-bn.jpg">    </p:cNvPr>
          <p:cNvPicPr>
            <a:picLocks noChangeAspect="1"/>
          </p:cNvPicPr>
          <p:nvPr/>
        </p:nvPicPr>
        <p:blipFill>
          <a:blip r:embed="rId1"/>
          <a:stretch>
            <a:fillRect/>
          </a:stretch>
        </p:blipFill>
        <p:spPr>
          <a:xfrm>
            <a:off x="8009345" y="548640"/>
            <a:ext cx="2635071" cy="5852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10 / 55</a:t>
            </a:r>
            <a:endParaRPr lang="en-US" sz="1000" dirty="0"/>
          </a:p>
        </p:txBody>
      </p:sp>
      <p:sp>
        <p:nvSpPr>
          <p:cNvPr id="4" name="Text 2"/>
          <p:cNvSpPr/>
          <p:nvPr/>
        </p:nvSpPr>
        <p:spPr>
          <a:xfrm>
            <a:off x="3977640" y="54864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THE MENTAL MODEL, IN ONE LINE</a:t>
            </a:r>
            <a:endParaRPr lang="en-US" sz="1100" dirty="0"/>
          </a:p>
        </p:txBody>
      </p:sp>
      <p:sp>
        <p:nvSpPr>
          <p:cNvPr id="5" name="Text 3"/>
          <p:cNvSpPr/>
          <p:nvPr/>
        </p:nvSpPr>
        <p:spPr>
          <a:xfrm>
            <a:off x="914400" y="1188720"/>
            <a:ext cx="10360152" cy="764515"/>
          </a:xfrm>
          <a:prstGeom prst="rect">
            <a:avLst/>
          </a:prstGeom>
          <a:noFill/>
          <a:ln/>
        </p:spPr>
        <p:txBody>
          <a:bodyPr wrap="square" rtlCol="0" anchor="t"/>
          <a:lstStyle/>
          <a:p>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Describe → Decide → Explain → Act.</a:t>
            </a:r>
            <a:endParaRPr lang="en-US" sz="3800" dirty="0"/>
          </a:p>
        </p:txBody>
      </p:sp>
      <p:sp>
        <p:nvSpPr>
          <p:cNvPr id="6" name="Shape 4"/>
          <p:cNvSpPr/>
          <p:nvPr/>
        </p:nvSpPr>
        <p:spPr>
          <a:xfrm rot="60000">
            <a:off x="777240" y="2556739"/>
            <a:ext cx="2468880" cy="2560320"/>
          </a:xfrm>
          <a:prstGeom prst="roundRect">
            <a:avLst>
              <a:gd name="adj" fmla="val 3704"/>
            </a:avLst>
          </a:prstGeom>
          <a:solidFill>
            <a:srgbClr val="F5E6CC"/>
          </a:solidFill>
          <a:ln w="28575">
            <a:solidFill>
              <a:srgbClr val="1D1D1D"/>
            </a:solidFill>
            <a:prstDash val="solid"/>
          </a:ln>
          <a:effectLst>
            <a:outerShdw sx="100000" sy="100000" kx="0" ky="0" algn="bl" rotWithShape="0" blurRad="2.8849998926467873e+62" dist="1.9834374261946663e+62" dir="2.1158324305920003e+73">
              <a:srgbClr val="1D1D1D">
                <a:alpha val="1e+75"/>
              </a:srgbClr>
            </a:outerShdw>
          </a:effectLst>
        </p:spPr>
      </p:sp>
      <p:sp>
        <p:nvSpPr>
          <p:cNvPr id="7" name="Text 5"/>
          <p:cNvSpPr/>
          <p:nvPr/>
        </p:nvSpPr>
        <p:spPr>
          <a:xfrm rot="60000">
            <a:off x="978408" y="2721331"/>
            <a:ext cx="2066544" cy="457200"/>
          </a:xfrm>
          <a:prstGeom prst="rect">
            <a:avLst/>
          </a:prstGeom>
          <a:noFill/>
          <a:ln/>
        </p:spPr>
        <p:txBody>
          <a:bodyPr wrap="square" rtlCol="0" anchor="t"/>
          <a:lstStyle/>
          <a:p>
            <a:pPr indent="0" marL="0">
              <a:buNone/>
            </a:pPr>
            <a:r>
              <a:rPr lang="en-US" sz="1600" b="1" dirty="0">
                <a:solidFill>
                  <a:srgbClr val="1D1D1D"/>
                </a:solidFill>
                <a:latin typeface="Nunito" pitchFamily="34" charset="0"/>
                <a:ea typeface="Nunito" pitchFamily="34" charset="-122"/>
                <a:cs typeface="Nunito" pitchFamily="34" charset="-120"/>
              </a:rPr>
              <a:t>01</a:t>
            </a:r>
            <a:endParaRPr lang="en-US" sz="1600" dirty="0"/>
          </a:p>
        </p:txBody>
      </p:sp>
      <p:sp>
        <p:nvSpPr>
          <p:cNvPr id="8" name="Text 6"/>
          <p:cNvSpPr/>
          <p:nvPr/>
        </p:nvSpPr>
        <p:spPr>
          <a:xfrm rot="60000">
            <a:off x="978408" y="3196819"/>
            <a:ext cx="2066544" cy="1773936"/>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She describes her situation — voice or text.</a:t>
            </a:r>
            <a:endParaRPr lang="en-US" sz="1300" dirty="0"/>
          </a:p>
        </p:txBody>
      </p:sp>
      <p:sp>
        <p:nvSpPr>
          <p:cNvPr id="9" name="Shape 7"/>
          <p:cNvSpPr/>
          <p:nvPr/>
        </p:nvSpPr>
        <p:spPr>
          <a:xfrm rot="-60000">
            <a:off x="3474720" y="2556739"/>
            <a:ext cx="2468880" cy="2560320"/>
          </a:xfrm>
          <a:prstGeom prst="roundRect">
            <a:avLst>
              <a:gd name="adj" fmla="val 3704"/>
            </a:avLst>
          </a:prstGeom>
          <a:solidFill>
            <a:srgbClr val="2EC4B6"/>
          </a:solidFill>
          <a:ln w="28575">
            <a:solidFill>
              <a:srgbClr val="1D1D1D"/>
            </a:solidFill>
            <a:prstDash val="solid"/>
          </a:ln>
          <a:effectLst>
            <a:outerShdw sx="100000" sy="100000" kx="0" ky="0" algn="bl" rotWithShape="0" blurRad="3.66394986366142e+66" dist="2.518965531267226e+66" dir="1.2694994583552002e+78">
              <a:srgbClr val="1D1D1D">
                <a:alpha val="9.999999999999999e+79"/>
              </a:srgbClr>
            </a:outerShdw>
          </a:effectLst>
        </p:spPr>
      </p:sp>
      <p:sp>
        <p:nvSpPr>
          <p:cNvPr id="10" name="Text 8"/>
          <p:cNvSpPr/>
          <p:nvPr/>
        </p:nvSpPr>
        <p:spPr>
          <a:xfrm rot="-60000">
            <a:off x="3675888" y="2721331"/>
            <a:ext cx="2066544" cy="457200"/>
          </a:xfrm>
          <a:prstGeom prst="rect">
            <a:avLst/>
          </a:prstGeom>
          <a:noFill/>
          <a:ln/>
        </p:spPr>
        <p:txBody>
          <a:bodyPr wrap="square" rtlCol="0" anchor="t"/>
          <a:lstStyle/>
          <a:p>
            <a:pPr indent="0" marL="0">
              <a:buNone/>
            </a:pPr>
            <a:r>
              <a:rPr lang="en-US" sz="1600" b="1" dirty="0">
                <a:solidFill>
                  <a:srgbClr val="1D1D1D"/>
                </a:solidFill>
                <a:latin typeface="Nunito" pitchFamily="34" charset="0"/>
                <a:ea typeface="Nunito" pitchFamily="34" charset="-122"/>
                <a:cs typeface="Nunito" pitchFamily="34" charset="-120"/>
              </a:rPr>
              <a:t>02</a:t>
            </a:r>
            <a:endParaRPr lang="en-US" sz="1600" dirty="0"/>
          </a:p>
        </p:txBody>
      </p:sp>
      <p:sp>
        <p:nvSpPr>
          <p:cNvPr id="11" name="Text 9"/>
          <p:cNvSpPr/>
          <p:nvPr/>
        </p:nvSpPr>
        <p:spPr>
          <a:xfrm rot="-60000">
            <a:off x="3675888" y="3196819"/>
            <a:ext cx="2066544" cy="1773936"/>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A rule engine decides — never a guess.</a:t>
            </a:r>
            <a:endParaRPr lang="en-US" sz="1300" dirty="0"/>
          </a:p>
        </p:txBody>
      </p:sp>
      <p:sp>
        <p:nvSpPr>
          <p:cNvPr id="12" name="Shape 10"/>
          <p:cNvSpPr/>
          <p:nvPr/>
        </p:nvSpPr>
        <p:spPr>
          <a:xfrm rot="60000">
            <a:off x="6172200" y="2556739"/>
            <a:ext cx="2468880" cy="2560320"/>
          </a:xfrm>
          <a:prstGeom prst="roundRect">
            <a:avLst>
              <a:gd name="adj" fmla="val 3704"/>
            </a:avLst>
          </a:prstGeom>
          <a:solidFill>
            <a:srgbClr val="FFBF00"/>
          </a:solidFill>
          <a:ln w="28575">
            <a:solidFill>
              <a:srgbClr val="1D1D1D"/>
            </a:solidFill>
            <a:prstDash val="solid"/>
          </a:ln>
          <a:effectLst>
            <a:outerShdw sx="100000" sy="100000" kx="0" ky="0" algn="bl" rotWithShape="0" blurRad="4.653216326850003e+70" dist="3.1990862247093774e+70" dir="7.616996750131201e+82">
              <a:srgbClr val="1D1D1D">
                <a:alpha val="9.999999999999998e+84"/>
              </a:srgbClr>
            </a:outerShdw>
          </a:effectLst>
        </p:spPr>
      </p:sp>
      <p:sp>
        <p:nvSpPr>
          <p:cNvPr id="13" name="Text 11"/>
          <p:cNvSpPr/>
          <p:nvPr/>
        </p:nvSpPr>
        <p:spPr>
          <a:xfrm rot="60000">
            <a:off x="6373368" y="2721331"/>
            <a:ext cx="2066544" cy="457200"/>
          </a:xfrm>
          <a:prstGeom prst="rect">
            <a:avLst/>
          </a:prstGeom>
          <a:noFill/>
          <a:ln/>
        </p:spPr>
        <p:txBody>
          <a:bodyPr wrap="square" rtlCol="0" anchor="t"/>
          <a:lstStyle/>
          <a:p>
            <a:pPr indent="0" marL="0">
              <a:buNone/>
            </a:pPr>
            <a:r>
              <a:rPr lang="en-US" sz="1600" b="1" dirty="0">
                <a:solidFill>
                  <a:srgbClr val="1D1D1D"/>
                </a:solidFill>
                <a:latin typeface="Nunito" pitchFamily="34" charset="0"/>
                <a:ea typeface="Nunito" pitchFamily="34" charset="-122"/>
                <a:cs typeface="Nunito" pitchFamily="34" charset="-120"/>
              </a:rPr>
              <a:t>03</a:t>
            </a:r>
            <a:endParaRPr lang="en-US" sz="1600" dirty="0"/>
          </a:p>
        </p:txBody>
      </p:sp>
      <p:sp>
        <p:nvSpPr>
          <p:cNvPr id="14" name="Text 12"/>
          <p:cNvSpPr/>
          <p:nvPr/>
        </p:nvSpPr>
        <p:spPr>
          <a:xfrm rot="60000">
            <a:off x="6373368" y="3196819"/>
            <a:ext cx="2066544" cy="1773936"/>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The reason is shown, in plain language.</a:t>
            </a:r>
            <a:endParaRPr lang="en-US" sz="1300" dirty="0"/>
          </a:p>
        </p:txBody>
      </p:sp>
      <p:sp>
        <p:nvSpPr>
          <p:cNvPr id="15" name="Shape 13"/>
          <p:cNvSpPr/>
          <p:nvPr/>
        </p:nvSpPr>
        <p:spPr>
          <a:xfrm rot="-60000">
            <a:off x="8869680" y="2556739"/>
            <a:ext cx="2468880" cy="2560320"/>
          </a:xfrm>
          <a:prstGeom prst="roundRect">
            <a:avLst>
              <a:gd name="adj" fmla="val 3704"/>
            </a:avLst>
          </a:prstGeom>
          <a:solidFill>
            <a:srgbClr val="FF5D73"/>
          </a:solidFill>
          <a:ln w="28575">
            <a:solidFill>
              <a:srgbClr val="1D1D1D"/>
            </a:solidFill>
            <a:prstDash val="solid"/>
          </a:ln>
          <a:effectLst>
            <a:outerShdw sx="100000" sy="100000" kx="0" ky="0" algn="bl" rotWithShape="0" blurRad="5.909584735099504e+74" dist="4.0628395053809093e+74" dir="4.57019805007872e+87">
              <a:srgbClr val="1D1D1D">
                <a:alpha val="9.999999999999999e+89"/>
              </a:srgbClr>
            </a:outerShdw>
          </a:effectLst>
        </p:spPr>
      </p:sp>
      <p:sp>
        <p:nvSpPr>
          <p:cNvPr id="16" name="Text 14"/>
          <p:cNvSpPr/>
          <p:nvPr/>
        </p:nvSpPr>
        <p:spPr>
          <a:xfrm rot="-60000">
            <a:off x="9070848" y="2721331"/>
            <a:ext cx="2066544" cy="457200"/>
          </a:xfrm>
          <a:prstGeom prst="rect">
            <a:avLst/>
          </a:prstGeom>
          <a:noFill/>
          <a:ln/>
        </p:spPr>
        <p:txBody>
          <a:bodyPr wrap="square" rtlCol="0" anchor="t"/>
          <a:lstStyle/>
          <a:p>
            <a:pPr indent="0" marL="0">
              <a:buNone/>
            </a:pPr>
            <a:r>
              <a:rPr lang="en-US" sz="1600" b="1" dirty="0">
                <a:solidFill>
                  <a:srgbClr val="1D1D1D"/>
                </a:solidFill>
                <a:latin typeface="Nunito" pitchFamily="34" charset="0"/>
                <a:ea typeface="Nunito" pitchFamily="34" charset="-122"/>
                <a:cs typeface="Nunito" pitchFamily="34" charset="-120"/>
              </a:rPr>
              <a:t>04</a:t>
            </a:r>
            <a:endParaRPr lang="en-US" sz="1600" dirty="0"/>
          </a:p>
        </p:txBody>
      </p:sp>
      <p:sp>
        <p:nvSpPr>
          <p:cNvPr id="17" name="Text 15"/>
          <p:cNvSpPr/>
          <p:nvPr/>
        </p:nvSpPr>
        <p:spPr>
          <a:xfrm rot="-60000">
            <a:off x="9070848" y="3196819"/>
            <a:ext cx="2066544" cy="1773936"/>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She saves it, and gets a real checklist.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11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HOW IT WORKS — STEP 1</a:t>
            </a:r>
            <a:endParaRPr lang="en-US" sz="1100" dirty="0"/>
          </a:p>
        </p:txBody>
      </p:sp>
      <p:sp>
        <p:nvSpPr>
          <p:cNvPr id="5" name="Text 3"/>
          <p:cNvSpPr/>
          <p:nvPr/>
        </p:nvSpPr>
        <p:spPr>
          <a:xfrm>
            <a:off x="5212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Getting in needs a </a:t>
            </a:r>
            <a:pPr algn="l"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phone number</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not an email address.</a:t>
            </a:r>
            <a:endParaRPr lang="en-US" sz="3800" dirty="0"/>
          </a:p>
        </p:txBody>
      </p:sp>
      <p:sp>
        <p:nvSpPr>
          <p:cNvPr id="6" name="Text 4"/>
          <p:cNvSpPr/>
          <p:nvPr/>
        </p:nvSpPr>
        <p:spPr>
          <a:xfrm>
            <a:off x="5212080" y="3281096"/>
            <a:ext cx="6309360" cy="235419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A phone number plus a 4–6 digit PIN. No email, no strong-password rules, no CAPTCHA, no “Sign in with Google.” Real screen, right down to the info panel explaining, in Bangla, why a phone number is enough: most people this app is for don’t use email, and a phone number is already their identity.</a:t>
            </a:r>
            <a:endParaRPr lang="en-US" sz="1900" dirty="0"/>
          </a:p>
        </p:txBody>
      </p:sp>
      <p:sp>
        <p:nvSpPr>
          <p:cNvPr id="7" name="Shape 5"/>
          <p:cNvSpPr/>
          <p:nvPr/>
        </p:nvSpPr>
        <p:spPr>
          <a:xfrm>
            <a:off x="1224497" y="438912"/>
            <a:ext cx="2854527" cy="6071616"/>
          </a:xfrm>
          <a:prstGeom prst="roundRect">
            <a:avLst>
              <a:gd name="adj" fmla="val 5125"/>
            </a:avLst>
          </a:prstGeom>
          <a:solidFill>
            <a:srgbClr val="1D1D1D"/>
          </a:solidFill>
          <a:ln/>
          <a:effectLst>
            <a:outerShdw sx="100000" sy="100000" kx="0" ky="0" algn="bl" rotWithShape="0" blurRad="208115712800000000" dist="234130176900000000" dir="583200000000000000000">
              <a:srgbClr val="1D1D1D">
                <a:alpha val="100000000000000000000"/>
              </a:srgbClr>
            </a:outerShdw>
          </a:effectLst>
        </p:spPr>
      </p:sp>
      <p:pic>
        <p:nvPicPr>
          <p:cNvPr id="8" name="Image 0" descr="C:\Users\TL-77057\Downloads\AccessAI\screenshots\02-login-bn.jpg">    </p:cNvPr>
          <p:cNvPicPr>
            <a:picLocks noChangeAspect="1"/>
          </p:cNvPicPr>
          <p:nvPr/>
        </p:nvPicPr>
        <p:blipFill>
          <a:blip r:embed="rId1"/>
          <a:stretch>
            <a:fillRect/>
          </a:stretch>
        </p:blipFill>
        <p:spPr>
          <a:xfrm>
            <a:off x="1334225" y="548640"/>
            <a:ext cx="2635071" cy="58521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12 / 55</a:t>
            </a:r>
            <a:endParaRPr lang="en-US" sz="1000" dirty="0"/>
          </a:p>
        </p:txBody>
      </p:sp>
      <p:sp>
        <p:nvSpPr>
          <p:cNvPr id="4" name="Text 2"/>
          <p:cNvSpPr/>
          <p:nvPr/>
        </p:nvSpPr>
        <p:spPr>
          <a:xfrm>
            <a:off x="3977640" y="54864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HOW IT WORKS — STEP 2</a:t>
            </a:r>
            <a:endParaRPr lang="en-US" sz="1100" dirty="0"/>
          </a:p>
        </p:txBody>
      </p:sp>
      <p:sp>
        <p:nvSpPr>
          <p:cNvPr id="5" name="Text 3"/>
          <p:cNvSpPr/>
          <p:nvPr/>
        </p:nvSpPr>
        <p:spPr>
          <a:xfrm>
            <a:off x="914400" y="1143000"/>
            <a:ext cx="10360152" cy="1382725"/>
          </a:xfrm>
          <a:prstGeom prst="rect">
            <a:avLst/>
          </a:prstGeom>
          <a:noFill/>
          <a:ln/>
        </p:spPr>
        <p:txBody>
          <a:bodyPr wrap="square" rtlCol="0" anchor="t"/>
          <a:lstStyle/>
          <a:p>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She types — or speaks — exactly what happened. No form.</a:t>
            </a:r>
            <a:endParaRPr lang="en-US" sz="3800" dirty="0"/>
          </a:p>
        </p:txBody>
      </p:sp>
      <p:sp>
        <p:nvSpPr>
          <p:cNvPr id="6" name="Shape 4"/>
          <p:cNvSpPr/>
          <p:nvPr/>
        </p:nvSpPr>
        <p:spPr>
          <a:xfrm>
            <a:off x="2194560" y="3037789"/>
            <a:ext cx="7799832" cy="2286000"/>
          </a:xfrm>
          <a:prstGeom prst="roundRect">
            <a:avLst>
              <a:gd name="adj" fmla="val 4800"/>
            </a:avLst>
          </a:prstGeom>
          <a:solidFill>
            <a:srgbClr val="F5E6CC"/>
          </a:solidFill>
          <a:ln w="31750">
            <a:solidFill>
              <a:srgbClr val="1D1D1D"/>
            </a:solidFill>
            <a:prstDash val="solid"/>
          </a:ln>
          <a:effectLst>
            <a:outerShdw sx="100000" sy="100000" kx="0" ky="0" algn="bl" rotWithShape="0" blurRad="7.50517261357637e+78" dist="5.159806171833755e+78" dir="2.742118830047232e+92">
              <a:srgbClr val="1D1D1D">
                <a:alpha val="9.999999999999999e+94"/>
              </a:srgbClr>
            </a:outerShdw>
          </a:effectLst>
        </p:spPr>
      </p:sp>
      <p:sp>
        <p:nvSpPr>
          <p:cNvPr id="7" name="Text 5"/>
          <p:cNvSpPr/>
          <p:nvPr/>
        </p:nvSpPr>
        <p:spPr>
          <a:xfrm>
            <a:off x="2468880" y="3220669"/>
            <a:ext cx="7251192" cy="1051560"/>
          </a:xfrm>
          <a:prstGeom prst="rect">
            <a:avLst/>
          </a:prstGeom>
          <a:noFill/>
          <a:ln/>
        </p:spPr>
        <p:txBody>
          <a:bodyPr wrap="square" rtlCol="0" anchor="t"/>
          <a:lstStyle/>
          <a:p>
            <a:pPr indent="0" marL="0">
              <a:lnSpc>
                <a:spcPct val="130000"/>
              </a:lnSpc>
              <a:buNone/>
            </a:pPr>
            <a:r>
              <a:rPr lang="en-US" sz="1800" b="1" dirty="0">
                <a:solidFill>
                  <a:srgbClr val="1D1D1D"/>
                </a:solidFill>
                <a:latin typeface="Nunito" pitchFamily="34" charset="0"/>
                <a:ea typeface="Nunito" pitchFamily="34" charset="-122"/>
                <a:cs typeface="Nunito" pitchFamily="34" charset="-120"/>
              </a:rPr>
              <a:t>“আমার স্বামী মারা গেছেন, আমার তিনিথি সন্তান আছে। আমি কী সহায়তা পেতে পারি?”</a:t>
            </a:r>
            <a:endParaRPr lang="en-US" sz="1800" dirty="0"/>
          </a:p>
        </p:txBody>
      </p:sp>
      <p:sp>
        <p:nvSpPr>
          <p:cNvPr id="8" name="Text 6"/>
          <p:cNvSpPr/>
          <p:nvPr/>
        </p:nvSpPr>
        <p:spPr>
          <a:xfrm>
            <a:off x="2468880" y="4272229"/>
            <a:ext cx="7251192" cy="914400"/>
          </a:xfrm>
          <a:prstGeom prst="rect">
            <a:avLst/>
          </a:prstGeom>
          <a:noFill/>
          <a:ln/>
        </p:spPr>
        <p:txBody>
          <a:bodyPr wrap="square" rtlCol="0" anchor="t"/>
          <a:lstStyle/>
          <a:p>
            <a:pPr indent="0" marL="0">
              <a:lnSpc>
                <a:spcPct val="130000"/>
              </a:lnSpc>
              <a:buNone/>
            </a:pPr>
            <a:r>
              <a:rPr lang="en-US" sz="1300" dirty="0">
                <a:solidFill>
                  <a:srgbClr val="665F52"/>
                </a:solidFill>
                <a:latin typeface="Nunito" pitchFamily="34" charset="0"/>
                <a:ea typeface="Nunito" pitchFamily="34" charset="-122"/>
                <a:cs typeface="Nunito" pitchFamily="34" charset="-120"/>
              </a:rPr>
              <a:t>“My husband has died, and I have three children. What help can I get?” — the exact message, typed into the real running app.</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EC4B6"/>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13 / 55</a:t>
            </a:r>
            <a:endParaRPr lang="en-US" sz="1000" dirty="0"/>
          </a:p>
        </p:txBody>
      </p:sp>
      <p:sp>
        <p:nvSpPr>
          <p:cNvPr id="4" name="Text 2"/>
          <p:cNvSpPr/>
          <p:nvPr/>
        </p:nvSpPr>
        <p:spPr>
          <a:xfrm>
            <a:off x="640080" y="548640"/>
            <a:ext cx="365760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HOW IT WORKS — STEP 3</a:t>
            </a:r>
            <a:endParaRPr lang="en-US" sz="1100" dirty="0"/>
          </a:p>
        </p:txBody>
      </p:sp>
      <p:sp>
        <p:nvSpPr>
          <p:cNvPr id="5" name="Text 3"/>
          <p:cNvSpPr/>
          <p:nvPr/>
        </p:nvSpPr>
        <p:spPr>
          <a:xfrm>
            <a:off x="640080" y="1188720"/>
            <a:ext cx="10908792"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Behind the scenes, a rule engine decides — and it is allowed to say </a:t>
            </a:r>
            <a:pPr algn="l"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“I don’t know.”</a:t>
            </a:r>
            <a:endParaRPr lang="en-US" sz="3800" dirty="0"/>
          </a:p>
        </p:txBody>
      </p:sp>
      <p:sp>
        <p:nvSpPr>
          <p:cNvPr id="6" name="Text 4"/>
          <p:cNvSpPr/>
          <p:nvPr/>
        </p:nvSpPr>
        <p:spPr>
          <a:xfrm>
            <a:off x="640080" y="3610280"/>
            <a:ext cx="10908792" cy="1618234"/>
          </a:xfrm>
          <a:prstGeom prst="rect">
            <a:avLst/>
          </a:prstGeom>
          <a:noFill/>
          <a:ln/>
        </p:spPr>
        <p:txBody>
          <a:bodyPr wrap="square" rtlCol="0" anchor="t"/>
          <a:lstStyle/>
          <a:p>
            <a:pPr algn="l" indent="0" marL="0">
              <a:lnSpc>
                <a:spcPct val="125000"/>
              </a:lnSpc>
              <a:buNone/>
            </a:pPr>
            <a:r>
              <a:rPr lang="en-US" sz="1900" dirty="0">
                <a:solidFill>
                  <a:srgbClr val="1D1D1D"/>
                </a:solidFill>
                <a:latin typeface="Nunito" pitchFamily="34" charset="0"/>
                <a:ea typeface="Nunito" pitchFamily="34" charset="-122"/>
                <a:cs typeface="Nunito" pitchFamily="34" charset="-120"/>
              </a:rPr>
              <a:t>Every decision has exactly four possible outcomes: eligible, partially eligible, not eligible, or unknown. A missing answer is never quietly treated as a “no” — that would silently deny someone a benefit they may actually be entitled to. Instead, the system asks one more question, the single most useful one, and waits.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14 / 55</a:t>
            </a:r>
            <a:endParaRPr lang="en-US" sz="1000" dirty="0"/>
          </a:p>
        </p:txBody>
      </p:sp>
      <p:sp>
        <p:nvSpPr>
          <p:cNvPr id="4" name="Text 2"/>
          <p:cNvSpPr/>
          <p:nvPr/>
        </p:nvSpPr>
        <p:spPr>
          <a:xfrm>
            <a:off x="640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HOW IT WORKS — STEP 4</a:t>
            </a:r>
            <a:endParaRPr lang="en-US" sz="1100" dirty="0"/>
          </a:p>
        </p:txBody>
      </p:sp>
      <p:sp>
        <p:nvSpPr>
          <p:cNvPr id="5" name="Text 3"/>
          <p:cNvSpPr/>
          <p:nvPr/>
        </p:nvSpPr>
        <p:spPr>
          <a:xfrm>
            <a:off x="640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Live. Right now. Real AI, rendering a decision it did not make.</a:t>
            </a:r>
            <a:endParaRPr lang="en-US" sz="3800" dirty="0"/>
          </a:p>
        </p:txBody>
      </p:sp>
      <p:sp>
        <p:nvSpPr>
          <p:cNvPr id="6" name="Text 4"/>
          <p:cNvSpPr/>
          <p:nvPr/>
        </p:nvSpPr>
        <p:spPr>
          <a:xfrm>
            <a:off x="640080" y="3281096"/>
            <a:ext cx="6309360" cy="3090164"/>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Widow allowance: eligible. Every reason named — her gender, her income, her age, her citizenship, her job status — each one traced back to something she actually said. The amount, in taka. And the model itself admits the record behind it is unverified sample data. Nothing here is a screenshot from a slide template — this is the running app answering, in Bangla, in real time.</a:t>
            </a:r>
            <a:endParaRPr lang="en-US" sz="1900" dirty="0"/>
          </a:p>
        </p:txBody>
      </p:sp>
      <p:sp>
        <p:nvSpPr>
          <p:cNvPr id="7" name="Shape 5"/>
          <p:cNvSpPr/>
          <p:nvPr/>
        </p:nvSpPr>
        <p:spPr>
          <a:xfrm>
            <a:off x="7762457" y="438912"/>
            <a:ext cx="2854527" cy="6071616"/>
          </a:xfrm>
          <a:prstGeom prst="roundRect">
            <a:avLst>
              <a:gd name="adj" fmla="val 5125"/>
            </a:avLst>
          </a:prstGeom>
          <a:solidFill>
            <a:srgbClr val="1D1D1D"/>
          </a:solidFill>
          <a:ln/>
          <a:effectLst>
            <a:outerShdw sx="100000" sy="100000" kx="0" ky="0" algn="bl" rotWithShape="0" blurRad="2.64306955256e+21" dist="2.97345324663e+21" dir="3.4992e+25">
              <a:srgbClr val="1D1D1D">
                <a:alpha val="1e+25"/>
              </a:srgbClr>
            </a:outerShdw>
          </a:effectLst>
        </p:spPr>
      </p:sp>
      <p:pic>
        <p:nvPicPr>
          <p:cNvPr id="8" name="Image 0" descr="C:\Users\TL-77057\Downloads\AccessAI\screenshots\03-chat-bn-response.jpg">    </p:cNvPr>
          <p:cNvPicPr>
            <a:picLocks noChangeAspect="1"/>
          </p:cNvPicPr>
          <p:nvPr/>
        </p:nvPicPr>
        <p:blipFill>
          <a:blip r:embed="rId1"/>
          <a:stretch>
            <a:fillRect/>
          </a:stretch>
        </p:blipFill>
        <p:spPr>
          <a:xfrm>
            <a:off x="7872185" y="548640"/>
            <a:ext cx="2635071" cy="5852160"/>
          </a:xfrm>
          <a:prstGeom prst="rect">
            <a:avLst/>
          </a:prstGeom>
        </p:spPr>
      </p:pic>
      <p:sp>
        <p:nvSpPr>
          <p:cNvPr id="9" name="Shape 6"/>
          <p:cNvSpPr/>
          <p:nvPr/>
        </p:nvSpPr>
        <p:spPr>
          <a:xfrm rot="-240000">
            <a:off x="5852160" y="320040"/>
            <a:ext cx="2011680" cy="685800"/>
          </a:xfrm>
          <a:prstGeom prst="roundRect">
            <a:avLst>
              <a:gd name="adj" fmla="val 13333"/>
            </a:avLst>
          </a:prstGeom>
          <a:solidFill>
            <a:srgbClr val="FFBF00"/>
          </a:solidFill>
          <a:ln w="31750">
            <a:solidFill>
              <a:srgbClr val="1D1D1D"/>
            </a:solidFill>
            <a:prstDash val="solid"/>
          </a:ln>
          <a:effectLst>
            <a:outerShdw sx="100000" sy="100000" kx="0" ky="0" algn="bl" rotWithShape="0" blurRad="9.53156921924199e+82" dist="6.552953838228869e+82" dir="1.6452712980283393e+97">
              <a:srgbClr val="1D1D1D">
                <a:alpha val="9.999999999999998e+99"/>
              </a:srgbClr>
            </a:outerShdw>
          </a:effectLst>
        </p:spPr>
      </p:sp>
      <p:sp>
        <p:nvSpPr>
          <p:cNvPr id="10" name="Text 7"/>
          <p:cNvSpPr/>
          <p:nvPr/>
        </p:nvSpPr>
        <p:spPr>
          <a:xfrm rot="-240000">
            <a:off x="5852160" y="320040"/>
            <a:ext cx="2011680" cy="685800"/>
          </a:xfrm>
          <a:prstGeom prst="rect">
            <a:avLst/>
          </a:prstGeom>
          <a:noFill/>
          <a:ln/>
        </p:spPr>
        <p:txBody>
          <a:bodyPr wrap="square" rtlCol="0" anchor="ctr"/>
          <a:lstStyle/>
          <a:p>
            <a:pPr algn="ctr" indent="0" marL="0">
              <a:buNone/>
            </a:pPr>
            <a:r>
              <a:rPr lang="en-US" sz="1100" b="1" dirty="0">
                <a:solidFill>
                  <a:srgbClr val="1D1D1D"/>
                </a:solidFill>
                <a:latin typeface="Baloo 2" pitchFamily="34" charset="0"/>
                <a:ea typeface="Baloo 2" pitchFamily="34" charset="-122"/>
                <a:cs typeface="Baloo 2" pitchFamily="34" charset="-120"/>
              </a:rPr>
              <a:t>This exact answer,</a:t>
            </a:r>
            <a:endParaRPr lang="en-US" sz="1100" dirty="0"/>
          </a:p>
          <a:p>
            <a:pPr algn="ctr" indent="0" marL="0">
              <a:buNone/>
            </a:pPr>
            <a:r>
              <a:rPr lang="en-US" sz="1100" b="1" dirty="0">
                <a:solidFill>
                  <a:srgbClr val="1D1D1D"/>
                </a:solidFill>
                <a:latin typeface="Baloo 2" pitchFamily="34" charset="0"/>
                <a:ea typeface="Baloo 2" pitchFamily="34" charset="-122"/>
                <a:cs typeface="Baloo 2" pitchFamily="34" charset="-120"/>
              </a:rPr>
              <a:t>live, right now</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15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CORE CAPABILITY</a:t>
            </a:r>
            <a:endParaRPr lang="en-US" sz="1100" dirty="0"/>
          </a:p>
        </p:txBody>
      </p:sp>
      <p:sp>
        <p:nvSpPr>
          <p:cNvPr id="5" name="Text 3"/>
          <p:cNvSpPr/>
          <p:nvPr/>
        </p:nvSpPr>
        <p:spPr>
          <a:xfrm>
            <a:off x="5212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Never a black-box “yes.” Always </a:t>
            </a:r>
            <a:pPr algn="l" indent="0" marL="0">
              <a:lnSpc>
                <a:spcPct val="105000"/>
              </a:lnSpc>
              <a:buNone/>
            </a:pPr>
            <a:r>
              <a:rPr lang="en-US" sz="3800" b="1" dirty="0">
                <a:solidFill>
                  <a:srgbClr val="1D1D1D"/>
                </a:solidFill>
                <a:highlight>
                  <a:srgbClr val="2EC4B6"/>
                </a:highlight>
                <a:latin typeface="Baloo 2" pitchFamily="34" charset="0"/>
                <a:ea typeface="Baloo 2" pitchFamily="34" charset="-122"/>
                <a:cs typeface="Baloo 2" pitchFamily="34" charset="-120"/>
              </a:rPr>
              <a:t>every</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reason.</a:t>
            </a:r>
            <a:endParaRPr lang="en-US" sz="3800" dirty="0"/>
          </a:p>
        </p:txBody>
      </p:sp>
      <p:sp>
        <p:nvSpPr>
          <p:cNvPr id="6" name="Text 4"/>
          <p:cNvSpPr/>
          <p:nvPr/>
        </p:nvSpPr>
        <p:spPr>
          <a:xfrm>
            <a:off x="5212080" y="3281096"/>
            <a:ext cx="6309360" cy="2722181"/>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Tap into any recommendation and see the full trace: which conditions she met, which she failed, and exactly what value she gave for each one — “monthly income · you provided: 900.” This is the same reasoning the engine actually used, shown, not summarised. A citizen — or a journalist, or an auditor — can check the app’s homework on every single answer.</a:t>
            </a:r>
            <a:endParaRPr lang="en-US" sz="1900" dirty="0"/>
          </a:p>
        </p:txBody>
      </p:sp>
      <p:sp>
        <p:nvSpPr>
          <p:cNvPr id="7" name="Shape 5"/>
          <p:cNvSpPr/>
          <p:nvPr/>
        </p:nvSpPr>
        <p:spPr>
          <a:xfrm>
            <a:off x="1224497" y="438912"/>
            <a:ext cx="2854527" cy="6071616"/>
          </a:xfrm>
          <a:prstGeom prst="roundRect">
            <a:avLst>
              <a:gd name="adj" fmla="val 5125"/>
            </a:avLst>
          </a:prstGeom>
          <a:solidFill>
            <a:srgbClr val="1D1D1D"/>
          </a:solidFill>
          <a:ln/>
          <a:effectLst>
            <a:outerShdw sx="100000" sy="100000" kx="0" ky="0" algn="bl" rotWithShape="0" blurRad="3.3566983317512e+25" dist="3.7762856232201e+25" dir="2.09952e+30">
              <a:srgbClr val="1D1D1D">
                <a:alpha val="1.0000000000000002e+30"/>
              </a:srgbClr>
            </a:outerShdw>
          </a:effectLst>
        </p:spPr>
      </p:sp>
      <p:pic>
        <p:nvPicPr>
          <p:cNvPr id="8" name="Image 0" descr="C:\Users\TL-77057\Downloads\AccessAI\screenshots\04-opportunity-eligibility-trace.jpg">    </p:cNvPr>
          <p:cNvPicPr>
            <a:picLocks noChangeAspect="1"/>
          </p:cNvPicPr>
          <p:nvPr/>
        </p:nvPicPr>
        <p:blipFill>
          <a:blip r:embed="rId1"/>
          <a:stretch>
            <a:fillRect/>
          </a:stretch>
        </p:blipFill>
        <p:spPr>
          <a:xfrm>
            <a:off x="1334225" y="548640"/>
            <a:ext cx="2635071" cy="58521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16 / 55</a:t>
            </a:r>
            <a:endParaRPr lang="en-US" sz="1000" dirty="0"/>
          </a:p>
        </p:txBody>
      </p:sp>
      <p:sp>
        <p:nvSpPr>
          <p:cNvPr id="4" name="Text 2"/>
          <p:cNvSpPr/>
          <p:nvPr/>
        </p:nvSpPr>
        <p:spPr>
          <a:xfrm>
            <a:off x="640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CORE CAPABILITY</a:t>
            </a:r>
            <a:endParaRPr lang="en-US" sz="1100" dirty="0"/>
          </a:p>
        </p:txBody>
      </p:sp>
      <p:sp>
        <p:nvSpPr>
          <p:cNvPr id="5" name="Text 3"/>
          <p:cNvSpPr/>
          <p:nvPr/>
        </p:nvSpPr>
        <p:spPr>
          <a:xfrm>
            <a:off x="640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“Eligible” becomes a checklist, not a dead end.</a:t>
            </a:r>
            <a:endParaRPr lang="en-US" sz="3800" dirty="0"/>
          </a:p>
        </p:txBody>
      </p:sp>
      <p:sp>
        <p:nvSpPr>
          <p:cNvPr id="6" name="Text 4"/>
          <p:cNvSpPr/>
          <p:nvPr/>
        </p:nvSpPr>
        <p:spPr>
          <a:xfrm>
            <a:off x="640080" y="3281096"/>
            <a:ext cx="6309360" cy="235419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One tap turns a decision into an action plan — built from that programme’s own real application steps and its own real document list, in order, with the documents that unlock everything else scheduled first. Nothing here is generic homework; it’s assembled from the same record that decided she qualifies.</a:t>
            </a:r>
            <a:endParaRPr lang="en-US" sz="1900" dirty="0"/>
          </a:p>
        </p:txBody>
      </p:sp>
      <p:sp>
        <p:nvSpPr>
          <p:cNvPr id="7" name="Shape 5"/>
          <p:cNvSpPr/>
          <p:nvPr/>
        </p:nvSpPr>
        <p:spPr>
          <a:xfrm>
            <a:off x="7762457" y="438912"/>
            <a:ext cx="2854527" cy="6071616"/>
          </a:xfrm>
          <a:prstGeom prst="roundRect">
            <a:avLst>
              <a:gd name="adj" fmla="val 5125"/>
            </a:avLst>
          </a:prstGeom>
          <a:solidFill>
            <a:srgbClr val="1D1D1D"/>
          </a:solidFill>
          <a:ln/>
          <a:effectLst>
            <a:outerShdw sx="100000" sy="100000" kx="0" ky="0" algn="bl" rotWithShape="0" blurRad="4.2630068813240236e+29" dist="4.795882741489527e+29" dir="1.259712e+35">
              <a:srgbClr val="1D1D1D">
                <a:alpha val="1.0000000000000002e+35"/>
              </a:srgbClr>
            </a:outerShdw>
          </a:effectLst>
        </p:spPr>
      </p:sp>
      <p:pic>
        <p:nvPicPr>
          <p:cNvPr id="8" name="Image 0" descr="C:\Users\TL-77057\Downloads\AccessAI\screenshots\05-opportunity-documents.jpg">    </p:cNvPr>
          <p:cNvPicPr>
            <a:picLocks noChangeAspect="1"/>
          </p:cNvPicPr>
          <p:nvPr/>
        </p:nvPicPr>
        <p:blipFill>
          <a:blip r:embed="rId1"/>
          <a:stretch>
            <a:fillRect/>
          </a:stretch>
        </p:blipFill>
        <p:spPr>
          <a:xfrm>
            <a:off x="7872185" y="548640"/>
            <a:ext cx="2635071" cy="58521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17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CORE CAPABILITY</a:t>
            </a:r>
            <a:endParaRPr lang="en-US" sz="1100" dirty="0"/>
          </a:p>
        </p:txBody>
      </p:sp>
      <p:sp>
        <p:nvSpPr>
          <p:cNvPr id="5" name="Text 3"/>
          <p:cNvSpPr/>
          <p:nvPr/>
        </p:nvSpPr>
        <p:spPr>
          <a:xfrm>
            <a:off x="5212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tracker for the part everyone forgets: </a:t>
            </a:r>
            <a:pPr algn="l"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follow-through.</a:t>
            </a:r>
            <a:endParaRPr lang="en-US" sz="3800" dirty="0"/>
          </a:p>
        </p:txBody>
      </p:sp>
      <p:sp>
        <p:nvSpPr>
          <p:cNvPr id="6" name="Text 4"/>
          <p:cNvSpPr/>
          <p:nvPr/>
        </p:nvSpPr>
        <p:spPr>
          <a:xfrm>
            <a:off x="5212080" y="3281096"/>
            <a:ext cx="6309360" cy="1986217"/>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Save a programme, move it through interested → preparing → applied → approved, and every deadline attached to it lands on her Timeline automatically. Applying for a benefit in Bangladesh is rarely one visit — it’s a small project. We treated it like one.</a:t>
            </a:r>
            <a:endParaRPr lang="en-US" sz="1900" dirty="0"/>
          </a:p>
        </p:txBody>
      </p:sp>
      <p:sp>
        <p:nvSpPr>
          <p:cNvPr id="7" name="Shape 5"/>
          <p:cNvSpPr/>
          <p:nvPr/>
        </p:nvSpPr>
        <p:spPr>
          <a:xfrm>
            <a:off x="1323079" y="438912"/>
            <a:ext cx="2657363" cy="6071616"/>
          </a:xfrm>
          <a:prstGeom prst="roundRect">
            <a:avLst>
              <a:gd name="adj" fmla="val 5506"/>
            </a:avLst>
          </a:prstGeom>
          <a:solidFill>
            <a:srgbClr val="1D1D1D"/>
          </a:solidFill>
          <a:ln/>
          <a:effectLst>
            <a:outerShdw sx="100000" sy="100000" kx="0" ky="0" algn="bl" rotWithShape="0" blurRad="5.41401873928151e+33" dist="6.090771081691699e+33" dir="7.558272e+39">
              <a:srgbClr val="1D1D1D">
                <a:alpha val="1.0000000000000002e+40"/>
              </a:srgbClr>
            </a:outerShdw>
          </a:effectLst>
        </p:spPr>
      </p:sp>
      <p:pic>
        <p:nvPicPr>
          <p:cNvPr id="8" name="Image 0" descr="C:\Users\TL-77057\Downloads\AccessAI\screenshots\06-saved-programmes.jpg">    </p:cNvPr>
          <p:cNvPicPr>
            <a:picLocks noChangeAspect="1"/>
          </p:cNvPicPr>
          <p:nvPr/>
        </p:nvPicPr>
        <p:blipFill>
          <a:blip r:embed="rId1"/>
          <a:stretch>
            <a:fillRect/>
          </a:stretch>
        </p:blipFill>
        <p:spPr>
          <a:xfrm>
            <a:off x="1432807" y="548640"/>
            <a:ext cx="2437907" cy="58521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18 / 55</a:t>
            </a:r>
            <a:endParaRPr lang="en-US" sz="1000" dirty="0"/>
          </a:p>
        </p:txBody>
      </p:sp>
      <p:sp>
        <p:nvSpPr>
          <p:cNvPr id="4" name="Text 2"/>
          <p:cNvSpPr/>
          <p:nvPr/>
        </p:nvSpPr>
        <p:spPr>
          <a:xfrm>
            <a:off x="640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CORE CAPABILITY</a:t>
            </a:r>
            <a:endParaRPr lang="en-US" sz="1100" dirty="0"/>
          </a:p>
        </p:txBody>
      </p:sp>
      <p:sp>
        <p:nvSpPr>
          <p:cNvPr id="5" name="Text 3"/>
          <p:cNvSpPr/>
          <p:nvPr/>
        </p:nvSpPr>
        <p:spPr>
          <a:xfrm>
            <a:off x="640080" y="1042416"/>
            <a:ext cx="6309360" cy="261914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real, accessible map — built to survive 2G, not just look good on a demo Wi-Fi.</a:t>
            </a:r>
            <a:endParaRPr lang="en-US" sz="3800" dirty="0"/>
          </a:p>
        </p:txBody>
      </p:sp>
      <p:sp>
        <p:nvSpPr>
          <p:cNvPr id="6" name="Text 4"/>
          <p:cNvSpPr/>
          <p:nvPr/>
        </p:nvSpPr>
        <p:spPr>
          <a:xfrm>
            <a:off x="640080" y="3899306"/>
            <a:ext cx="6309360" cy="235419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No Google Maps, no Mapbox, no 45-kilobyte map library. A hand-built, keyboard-operable map, blending real OpenStreetMap data — hospitals, police stations, legal aid, banks — with our own seeded office directory, each one honestly labelled as what it is. 55 real places, found near Rangpur, on this exact screen.</a:t>
            </a:r>
            <a:endParaRPr lang="en-US" sz="1900" dirty="0"/>
          </a:p>
        </p:txBody>
      </p:sp>
      <p:sp>
        <p:nvSpPr>
          <p:cNvPr id="7" name="Shape 5"/>
          <p:cNvSpPr/>
          <p:nvPr/>
        </p:nvSpPr>
        <p:spPr>
          <a:xfrm>
            <a:off x="7762457" y="438912"/>
            <a:ext cx="2854527" cy="6071616"/>
          </a:xfrm>
          <a:prstGeom prst="roundRect">
            <a:avLst>
              <a:gd name="adj" fmla="val 5125"/>
            </a:avLst>
          </a:prstGeom>
          <a:solidFill>
            <a:srgbClr val="1D1D1D"/>
          </a:solidFill>
          <a:ln/>
          <a:effectLst>
            <a:outerShdw sx="100000" sy="100000" kx="0" ky="0" algn="bl" rotWithShape="0" blurRad="6.875803798887518e+37" dist="7.735279273748459e+37" dir="4.5349632000000006e+44">
              <a:srgbClr val="1D1D1D">
                <a:alpha val="1.0000000000000001e+45"/>
              </a:srgbClr>
            </a:outerShdw>
          </a:effectLst>
        </p:spPr>
      </p:sp>
      <p:pic>
        <p:nvPicPr>
          <p:cNvPr id="8" name="Image 0" descr="C:\Users\TL-77057\Downloads\AccessAI\screenshots\07-nearby-services-map.jpg">    </p:cNvPr>
          <p:cNvPicPr>
            <a:picLocks noChangeAspect="1"/>
          </p:cNvPicPr>
          <p:nvPr/>
        </p:nvPicPr>
        <p:blipFill>
          <a:blip r:embed="rId1"/>
          <a:stretch>
            <a:fillRect/>
          </a:stretch>
        </p:blipFill>
        <p:spPr>
          <a:xfrm>
            <a:off x="7872185" y="548640"/>
            <a:ext cx="2635071" cy="58521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19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CORE CAPABILITY</a:t>
            </a:r>
            <a:endParaRPr lang="en-US" sz="1100" dirty="0"/>
          </a:p>
        </p:txBody>
      </p:sp>
      <p:sp>
        <p:nvSpPr>
          <p:cNvPr id="5" name="Text 3"/>
          <p:cNvSpPr/>
          <p:nvPr/>
        </p:nvSpPr>
        <p:spPr>
          <a:xfrm>
            <a:off x="5212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She doesn’t even need </a:t>
            </a:r>
            <a:pPr algn="l"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this app</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to use this app.</a:t>
            </a:r>
            <a:endParaRPr lang="en-US" sz="3800" dirty="0"/>
          </a:p>
        </p:txBody>
      </p:sp>
      <p:sp>
        <p:nvSpPr>
          <p:cNvPr id="6" name="Text 4"/>
          <p:cNvSpPr/>
          <p:nvPr/>
        </p:nvSpPr>
        <p:spPr>
          <a:xfrm>
            <a:off x="5212080" y="3281096"/>
            <a:ext cx="6309360" cy="235419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Dial a short code from any phone — no smartphone, no internet, no data cost — and check a real benefit status by National ID. This is the identical server logic a telecom aggregator would call, shown here as a working simulator so it can actually be demonstrated, not just described in a slide.</a:t>
            </a:r>
            <a:endParaRPr lang="en-US" sz="1900" dirty="0"/>
          </a:p>
        </p:txBody>
      </p:sp>
      <p:sp>
        <p:nvSpPr>
          <p:cNvPr id="7" name="Shape 5"/>
          <p:cNvSpPr/>
          <p:nvPr/>
        </p:nvSpPr>
        <p:spPr>
          <a:xfrm>
            <a:off x="1224497" y="438912"/>
            <a:ext cx="2854527" cy="6071616"/>
          </a:xfrm>
          <a:prstGeom prst="roundRect">
            <a:avLst>
              <a:gd name="adj" fmla="val 5125"/>
            </a:avLst>
          </a:prstGeom>
          <a:solidFill>
            <a:srgbClr val="1D1D1D"/>
          </a:solidFill>
          <a:ln/>
          <a:effectLst>
            <a:outerShdw sx="100000" sy="100000" kx="0" ky="0" algn="bl" rotWithShape="0" blurRad="8.732270824587148e+41" dist="9.823804677660543e+41" dir="2.72097792e+49">
              <a:srgbClr val="1D1D1D">
                <a:alpha val="1e+50"/>
              </a:srgbClr>
            </a:outerShdw>
          </a:effectLst>
        </p:spPr>
      </p:sp>
      <p:pic>
        <p:nvPicPr>
          <p:cNvPr id="8" name="Image 0" descr="C:\Users\TL-77057\Downloads\AccessAI\screenshots\20-ussd-entitlement-check.jpg">    </p:cNvPr>
          <p:cNvPicPr>
            <a:picLocks noChangeAspect="1"/>
          </p:cNvPicPr>
          <p:nvPr/>
        </p:nvPicPr>
        <p:blipFill>
          <a:blip r:embed="rId1"/>
          <a:stretch>
            <a:fillRect/>
          </a:stretch>
        </p:blipFill>
        <p:spPr>
          <a:xfrm>
            <a:off x="1334225" y="548640"/>
            <a:ext cx="2635071" cy="5852160"/>
          </a:xfrm>
          <a:prstGeom prst="rect">
            <a:avLst/>
          </a:prstGeom>
        </p:spPr>
      </p:pic>
      <p:sp>
        <p:nvSpPr>
          <p:cNvPr id="9" name="Shape 6"/>
          <p:cNvSpPr/>
          <p:nvPr/>
        </p:nvSpPr>
        <p:spPr>
          <a:xfrm rot="-240000">
            <a:off x="457200" y="274320"/>
            <a:ext cx="2011680" cy="685800"/>
          </a:xfrm>
          <a:prstGeom prst="roundRect">
            <a:avLst>
              <a:gd name="adj" fmla="val 13333"/>
            </a:avLst>
          </a:prstGeom>
          <a:solidFill>
            <a:srgbClr val="FFBF00"/>
          </a:solidFill>
          <a:ln w="31750">
            <a:solidFill>
              <a:srgbClr val="1D1D1D"/>
            </a:solidFill>
            <a:prstDash val="solid"/>
          </a:ln>
          <a:effectLst>
            <a:outerShdw sx="100000" sy="100000" kx="0" ky="0" algn="bl" rotWithShape="0" blurRad="1.2105092908437327e+87" dist="8.322251374550663e+86" dir="9.871627788170037e+101">
              <a:srgbClr val="1D1D1D">
                <a:alpha val="9.999999999999998e+104"/>
              </a:srgbClr>
            </a:outerShdw>
          </a:effectLst>
        </p:spPr>
      </p:sp>
      <p:sp>
        <p:nvSpPr>
          <p:cNvPr id="10" name="Text 7"/>
          <p:cNvSpPr/>
          <p:nvPr/>
        </p:nvSpPr>
        <p:spPr>
          <a:xfrm rot="-240000">
            <a:off x="457200" y="274320"/>
            <a:ext cx="2011680" cy="685800"/>
          </a:xfrm>
          <a:prstGeom prst="rect">
            <a:avLst/>
          </a:prstGeom>
          <a:noFill/>
          <a:ln/>
        </p:spPr>
        <p:txBody>
          <a:bodyPr wrap="square" rtlCol="0" anchor="ctr"/>
          <a:lstStyle/>
          <a:p>
            <a:pPr algn="ctr" indent="0" marL="0">
              <a:buNone/>
            </a:pPr>
            <a:r>
              <a:rPr lang="en-US" sz="1100" b="1" dirty="0">
                <a:solidFill>
                  <a:srgbClr val="1D1D1D"/>
                </a:solidFill>
                <a:latin typeface="Baloo 2" pitchFamily="34" charset="0"/>
                <a:ea typeface="Baloo 2" pitchFamily="34" charset="-122"/>
                <a:cs typeface="Baloo 2" pitchFamily="34" charset="-120"/>
              </a:rPr>
              <a:t>Zero smartphone.</a:t>
            </a:r>
            <a:endParaRPr lang="en-US" sz="1100" dirty="0"/>
          </a:p>
          <a:p>
            <a:pPr algn="ctr" indent="0" marL="0">
              <a:buNone/>
            </a:pPr>
            <a:r>
              <a:rPr lang="en-US" sz="1100" b="1" dirty="0">
                <a:solidFill>
                  <a:srgbClr val="1D1D1D"/>
                </a:solidFill>
                <a:latin typeface="Baloo 2" pitchFamily="34" charset="0"/>
                <a:ea typeface="Baloo 2" pitchFamily="34" charset="-122"/>
                <a:cs typeface="Baloo 2" pitchFamily="34" charset="-120"/>
              </a:rPr>
              <a:t>Zero data plan.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BF00"/>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20 / 55</a:t>
            </a:r>
            <a:endParaRPr lang="en-US" sz="1000" dirty="0"/>
          </a:p>
        </p:txBody>
      </p:sp>
      <p:sp>
        <p:nvSpPr>
          <p:cNvPr id="4" name="Text 2"/>
          <p:cNvSpPr/>
          <p:nvPr/>
        </p:nvSpPr>
        <p:spPr>
          <a:xfrm>
            <a:off x="3520440" y="685800"/>
            <a:ext cx="512064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NOW, THE HALF NOBODY ELSE BUILDS</a:t>
            </a:r>
            <a:endParaRPr lang="en-US" sz="1100" dirty="0"/>
          </a:p>
        </p:txBody>
      </p:sp>
      <p:sp>
        <p:nvSpPr>
          <p:cNvPr id="5" name="Text 3"/>
          <p:cNvSpPr/>
          <p:nvPr/>
        </p:nvSpPr>
        <p:spPr>
          <a:xfrm>
            <a:off x="914400" y="1371600"/>
            <a:ext cx="10360152" cy="2000936"/>
          </a:xfrm>
          <a:prstGeom prst="rect">
            <a:avLst/>
          </a:prstGeom>
          <a:noFill/>
          <a:ln/>
        </p:spPr>
        <p:txBody>
          <a:bodyPr wrap="square" rtlCol="0" anchor="t"/>
          <a:lstStyle/>
          <a:p>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Knowing what you’re </a:t>
            </a:r>
            <a:pPr algn="ctr"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owed</a:t>
            </a:r>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 means nothing if nobody can see where the money went.</a:t>
            </a:r>
            <a:endParaRPr lang="en-US" sz="3800" dirty="0"/>
          </a:p>
        </p:txBody>
      </p:sp>
      <p:sp>
        <p:nvSpPr>
          <p:cNvPr id="6" name="Text 4"/>
          <p:cNvSpPr/>
          <p:nvPr/>
        </p:nvSpPr>
        <p:spPr>
          <a:xfrm>
            <a:off x="1645920" y="3793160"/>
            <a:ext cx="8897112" cy="1986217"/>
          </a:xfrm>
          <a:prstGeom prst="rect">
            <a:avLst/>
          </a:prstGeom>
          <a:noFill/>
          <a:ln/>
        </p:spPr>
        <p:txBody>
          <a:bodyPr wrap="square" rtlCol="0" anchor="t"/>
          <a:lstStyle/>
          <a:p>
            <a:pPr algn="ctr" indent="0" marL="0">
              <a:lnSpc>
                <a:spcPct val="125000"/>
              </a:lnSpc>
              <a:buNone/>
            </a:pPr>
            <a:r>
              <a:rPr lang="en-US" sz="1900" dirty="0">
                <a:solidFill>
                  <a:srgbClr val="1D1D1D"/>
                </a:solidFill>
                <a:latin typeface="Nunito" pitchFamily="34" charset="0"/>
                <a:ea typeface="Nunito" pitchFamily="34" charset="-122"/>
                <a:cs typeface="Nunito" pitchFamily="34" charset="-120"/>
              </a:rPr>
              <a:t>Union Parishads — Bangladesh’s lowest tier of elected local government — allocate real budgets for real projects. We built the citizen-facing accountability layer for that: report a problem, watch a budget, flag what looks wrong, and let anyone — with no account at all — check that the record hasn’t been quietly edited.</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21 / 55</a:t>
            </a:r>
            <a:endParaRPr lang="en-US" sz="1000" dirty="0"/>
          </a:p>
        </p:txBody>
      </p:sp>
      <p:sp>
        <p:nvSpPr>
          <p:cNvPr id="4" name="Text 2"/>
          <p:cNvSpPr/>
          <p:nvPr/>
        </p:nvSpPr>
        <p:spPr>
          <a:xfrm>
            <a:off x="640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CIVIC LAYER — THE GATE</a:t>
            </a:r>
            <a:endParaRPr lang="en-US" sz="1100" dirty="0"/>
          </a:p>
        </p:txBody>
      </p:sp>
      <p:sp>
        <p:nvSpPr>
          <p:cNvPr id="5" name="Text 3"/>
          <p:cNvSpPr/>
          <p:nvPr/>
        </p:nvSpPr>
        <p:spPr>
          <a:xfrm>
            <a:off x="640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Every civic feature starts with proving </a:t>
            </a:r>
            <a:pPr algn="l" indent="0" marL="0">
              <a:lnSpc>
                <a:spcPct val="105000"/>
              </a:lnSpc>
              <a:buNone/>
            </a:pPr>
            <a:r>
              <a:rPr lang="en-US" sz="3800" b="1" dirty="0">
                <a:solidFill>
                  <a:srgbClr val="1D1D1D"/>
                </a:solidFill>
                <a:highlight>
                  <a:srgbClr val="2EC4B6"/>
                </a:highlight>
                <a:latin typeface="Baloo 2" pitchFamily="34" charset="0"/>
                <a:ea typeface="Baloo 2" pitchFamily="34" charset="-122"/>
                <a:cs typeface="Baloo 2" pitchFamily="34" charset="-120"/>
              </a:rPr>
              <a:t>who</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and </a:t>
            </a:r>
            <a:pPr algn="l" indent="0" marL="0">
              <a:lnSpc>
                <a:spcPct val="105000"/>
              </a:lnSpc>
              <a:buNone/>
            </a:pPr>
            <a:r>
              <a:rPr lang="en-US" sz="3800" b="1" dirty="0">
                <a:solidFill>
                  <a:srgbClr val="1D1D1D"/>
                </a:solidFill>
                <a:highlight>
                  <a:srgbClr val="2EC4B6"/>
                </a:highlight>
                <a:latin typeface="Baloo 2" pitchFamily="34" charset="0"/>
                <a:ea typeface="Baloo 2" pitchFamily="34" charset="-122"/>
                <a:cs typeface="Baloo 2" pitchFamily="34" charset="-120"/>
              </a:rPr>
              <a:t>where</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you are.</a:t>
            </a:r>
            <a:endParaRPr lang="en-US" sz="3800" dirty="0"/>
          </a:p>
        </p:txBody>
      </p:sp>
      <p:sp>
        <p:nvSpPr>
          <p:cNvPr id="6" name="Text 4"/>
          <p:cNvSpPr/>
          <p:nvPr/>
        </p:nvSpPr>
        <p:spPr>
          <a:xfrm>
            <a:off x="640080" y="3281096"/>
            <a:ext cx="6309360" cy="2722181"/>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A National ID check and a residency check — matched, where possible, against a real GPS location inside her union’s actual boundary. And the app says, in the interface itself, exactly how far that verification really goes today: format-checked, not yet matched against a government database. No feature here pretends to be more certain than it is.</a:t>
            </a:r>
            <a:endParaRPr lang="en-US" sz="1900" dirty="0"/>
          </a:p>
        </p:txBody>
      </p:sp>
      <p:sp>
        <p:nvSpPr>
          <p:cNvPr id="7" name="Shape 5"/>
          <p:cNvSpPr/>
          <p:nvPr/>
        </p:nvSpPr>
        <p:spPr>
          <a:xfrm>
            <a:off x="8286870" y="438912"/>
            <a:ext cx="1805699" cy="6071616"/>
          </a:xfrm>
          <a:prstGeom prst="roundRect">
            <a:avLst>
              <a:gd name="adj" fmla="val 8102"/>
            </a:avLst>
          </a:prstGeom>
          <a:solidFill>
            <a:srgbClr val="1D1D1D"/>
          </a:solidFill>
          <a:ln/>
          <a:effectLst>
            <a:outerShdw sx="100000" sy="100000" kx="0" ky="0" algn="bl" rotWithShape="0" blurRad="1.1089983947225678e+46" dist="1.247623194062889e+46" dir="1.6325867520000003e+54">
              <a:srgbClr val="1D1D1D">
                <a:alpha val="1e+55"/>
              </a:srgbClr>
            </a:outerShdw>
          </a:effectLst>
        </p:spPr>
      </p:sp>
      <p:pic>
        <p:nvPicPr>
          <p:cNvPr id="8" name="Image 0" descr="C:\Users\TL-77057\Downloads\AccessAI\screenshots\08-identity-verification.jpg">    </p:cNvPr>
          <p:cNvPicPr>
            <a:picLocks noChangeAspect="1"/>
          </p:cNvPicPr>
          <p:nvPr/>
        </p:nvPicPr>
        <p:blipFill>
          <a:blip r:embed="rId1"/>
          <a:stretch>
            <a:fillRect/>
          </a:stretch>
        </p:blipFill>
        <p:spPr>
          <a:xfrm>
            <a:off x="8396598" y="548640"/>
            <a:ext cx="1586243" cy="58521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22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CIVIC LAYER — VOICE</a:t>
            </a:r>
            <a:endParaRPr lang="en-US" sz="1100" dirty="0"/>
          </a:p>
        </p:txBody>
      </p:sp>
      <p:sp>
        <p:nvSpPr>
          <p:cNvPr id="5" name="Text 3"/>
          <p:cNvSpPr/>
          <p:nvPr/>
        </p:nvSpPr>
        <p:spPr>
          <a:xfrm>
            <a:off x="5212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broken tube well shouldn’t need a favour to get fixed.</a:t>
            </a:r>
            <a:endParaRPr lang="en-US" sz="3800" dirty="0"/>
          </a:p>
        </p:txBody>
      </p:sp>
      <p:sp>
        <p:nvSpPr>
          <p:cNvPr id="6" name="Text 4"/>
          <p:cNvSpPr/>
          <p:nvPr/>
        </p:nvSpPr>
        <p:spPr>
          <a:xfrm>
            <a:off x="5212080" y="3281096"/>
            <a:ext cx="6309360" cy="235419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Report it, with a photo and a location. Neighbours can support it. Staff move it through a real, enforced lifecycle — under review → verified → in progress → completed — and it can’t skip a step. The report shown here is real: filed, verified, and backed by three of her neighbours.</a:t>
            </a:r>
            <a:endParaRPr lang="en-US" sz="1900" dirty="0"/>
          </a:p>
        </p:txBody>
      </p:sp>
      <p:sp>
        <p:nvSpPr>
          <p:cNvPr id="7" name="Shape 5"/>
          <p:cNvSpPr/>
          <p:nvPr/>
        </p:nvSpPr>
        <p:spPr>
          <a:xfrm>
            <a:off x="1224497" y="438912"/>
            <a:ext cx="2854527" cy="6071616"/>
          </a:xfrm>
          <a:prstGeom prst="roundRect">
            <a:avLst>
              <a:gd name="adj" fmla="val 5125"/>
            </a:avLst>
          </a:prstGeom>
          <a:solidFill>
            <a:srgbClr val="1D1D1D"/>
          </a:solidFill>
          <a:ln/>
          <a:effectLst>
            <a:outerShdw sx="100000" sy="100000" kx="0" ky="0" algn="bl" rotWithShape="0" blurRad="1.408427961297661e+50" dist="1.5844814564598688e+50" dir="9.795520512000002e+58">
              <a:srgbClr val="1D1D1D">
                <a:alpha val="1e+60"/>
              </a:srgbClr>
            </a:outerShdw>
          </a:effectLst>
        </p:spPr>
      </p:sp>
      <p:pic>
        <p:nvPicPr>
          <p:cNvPr id="8" name="Image 0" descr="C:\Users\TL-77057\Downloads\AccessAI\screenshots\10-local-issues.jpg">    </p:cNvPr>
          <p:cNvPicPr>
            <a:picLocks noChangeAspect="1"/>
          </p:cNvPicPr>
          <p:nvPr/>
        </p:nvPicPr>
        <p:blipFill>
          <a:blip r:embed="rId1"/>
          <a:stretch>
            <a:fillRect/>
          </a:stretch>
        </p:blipFill>
        <p:spPr>
          <a:xfrm>
            <a:off x="1334225" y="548640"/>
            <a:ext cx="2635071" cy="58521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23 / 55</a:t>
            </a:r>
            <a:endParaRPr lang="en-US" sz="1000" dirty="0"/>
          </a:p>
        </p:txBody>
      </p:sp>
      <p:sp>
        <p:nvSpPr>
          <p:cNvPr id="4" name="Text 2"/>
          <p:cNvSpPr/>
          <p:nvPr/>
        </p:nvSpPr>
        <p:spPr>
          <a:xfrm>
            <a:off x="640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CIVIC LAYER — THE MONEY</a:t>
            </a:r>
            <a:endParaRPr lang="en-US" sz="1100" dirty="0"/>
          </a:p>
        </p:txBody>
      </p:sp>
      <p:sp>
        <p:nvSpPr>
          <p:cNvPr id="5" name="Text 3"/>
          <p:cNvSpPr/>
          <p:nvPr/>
        </p:nvSpPr>
        <p:spPr>
          <a:xfrm>
            <a:off x="640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See the allocation. </a:t>
            </a:r>
            <a:pPr algn="l"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Flag</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it if it looks wrong.</a:t>
            </a:r>
            <a:endParaRPr lang="en-US" sz="3800" dirty="0"/>
          </a:p>
        </p:txBody>
      </p:sp>
      <p:sp>
        <p:nvSpPr>
          <p:cNvPr id="6" name="Text 4"/>
          <p:cNvSpPr/>
          <p:nvPr/>
        </p:nvSpPr>
        <p:spPr>
          <a:xfrm>
            <a:off x="640080" y="3281096"/>
            <a:ext cx="6309360" cy="235419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A ৳50,00,000 emergency flood fund, posted by the union chairman, visible to every verified resident — with a one-tap way to flag it as suspect. Enough flags from enough verified residents automatically escalate it to a district official’s queue. No petition drive required.</a:t>
            </a:r>
            <a:endParaRPr lang="en-US" sz="1900" dirty="0"/>
          </a:p>
        </p:txBody>
      </p:sp>
      <p:sp>
        <p:nvSpPr>
          <p:cNvPr id="7" name="Shape 5"/>
          <p:cNvSpPr/>
          <p:nvPr/>
        </p:nvSpPr>
        <p:spPr>
          <a:xfrm>
            <a:off x="7762457" y="438912"/>
            <a:ext cx="2854527" cy="6071616"/>
          </a:xfrm>
          <a:prstGeom prst="roundRect">
            <a:avLst>
              <a:gd name="adj" fmla="val 5125"/>
            </a:avLst>
          </a:prstGeom>
          <a:solidFill>
            <a:srgbClr val="1D1D1D"/>
          </a:solidFill>
          <a:ln/>
          <a:effectLst>
            <a:outerShdw sx="100000" sy="100000" kx="0" ky="0" algn="bl" rotWithShape="0" blurRad="1.7887035108480297e+54" dist="2.0122914497040333e+54" dir="5.877312307200001e+63">
              <a:srgbClr val="1D1D1D">
                <a:alpha val="1e+65"/>
              </a:srgbClr>
            </a:outerShdw>
          </a:effectLst>
        </p:spPr>
      </p:sp>
      <p:pic>
        <p:nvPicPr>
          <p:cNvPr id="8" name="Image 0" descr="C:\Users\TL-77057\Downloads\AccessAI\screenshots\11-budget-allocation-detail.jpg">    </p:cNvPr>
          <p:cNvPicPr>
            <a:picLocks noChangeAspect="1"/>
          </p:cNvPicPr>
          <p:nvPr/>
        </p:nvPicPr>
        <p:blipFill>
          <a:blip r:embed="rId1"/>
          <a:stretch>
            <a:fillRect/>
          </a:stretch>
        </p:blipFill>
        <p:spPr>
          <a:xfrm>
            <a:off x="7872185" y="548640"/>
            <a:ext cx="2635071" cy="58521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24 / 55</a:t>
            </a:r>
            <a:endParaRPr lang="en-US" sz="1000" dirty="0"/>
          </a:p>
        </p:txBody>
      </p:sp>
      <p:sp>
        <p:nvSpPr>
          <p:cNvPr id="4" name="Text 2"/>
          <p:cNvSpPr/>
          <p:nvPr/>
        </p:nvSpPr>
        <p:spPr>
          <a:xfrm>
            <a:off x="640080" y="502920"/>
            <a:ext cx="393192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CIVIC LAYER — THE MECHANISM</a:t>
            </a:r>
            <a:endParaRPr lang="en-US" sz="1100" dirty="0"/>
          </a:p>
        </p:txBody>
      </p:sp>
      <p:sp>
        <p:nvSpPr>
          <p:cNvPr id="5" name="Text 3"/>
          <p:cNvSpPr/>
          <p:nvPr/>
        </p:nvSpPr>
        <p:spPr>
          <a:xfrm>
            <a:off x="640080" y="1097280"/>
            <a:ext cx="10908792" cy="1382725"/>
          </a:xfrm>
          <a:prstGeom prst="rect">
            <a:avLst/>
          </a:prstGeom>
          <a:noFill/>
          <a:ln/>
        </p:spPr>
        <p:txBody>
          <a:bodyPr wrap="square" rtlCol="0" anchor="t"/>
          <a:lstStyle/>
          <a:p>
            <a:pPr algn="l" indent="0" marL="0">
              <a:lnSpc>
                <a:spcPct val="105000"/>
              </a:lnSpc>
              <a:buNone/>
            </a:pPr>
            <a:r>
              <a:rPr lang="en-US" sz="3800" b="1" dirty="0">
                <a:solidFill>
                  <a:srgbClr val="FFF6E9"/>
                </a:solidFill>
                <a:latin typeface="Baloo 2" pitchFamily="34" charset="0"/>
                <a:ea typeface="Baloo 2" pitchFamily="34" charset="-122"/>
                <a:cs typeface="Baloo 2" pitchFamily="34" charset="-120"/>
              </a:rPr>
              <a:t>How “unaltered since it was recorded” is actually proven.</a:t>
            </a:r>
            <a:endParaRPr lang="en-US" sz="3800" dirty="0"/>
          </a:p>
        </p:txBody>
      </p:sp>
      <p:sp>
        <p:nvSpPr>
          <p:cNvPr id="6" name="Text 4"/>
          <p:cNvSpPr/>
          <p:nvPr/>
        </p:nvSpPr>
        <p:spPr>
          <a:xfrm>
            <a:off x="640080" y="2809189"/>
            <a:ext cx="10908792" cy="1618234"/>
          </a:xfrm>
          <a:prstGeom prst="rect">
            <a:avLst/>
          </a:prstGeom>
          <a:noFill/>
          <a:ln/>
        </p:spPr>
        <p:txBody>
          <a:bodyPr wrap="square" rtlCol="0" anchor="t"/>
          <a:lstStyle/>
          <a:p>
            <a:pPr algn="l" indent="0" marL="0">
              <a:lnSpc>
                <a:spcPct val="125000"/>
              </a:lnSpc>
              <a:buNone/>
            </a:pPr>
            <a:r>
              <a:rPr lang="en-US" sz="1900" dirty="0">
                <a:solidFill>
                  <a:srgbClr val="DCD2BD"/>
                </a:solidFill>
                <a:latin typeface="Nunito" pitchFamily="34" charset="0"/>
                <a:ea typeface="Nunito" pitchFamily="34" charset="-122"/>
                <a:cs typeface="Nunito" pitchFamily="34" charset="-120"/>
              </a:rPr>
              <a:t>Every allocation and every disbursement is chained: each new record’s fingerprint is built from the record before it. Change one figure after the fact, anywhere in the chain, and every fingerprint after it stops matching. It’s the digital version of a wax seal on a stack of letters — break one seal, and every seal after it visibly fails too.</a:t>
            </a:r>
            <a:endParaRPr lang="en-US" sz="1900" dirty="0"/>
          </a:p>
        </p:txBody>
      </p:sp>
      <p:sp>
        <p:nvSpPr>
          <p:cNvPr id="7" name="Text 5"/>
          <p:cNvSpPr/>
          <p:nvPr/>
        </p:nvSpPr>
        <p:spPr>
          <a:xfrm>
            <a:off x="640080" y="4665167"/>
            <a:ext cx="10908792" cy="1250251"/>
          </a:xfrm>
          <a:prstGeom prst="rect">
            <a:avLst/>
          </a:prstGeom>
          <a:noFill/>
          <a:ln/>
        </p:spPr>
        <p:txBody>
          <a:bodyPr wrap="square" rtlCol="0" anchor="t"/>
          <a:lstStyle/>
          <a:p>
            <a:pPr algn="l" indent="0" marL="0">
              <a:lnSpc>
                <a:spcPct val="125000"/>
              </a:lnSpc>
              <a:buNone/>
            </a:pPr>
            <a:r>
              <a:rPr lang="en-US" sz="1900" dirty="0">
                <a:solidFill>
                  <a:srgbClr val="FFBF00"/>
                </a:solidFill>
                <a:latin typeface="Nunito" pitchFamily="34" charset="0"/>
                <a:ea typeface="Nunito" pitchFamily="34" charset="-122"/>
                <a:cs typeface="Nunito" pitchFamily="34" charset="-120"/>
              </a:rPr>
              <a:t>We are exactly as honest about the limits: this proves nobody edited a record after it was written. It does not — and cannot — prove the first entry was truthful. That is what citizen flagging and anomaly detection are for, and they run alongside it, not instead of it.</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25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CIVIC LAYER — CHECK OUR WORK</a:t>
            </a:r>
            <a:endParaRPr lang="en-US" sz="1100" dirty="0"/>
          </a:p>
        </p:txBody>
      </p:sp>
      <p:sp>
        <p:nvSpPr>
          <p:cNvPr id="5" name="Text 3"/>
          <p:cNvSpPr/>
          <p:nvPr/>
        </p:nvSpPr>
        <p:spPr>
          <a:xfrm>
            <a:off x="5212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staff page that just... verifies the math. Out loud.</a:t>
            </a:r>
            <a:endParaRPr lang="en-US" sz="3800" dirty="0"/>
          </a:p>
        </p:txBody>
      </p:sp>
      <p:sp>
        <p:nvSpPr>
          <p:cNvPr id="6" name="Text 4"/>
          <p:cNvSpPr/>
          <p:nvPr/>
        </p:nvSpPr>
        <p:spPr>
          <a:xfrm>
            <a:off x="5212080" y="3281096"/>
            <a:ext cx="6309360" cy="2722181"/>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“8 entries verified — chain intact.” “17 entries verified — chain intact.” No opinion, no marketing language — a real recomputation of every record’s fingerprint, run against the live database. The same check ships as a stand-alone script that needs no login and no running server at all, so an outside auditor never has to trust our word for it.</a:t>
            </a:r>
            <a:endParaRPr lang="en-US" sz="1900" dirty="0"/>
          </a:p>
        </p:txBody>
      </p:sp>
      <p:sp>
        <p:nvSpPr>
          <p:cNvPr id="7" name="Shape 5"/>
          <p:cNvSpPr/>
          <p:nvPr/>
        </p:nvSpPr>
        <p:spPr>
          <a:xfrm>
            <a:off x="438912" y="1951958"/>
            <a:ext cx="4425696" cy="3045523"/>
          </a:xfrm>
          <a:prstGeom prst="roundRect">
            <a:avLst>
              <a:gd name="adj" fmla="val 4804"/>
            </a:avLst>
          </a:prstGeom>
          <a:solidFill>
            <a:srgbClr val="1D1D1D"/>
          </a:solidFill>
          <a:ln/>
          <a:effectLst>
            <a:outerShdw sx="100000" sy="100000" kx="0" ky="0" algn="bl" rotWithShape="0" blurRad="2.2716534587769977e+58" dist="2.5556101411241224e+58" dir="3.526387384320001e+68">
              <a:srgbClr val="1D1D1D">
                <a:alpha val="9.999999999999999e+69"/>
              </a:srgbClr>
            </a:outerShdw>
          </a:effectLst>
        </p:spPr>
      </p:sp>
      <p:pic>
        <p:nvPicPr>
          <p:cNvPr id="8" name="Image 0" descr="C:\Users\TL-77057\Downloads\AccessAI\screenshots\17-admin-ledger-integrity.jpg">    </p:cNvPr>
          <p:cNvPicPr>
            <a:picLocks noChangeAspect="1"/>
          </p:cNvPicPr>
          <p:nvPr/>
        </p:nvPicPr>
        <p:blipFill>
          <a:blip r:embed="rId1"/>
          <a:stretch>
            <a:fillRect/>
          </a:stretch>
        </p:blipFill>
        <p:spPr>
          <a:xfrm>
            <a:off x="548640" y="2061686"/>
            <a:ext cx="4206240" cy="282606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26 / 55</a:t>
            </a:r>
            <a:endParaRPr lang="en-US" sz="1000" dirty="0"/>
          </a:p>
        </p:txBody>
      </p:sp>
      <p:sp>
        <p:nvSpPr>
          <p:cNvPr id="4" name="Text 2"/>
          <p:cNvSpPr/>
          <p:nvPr/>
        </p:nvSpPr>
        <p:spPr>
          <a:xfrm>
            <a:off x="640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CIVIC LAYER — THE PUBLIC HALF</a:t>
            </a:r>
            <a:endParaRPr lang="en-US" sz="1100" dirty="0"/>
          </a:p>
        </p:txBody>
      </p:sp>
      <p:sp>
        <p:nvSpPr>
          <p:cNvPr id="5" name="Text 3"/>
          <p:cNvSpPr/>
          <p:nvPr/>
        </p:nvSpPr>
        <p:spPr>
          <a:xfrm>
            <a:off x="640080" y="1042416"/>
            <a:ext cx="6309360"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page that needs </a:t>
            </a:r>
            <a:pPr algn="l"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no account at all.</a:t>
            </a:r>
            <a:endParaRPr lang="en-US" sz="3800" dirty="0"/>
          </a:p>
        </p:txBody>
      </p:sp>
      <p:sp>
        <p:nvSpPr>
          <p:cNvPr id="6" name="Text 4"/>
          <p:cNvSpPr/>
          <p:nvPr/>
        </p:nvSpPr>
        <p:spPr>
          <a:xfrm>
            <a:off x="640080" y="2662885"/>
            <a:ext cx="6309360" cy="3090164"/>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Union names, chairmen’s names, allocation totals, flag counts, escalation counts, programme disbursement totals — and a live, real-time re-check of the ledger’s integrity. Open to any citizen, any journalist, any anti-corruption office, published in the spirit of the Union Parishads Act 2009’s own accountability commitments. No login screen stands between the public and this page.</a:t>
            </a:r>
            <a:endParaRPr lang="en-US" sz="1900" dirty="0"/>
          </a:p>
        </p:txBody>
      </p:sp>
      <p:sp>
        <p:nvSpPr>
          <p:cNvPr id="7" name="Shape 5"/>
          <p:cNvSpPr/>
          <p:nvPr/>
        </p:nvSpPr>
        <p:spPr>
          <a:xfrm>
            <a:off x="6976872" y="691729"/>
            <a:ext cx="4425696" cy="5565981"/>
          </a:xfrm>
          <a:prstGeom prst="roundRect">
            <a:avLst>
              <a:gd name="adj" fmla="val 3306"/>
            </a:avLst>
          </a:prstGeom>
          <a:solidFill>
            <a:srgbClr val="1D1D1D"/>
          </a:solidFill>
          <a:ln/>
          <a:effectLst>
            <a:outerShdw sx="100000" sy="100000" kx="0" ky="0" algn="bl" rotWithShape="0" blurRad="2.8849998926467873e+62" dist="3.2456248792276356e+62" dir="2.1158324305920003e+73">
              <a:srgbClr val="1D1D1D">
                <a:alpha val="1e+75"/>
              </a:srgbClr>
            </a:outerShdw>
          </a:effectLst>
        </p:spPr>
      </p:sp>
      <p:pic>
        <p:nvPicPr>
          <p:cNvPr id="8" name="Image 0" descr="C:\Users\TL-77057\Downloads\AccessAI\screenshots\19-public-transparency-page.jpg">    </p:cNvPr>
          <p:cNvPicPr>
            <a:picLocks noChangeAspect="1"/>
          </p:cNvPicPr>
          <p:nvPr/>
        </p:nvPicPr>
        <p:blipFill>
          <a:blip r:embed="rId1"/>
          <a:stretch>
            <a:fillRect/>
          </a:stretch>
        </p:blipFill>
        <p:spPr>
          <a:xfrm>
            <a:off x="7086600" y="801457"/>
            <a:ext cx="4206240" cy="53465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27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CIVIC LAYER — FOR OFFICIALS</a:t>
            </a:r>
            <a:endParaRPr lang="en-US" sz="1100" dirty="0"/>
          </a:p>
        </p:txBody>
      </p:sp>
      <p:sp>
        <p:nvSpPr>
          <p:cNvPr id="5" name="Text 3"/>
          <p:cNvSpPr/>
          <p:nvPr/>
        </p:nvSpPr>
        <p:spPr>
          <a:xfrm>
            <a:off x="5212080" y="1042416"/>
            <a:ext cx="6309360" cy="261914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flag doesn’t vanish into a suggestion box. It becomes a real queue.</a:t>
            </a:r>
            <a:endParaRPr lang="en-US" sz="3800" dirty="0"/>
          </a:p>
        </p:txBody>
      </p:sp>
      <p:sp>
        <p:nvSpPr>
          <p:cNvPr id="6" name="Text 4"/>
          <p:cNvSpPr/>
          <p:nvPr/>
        </p:nvSpPr>
        <p:spPr>
          <a:xfrm>
            <a:off x="5212080" y="3899306"/>
            <a:ext cx="6309360" cy="2722181"/>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The upazila officer responsible for this union sees exactly one thing that needs a decision: a ৳12,00,000 renovation, flagged by two-thirds of a small resident base, routed to them by name. Acknowledge, resolve, or dismiss — every action logged. And if no officer is assigned yet, the escalation stays visibly “unassigned” rather than quietly disappearing.</a:t>
            </a:r>
            <a:endParaRPr lang="en-US" sz="1900" dirty="0"/>
          </a:p>
        </p:txBody>
      </p:sp>
      <p:sp>
        <p:nvSpPr>
          <p:cNvPr id="7" name="Shape 5"/>
          <p:cNvSpPr/>
          <p:nvPr/>
        </p:nvSpPr>
        <p:spPr>
          <a:xfrm>
            <a:off x="438912" y="1951958"/>
            <a:ext cx="4425696" cy="3045523"/>
          </a:xfrm>
          <a:prstGeom prst="roundRect">
            <a:avLst>
              <a:gd name="adj" fmla="val 4804"/>
            </a:avLst>
          </a:prstGeom>
          <a:solidFill>
            <a:srgbClr val="1D1D1D"/>
          </a:solidFill>
          <a:ln/>
          <a:effectLst>
            <a:outerShdw sx="100000" sy="100000" kx="0" ky="0" algn="bl" rotWithShape="0" blurRad="3.66394986366142e+66" dist="4.121943596619097e+66" dir="1.2694994583552002e+78">
              <a:srgbClr val="1D1D1D">
                <a:alpha val="9.999999999999999e+79"/>
              </a:srgbClr>
            </a:outerShdw>
          </a:effectLst>
        </p:spPr>
      </p:sp>
      <p:pic>
        <p:nvPicPr>
          <p:cNvPr id="8" name="Image 0" descr="C:\Users\TL-77057\Downloads\AccessAI\screenshots\14-officer-escalation-queue.jpg">    </p:cNvPr>
          <p:cNvPicPr>
            <a:picLocks noChangeAspect="1"/>
          </p:cNvPicPr>
          <p:nvPr/>
        </p:nvPicPr>
        <p:blipFill>
          <a:blip r:embed="rId1"/>
          <a:stretch>
            <a:fillRect/>
          </a:stretch>
        </p:blipFill>
        <p:spPr>
          <a:xfrm>
            <a:off x="548640" y="2061686"/>
            <a:ext cx="4206240" cy="282606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28 / 55</a:t>
            </a:r>
            <a:endParaRPr lang="en-US" sz="1000" dirty="0"/>
          </a:p>
        </p:txBody>
      </p:sp>
      <p:sp>
        <p:nvSpPr>
          <p:cNvPr id="4" name="Text 2"/>
          <p:cNvSpPr/>
          <p:nvPr/>
        </p:nvSpPr>
        <p:spPr>
          <a:xfrm>
            <a:off x="640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CIVIC LAYER — PATTERN DETECTION</a:t>
            </a:r>
            <a:endParaRPr lang="en-US" sz="1100" dirty="0"/>
          </a:p>
        </p:txBody>
      </p:sp>
      <p:sp>
        <p:nvSpPr>
          <p:cNvPr id="5" name="Text 3"/>
          <p:cNvSpPr/>
          <p:nvPr/>
        </p:nvSpPr>
        <p:spPr>
          <a:xfrm>
            <a:off x="640080" y="1042416"/>
            <a:ext cx="6309360"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Fraud doesn’t announce itself. </a:t>
            </a:r>
            <a:pPr algn="l"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Patterns</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do.</a:t>
            </a:r>
            <a:endParaRPr lang="en-US" sz="3800" dirty="0"/>
          </a:p>
        </p:txBody>
      </p:sp>
      <p:sp>
        <p:nvSpPr>
          <p:cNvPr id="6" name="Text 4"/>
          <p:cNvSpPr/>
          <p:nvPr/>
        </p:nvSpPr>
        <p:spPr>
          <a:xfrm>
            <a:off x="640080" y="2662885"/>
            <a:ext cx="6309360" cy="382612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Five plain, explainable rules run automatically — no black-box machine learning, nothing that can’t be justified in one sentence: an allocation far above its union’s own usual size, the same National ID enrolled as a beneficiary in two unions at once, a payment that exceeds what someone was actually entitled to, an escalation that’s sat untouched for two weeks, a beneficiary nobody has ever identity-checked. Every single one on this real screen fired on real seeded data.</a:t>
            </a:r>
            <a:endParaRPr lang="en-US" sz="1900" dirty="0"/>
          </a:p>
        </p:txBody>
      </p:sp>
      <p:sp>
        <p:nvSpPr>
          <p:cNvPr id="7" name="Shape 5"/>
          <p:cNvSpPr/>
          <p:nvPr/>
        </p:nvSpPr>
        <p:spPr>
          <a:xfrm>
            <a:off x="6976872" y="1692354"/>
            <a:ext cx="4425696" cy="3564731"/>
          </a:xfrm>
          <a:prstGeom prst="roundRect">
            <a:avLst>
              <a:gd name="adj" fmla="val 4104"/>
            </a:avLst>
          </a:prstGeom>
          <a:solidFill>
            <a:srgbClr val="1D1D1D"/>
          </a:solidFill>
          <a:ln/>
          <a:effectLst>
            <a:outerShdw sx="100000" sy="100000" kx="0" ky="0" algn="bl" rotWithShape="0" blurRad="4.653216326850003e+70" dist="5.2348683677062537e+70" dir="7.616996750131201e+82">
              <a:srgbClr val="1D1D1D">
                <a:alpha val="9.999999999999998e+84"/>
              </a:srgbClr>
            </a:outerShdw>
          </a:effectLst>
        </p:spPr>
      </p:sp>
      <p:pic>
        <p:nvPicPr>
          <p:cNvPr id="8" name="Image 0" descr="C:\Users\TL-77057\Downloads\AccessAI\screenshots\12-leader-portal-anomalies.jpg">    </p:cNvPr>
          <p:cNvPicPr>
            <a:picLocks noChangeAspect="1"/>
          </p:cNvPicPr>
          <p:nvPr/>
        </p:nvPicPr>
        <p:blipFill>
          <a:blip r:embed="rId1"/>
          <a:stretch>
            <a:fillRect/>
          </a:stretch>
        </p:blipFill>
        <p:spPr>
          <a:xfrm>
            <a:off x="7086600" y="1802082"/>
            <a:ext cx="4206240" cy="33452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29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CIVIC LAYER — SAME CODE, WIDER LENS</a:t>
            </a:r>
            <a:endParaRPr lang="en-US" sz="1100" dirty="0"/>
          </a:p>
        </p:txBody>
      </p:sp>
      <p:sp>
        <p:nvSpPr>
          <p:cNvPr id="5" name="Text 3"/>
          <p:cNvSpPr/>
          <p:nvPr/>
        </p:nvSpPr>
        <p:spPr>
          <a:xfrm>
            <a:off x="5212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One dashboard. It just changes </a:t>
            </a:r>
            <a:pPr algn="l" indent="0" marL="0">
              <a:lnSpc>
                <a:spcPct val="105000"/>
              </a:lnSpc>
              <a:buNone/>
            </a:pPr>
            <a:r>
              <a:rPr lang="en-US" sz="3800" b="1" dirty="0">
                <a:solidFill>
                  <a:srgbClr val="1D1D1D"/>
                </a:solidFill>
                <a:highlight>
                  <a:srgbClr val="2EC4B6"/>
                </a:highlight>
                <a:latin typeface="Baloo 2" pitchFamily="34" charset="0"/>
                <a:ea typeface="Baloo 2" pitchFamily="34" charset="-122"/>
                <a:cs typeface="Baloo 2" pitchFamily="34" charset="-120"/>
              </a:rPr>
              <a:t>scope</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not code.</a:t>
            </a:r>
            <a:endParaRPr lang="en-US" sz="3800" dirty="0"/>
          </a:p>
        </p:txBody>
      </p:sp>
      <p:sp>
        <p:nvSpPr>
          <p:cNvPr id="6" name="Text 4"/>
          <p:cNvSpPr/>
          <p:nvPr/>
        </p:nvSpPr>
        <p:spPr>
          <a:xfrm>
            <a:off x="5212080" y="3281096"/>
            <a:ext cx="6309360" cy="235419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A union chairman sees their own union. An upazila officer sees every union in their upazila, automatically rolled up. A district officer would see their whole district. It’s the same screen, the same query — just widened. Proven here across two real unions in Rangpur Sadar.</a:t>
            </a:r>
            <a:endParaRPr lang="en-US" sz="1900" dirty="0"/>
          </a:p>
        </p:txBody>
      </p:sp>
      <p:sp>
        <p:nvSpPr>
          <p:cNvPr id="7" name="Shape 5"/>
          <p:cNvSpPr/>
          <p:nvPr/>
        </p:nvSpPr>
        <p:spPr>
          <a:xfrm>
            <a:off x="438912" y="1449181"/>
            <a:ext cx="4425696" cy="4051078"/>
          </a:xfrm>
          <a:prstGeom prst="roundRect">
            <a:avLst>
              <a:gd name="adj" fmla="val 3611"/>
            </a:avLst>
          </a:prstGeom>
          <a:solidFill>
            <a:srgbClr val="1D1D1D"/>
          </a:solidFill>
          <a:ln/>
          <a:effectLst>
            <a:outerShdw sx="100000" sy="100000" kx="0" ky="0" algn="bl" rotWithShape="0" blurRad="5.909584735099504e+74" dist="6.648282826986942e+74" dir="4.57019805007872e+87">
              <a:srgbClr val="1D1D1D">
                <a:alpha val="9.999999999999999e+89"/>
              </a:srgbClr>
            </a:outerShdw>
          </a:effectLst>
        </p:spPr>
      </p:sp>
      <p:pic>
        <p:nvPicPr>
          <p:cNvPr id="8" name="Image 0" descr="C:\Users\TL-77057\Downloads\AccessAI\screenshots\13-leader-portal-upazila-rollup.jpg">    </p:cNvPr>
          <p:cNvPicPr>
            <a:picLocks noChangeAspect="1"/>
          </p:cNvPicPr>
          <p:nvPr/>
        </p:nvPicPr>
        <p:blipFill>
          <a:blip r:embed="rId1"/>
          <a:stretch>
            <a:fillRect/>
          </a:stretch>
        </p:blipFill>
        <p:spPr>
          <a:xfrm>
            <a:off x="548640" y="1558909"/>
            <a:ext cx="4206240" cy="383162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30 / 55</a:t>
            </a:r>
            <a:endParaRPr lang="en-US" sz="1000" dirty="0"/>
          </a:p>
        </p:txBody>
      </p:sp>
      <p:sp>
        <p:nvSpPr>
          <p:cNvPr id="4" name="Text 2"/>
          <p:cNvSpPr/>
          <p:nvPr/>
        </p:nvSpPr>
        <p:spPr>
          <a:xfrm>
            <a:off x="640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CIVIC LAYER — FOR FUNDERS</a:t>
            </a:r>
            <a:endParaRPr lang="en-US" sz="1100" dirty="0"/>
          </a:p>
        </p:txBody>
      </p:sp>
      <p:sp>
        <p:nvSpPr>
          <p:cNvPr id="5" name="Text 3"/>
          <p:cNvSpPr/>
          <p:nvPr/>
        </p:nvSpPr>
        <p:spPr>
          <a:xfrm>
            <a:off x="640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donor sees exactly the money they gave. </a:t>
            </a:r>
            <a:pPr algn="l"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Nothing else.</a:t>
            </a:r>
            <a:endParaRPr lang="en-US" sz="3800" dirty="0"/>
          </a:p>
        </p:txBody>
      </p:sp>
      <p:sp>
        <p:nvSpPr>
          <p:cNvPr id="6" name="Text 4"/>
          <p:cNvSpPr/>
          <p:nvPr/>
        </p:nvSpPr>
        <p:spPr>
          <a:xfrm>
            <a:off x="640080" y="3281096"/>
            <a:ext cx="6309360" cy="235419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A development partner funding the Widow Allowance sees real beneficiary counts, unions reached, and disbursed amounts — for that programme only. Never the whole ledger, never another funder’s numbers. Transparency for a donor doesn’t have to mean handing over everyone’s data to get it.</a:t>
            </a:r>
            <a:endParaRPr lang="en-US" sz="1900" dirty="0"/>
          </a:p>
        </p:txBody>
      </p:sp>
      <p:sp>
        <p:nvSpPr>
          <p:cNvPr id="7" name="Shape 5"/>
          <p:cNvSpPr/>
          <p:nvPr/>
        </p:nvSpPr>
        <p:spPr>
          <a:xfrm>
            <a:off x="6976872" y="1951958"/>
            <a:ext cx="4425696" cy="3045523"/>
          </a:xfrm>
          <a:prstGeom prst="roundRect">
            <a:avLst>
              <a:gd name="adj" fmla="val 4804"/>
            </a:avLst>
          </a:prstGeom>
          <a:solidFill>
            <a:srgbClr val="1D1D1D"/>
          </a:solidFill>
          <a:ln/>
          <a:effectLst>
            <a:outerShdw sx="100000" sy="100000" kx="0" ky="0" algn="bl" rotWithShape="0" blurRad="7.50517261357637e+78" dist="8.443319190273415e+78" dir="2.742118830047232e+92">
              <a:srgbClr val="1D1D1D">
                <a:alpha val="9.999999999999999e+94"/>
              </a:srgbClr>
            </a:outerShdw>
          </a:effectLst>
        </p:spPr>
      </p:sp>
      <p:pic>
        <p:nvPicPr>
          <p:cNvPr id="8" name="Image 0" descr="C:\Users\TL-77057\Downloads\AccessAI\screenshots\15-donor-portal.jpg">    </p:cNvPr>
          <p:cNvPicPr>
            <a:picLocks noChangeAspect="1"/>
          </p:cNvPicPr>
          <p:nvPr/>
        </p:nvPicPr>
        <p:blipFill>
          <a:blip r:embed="rId1"/>
          <a:stretch>
            <a:fillRect/>
          </a:stretch>
        </p:blipFill>
        <p:spPr>
          <a:xfrm>
            <a:off x="7086600" y="2061686"/>
            <a:ext cx="4206240" cy="282606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BF00"/>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31 / 55</a:t>
            </a:r>
            <a:endParaRPr lang="en-US" sz="1000" dirty="0"/>
          </a:p>
        </p:txBody>
      </p:sp>
      <p:sp>
        <p:nvSpPr>
          <p:cNvPr id="4" name="Text 2"/>
          <p:cNvSpPr/>
          <p:nvPr/>
        </p:nvSpPr>
        <p:spPr>
          <a:xfrm>
            <a:off x="640080" y="502920"/>
            <a:ext cx="320040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PRODUCT EXPERIENCE</a:t>
            </a:r>
            <a:endParaRPr lang="en-US" sz="1100" dirty="0"/>
          </a:p>
        </p:txBody>
      </p:sp>
      <p:sp>
        <p:nvSpPr>
          <p:cNvPr id="5" name="Text 3"/>
          <p:cNvSpPr/>
          <p:nvPr/>
        </p:nvSpPr>
        <p:spPr>
          <a:xfrm>
            <a:off x="640080" y="105156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We named the design system after </a:t>
            </a:r>
            <a:pPr algn="l"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Bhorosha</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 trust — and then built to it.</a:t>
            </a:r>
            <a:endParaRPr lang="en-US" sz="3800" dirty="0"/>
          </a:p>
        </p:txBody>
      </p:sp>
      <p:sp>
        <p:nvSpPr>
          <p:cNvPr id="6" name="Shape 4"/>
          <p:cNvSpPr/>
          <p:nvPr/>
        </p:nvSpPr>
        <p:spPr>
          <a:xfrm>
            <a:off x="640080" y="2672029"/>
            <a:ext cx="10908792" cy="3820211"/>
          </a:xfrm>
          <a:prstGeom prst="roundRect">
            <a:avLst>
              <a:gd name="adj" fmla="val 2872"/>
            </a:avLst>
          </a:prstGeom>
          <a:solidFill>
            <a:srgbClr val="FFFFFF"/>
          </a:solidFill>
          <a:ln w="31750">
            <a:solidFill>
              <a:srgbClr val="1D1D1D"/>
            </a:solidFill>
            <a:prstDash val="solid"/>
          </a:ln>
          <a:effectLst>
            <a:outerShdw sx="100000" sy="100000" kx="0" ky="0" algn="bl" rotWithShape="0" blurRad="9.53156921924199e+82" dist="1.0723015371647238e+83" dir="1.6452712980283393e+97">
              <a:srgbClr val="1D1D1D">
                <a:alpha val="9.999999999999998e+99"/>
              </a:srgbClr>
            </a:outerShdw>
          </a:effectLst>
        </p:spPr>
      </p:sp>
      <p:sp>
        <p:nvSpPr>
          <p:cNvPr id="7" name="Text 5"/>
          <p:cNvSpPr/>
          <p:nvPr/>
        </p:nvSpPr>
        <p:spPr>
          <a:xfrm>
            <a:off x="914400" y="2854909"/>
            <a:ext cx="10332720" cy="411480"/>
          </a:xfrm>
          <a:prstGeom prst="rect">
            <a:avLst/>
          </a:prstGeom>
          <a:noFill/>
          <a:ln/>
        </p:spPr>
        <p:txBody>
          <a:bodyPr wrap="square" rtlCol="0" anchor="ctr"/>
          <a:lstStyle/>
          <a:p>
            <a:pPr indent="0" marL="0">
              <a:buNone/>
            </a:pPr>
            <a:r>
              <a:rPr lang="en-US" sz="1400" b="1" dirty="0">
                <a:solidFill>
                  <a:srgbClr val="1D1D1D"/>
                </a:solidFill>
                <a:latin typeface="Nunito" pitchFamily="34" charset="0"/>
                <a:ea typeface="Nunito" pitchFamily="34" charset="-122"/>
                <a:cs typeface="Nunito" pitchFamily="34" charset="-120"/>
              </a:rPr>
              <a:t>A confidence score is never allowed to overstate what the system actually knows:</a:t>
            </a:r>
            <a:endParaRPr lang="en-US" sz="1400" dirty="0"/>
          </a:p>
        </p:txBody>
      </p:sp>
      <p:sp>
        <p:nvSpPr>
          <p:cNvPr id="8" name="Text 6"/>
          <p:cNvSpPr/>
          <p:nvPr/>
        </p:nvSpPr>
        <p:spPr>
          <a:xfrm>
            <a:off x="914400" y="3449269"/>
            <a:ext cx="1737360" cy="402336"/>
          </a:xfrm>
          <a:prstGeom prst="rect">
            <a:avLst/>
          </a:prstGeom>
          <a:noFill/>
          <a:ln/>
        </p:spPr>
        <p:txBody>
          <a:bodyPr wrap="square" rtlCol="0" anchor="ctr"/>
          <a:lstStyle/>
          <a:p>
            <a:pPr indent="0" marL="0">
              <a:buNone/>
            </a:pPr>
            <a:r>
              <a:rPr lang="en-US" sz="1100" b="1" dirty="0">
                <a:solidFill>
                  <a:srgbClr val="1D1D1D"/>
                </a:solidFill>
                <a:latin typeface="Nunito" pitchFamily="34" charset="0"/>
                <a:ea typeface="Nunito" pitchFamily="34" charset="-122"/>
                <a:cs typeface="Nunito" pitchFamily="34" charset="-120"/>
              </a:rPr>
              <a:t>Unverified sample</a:t>
            </a:r>
            <a:endParaRPr lang="en-US" sz="1100" dirty="0"/>
          </a:p>
        </p:txBody>
      </p:sp>
      <p:sp>
        <p:nvSpPr>
          <p:cNvPr id="9" name="Shape 7"/>
          <p:cNvSpPr/>
          <p:nvPr/>
        </p:nvSpPr>
        <p:spPr>
          <a:xfrm>
            <a:off x="2743200" y="3504133"/>
            <a:ext cx="7772400" cy="256032"/>
          </a:xfrm>
          <a:prstGeom prst="roundRect">
            <a:avLst>
              <a:gd name="adj" fmla="val 178571"/>
            </a:avLst>
          </a:prstGeom>
          <a:solidFill>
            <a:srgbClr val="FFFFFF"/>
          </a:solidFill>
          <a:ln w="25400">
            <a:solidFill>
              <a:srgbClr val="1D1D1D"/>
            </a:solidFill>
            <a:prstDash val="solid"/>
          </a:ln>
        </p:spPr>
      </p:sp>
      <p:sp>
        <p:nvSpPr>
          <p:cNvPr id="10" name="Shape 8"/>
          <p:cNvSpPr/>
          <p:nvPr/>
        </p:nvSpPr>
        <p:spPr>
          <a:xfrm>
            <a:off x="2743200" y="3504133"/>
            <a:ext cx="5052060" cy="256032"/>
          </a:xfrm>
          <a:prstGeom prst="roundRect">
            <a:avLst>
              <a:gd name="adj" fmla="val 178571"/>
            </a:avLst>
          </a:prstGeom>
          <a:solidFill>
            <a:srgbClr val="FFBF00"/>
          </a:solidFill>
          <a:ln w="25400">
            <a:solidFill>
              <a:srgbClr val="1D1D1D"/>
            </a:solidFill>
            <a:prstDash val="solid"/>
          </a:ln>
        </p:spPr>
      </p:sp>
      <p:sp>
        <p:nvSpPr>
          <p:cNvPr id="11" name="Text 9"/>
          <p:cNvSpPr/>
          <p:nvPr/>
        </p:nvSpPr>
        <p:spPr>
          <a:xfrm>
            <a:off x="10515600" y="3449269"/>
            <a:ext cx="731520" cy="402336"/>
          </a:xfrm>
          <a:prstGeom prst="rect">
            <a:avLst/>
          </a:prstGeom>
          <a:noFill/>
          <a:ln/>
        </p:spPr>
        <p:txBody>
          <a:bodyPr wrap="square" rtlCol="0" anchor="ctr"/>
          <a:lstStyle/>
          <a:p>
            <a:pPr algn="r" indent="0" marL="0">
              <a:buNone/>
            </a:pPr>
            <a:r>
              <a:rPr lang="en-US" sz="1200" b="1" dirty="0">
                <a:solidFill>
                  <a:srgbClr val="1D1D1D"/>
                </a:solidFill>
                <a:latin typeface="Baloo 2" pitchFamily="34" charset="0"/>
                <a:ea typeface="Baloo 2" pitchFamily="34" charset="-122"/>
                <a:cs typeface="Baloo 2" pitchFamily="34" charset="-120"/>
              </a:rPr>
              <a:t>65%</a:t>
            </a:r>
            <a:endParaRPr lang="en-US" sz="1200" dirty="0"/>
          </a:p>
        </p:txBody>
      </p:sp>
      <p:sp>
        <p:nvSpPr>
          <p:cNvPr id="12" name="Text 10"/>
          <p:cNvSpPr/>
          <p:nvPr/>
        </p:nvSpPr>
        <p:spPr>
          <a:xfrm>
            <a:off x="914400" y="3924757"/>
            <a:ext cx="1737360" cy="402336"/>
          </a:xfrm>
          <a:prstGeom prst="rect">
            <a:avLst/>
          </a:prstGeom>
          <a:noFill/>
          <a:ln/>
        </p:spPr>
        <p:txBody>
          <a:bodyPr wrap="square" rtlCol="0" anchor="ctr"/>
          <a:lstStyle/>
          <a:p>
            <a:pPr indent="0" marL="0">
              <a:buNone/>
            </a:pPr>
            <a:r>
              <a:rPr lang="en-US" sz="1100" b="1" dirty="0">
                <a:solidFill>
                  <a:srgbClr val="1D1D1D"/>
                </a:solidFill>
                <a:latin typeface="Nunito" pitchFamily="34" charset="0"/>
                <a:ea typeface="Nunito" pitchFamily="34" charset="-122"/>
                <a:cs typeface="Nunito" pitchFamily="34" charset="-120"/>
              </a:rPr>
              <a:t>Pending review</a:t>
            </a:r>
            <a:endParaRPr lang="en-US" sz="1100" dirty="0"/>
          </a:p>
        </p:txBody>
      </p:sp>
      <p:sp>
        <p:nvSpPr>
          <p:cNvPr id="13" name="Shape 11"/>
          <p:cNvSpPr/>
          <p:nvPr/>
        </p:nvSpPr>
        <p:spPr>
          <a:xfrm>
            <a:off x="2743200" y="3979621"/>
            <a:ext cx="7772400" cy="256032"/>
          </a:xfrm>
          <a:prstGeom prst="roundRect">
            <a:avLst>
              <a:gd name="adj" fmla="val 178571"/>
            </a:avLst>
          </a:prstGeom>
          <a:solidFill>
            <a:srgbClr val="FFFFFF"/>
          </a:solidFill>
          <a:ln w="25400">
            <a:solidFill>
              <a:srgbClr val="1D1D1D"/>
            </a:solidFill>
            <a:prstDash val="solid"/>
          </a:ln>
        </p:spPr>
      </p:sp>
      <p:sp>
        <p:nvSpPr>
          <p:cNvPr id="14" name="Shape 12"/>
          <p:cNvSpPr/>
          <p:nvPr/>
        </p:nvSpPr>
        <p:spPr>
          <a:xfrm>
            <a:off x="2743200" y="3979621"/>
            <a:ext cx="5829300" cy="256032"/>
          </a:xfrm>
          <a:prstGeom prst="roundRect">
            <a:avLst>
              <a:gd name="adj" fmla="val 178571"/>
            </a:avLst>
          </a:prstGeom>
          <a:solidFill>
            <a:srgbClr val="2EC4B6"/>
          </a:solidFill>
          <a:ln w="25400">
            <a:solidFill>
              <a:srgbClr val="1D1D1D"/>
            </a:solidFill>
            <a:prstDash val="solid"/>
          </a:ln>
        </p:spPr>
      </p:sp>
      <p:sp>
        <p:nvSpPr>
          <p:cNvPr id="15" name="Text 13"/>
          <p:cNvSpPr/>
          <p:nvPr/>
        </p:nvSpPr>
        <p:spPr>
          <a:xfrm>
            <a:off x="10515600" y="3924757"/>
            <a:ext cx="731520" cy="402336"/>
          </a:xfrm>
          <a:prstGeom prst="rect">
            <a:avLst/>
          </a:prstGeom>
          <a:noFill/>
          <a:ln/>
        </p:spPr>
        <p:txBody>
          <a:bodyPr wrap="square" rtlCol="0" anchor="ctr"/>
          <a:lstStyle/>
          <a:p>
            <a:pPr algn="r" indent="0" marL="0">
              <a:buNone/>
            </a:pPr>
            <a:r>
              <a:rPr lang="en-US" sz="1200" b="1" dirty="0">
                <a:solidFill>
                  <a:srgbClr val="1D1D1D"/>
                </a:solidFill>
                <a:latin typeface="Baloo 2" pitchFamily="34" charset="0"/>
                <a:ea typeface="Baloo 2" pitchFamily="34" charset="-122"/>
                <a:cs typeface="Baloo 2" pitchFamily="34" charset="-120"/>
              </a:rPr>
              <a:t>75%</a:t>
            </a:r>
            <a:endParaRPr lang="en-US" sz="1200" dirty="0"/>
          </a:p>
        </p:txBody>
      </p:sp>
      <p:sp>
        <p:nvSpPr>
          <p:cNvPr id="16" name="Text 14"/>
          <p:cNvSpPr/>
          <p:nvPr/>
        </p:nvSpPr>
        <p:spPr>
          <a:xfrm>
            <a:off x="914400" y="4400245"/>
            <a:ext cx="1737360" cy="402336"/>
          </a:xfrm>
          <a:prstGeom prst="rect">
            <a:avLst/>
          </a:prstGeom>
          <a:noFill/>
          <a:ln/>
        </p:spPr>
        <p:txBody>
          <a:bodyPr wrap="square" rtlCol="0" anchor="ctr"/>
          <a:lstStyle/>
          <a:p>
            <a:pPr indent="0" marL="0">
              <a:buNone/>
            </a:pPr>
            <a:r>
              <a:rPr lang="en-US" sz="1100" b="1" dirty="0">
                <a:solidFill>
                  <a:srgbClr val="1D1D1D"/>
                </a:solidFill>
                <a:latin typeface="Nunito" pitchFamily="34" charset="0"/>
                <a:ea typeface="Nunito" pitchFamily="34" charset="-122"/>
                <a:cs typeface="Nunito" pitchFamily="34" charset="-120"/>
              </a:rPr>
              <a:t>Verified</a:t>
            </a:r>
            <a:endParaRPr lang="en-US" sz="1100" dirty="0"/>
          </a:p>
        </p:txBody>
      </p:sp>
      <p:sp>
        <p:nvSpPr>
          <p:cNvPr id="17" name="Shape 15"/>
          <p:cNvSpPr/>
          <p:nvPr/>
        </p:nvSpPr>
        <p:spPr>
          <a:xfrm>
            <a:off x="2743200" y="4455109"/>
            <a:ext cx="7772400" cy="256032"/>
          </a:xfrm>
          <a:prstGeom prst="roundRect">
            <a:avLst>
              <a:gd name="adj" fmla="val 178571"/>
            </a:avLst>
          </a:prstGeom>
          <a:solidFill>
            <a:srgbClr val="FFFFFF"/>
          </a:solidFill>
          <a:ln w="25400">
            <a:solidFill>
              <a:srgbClr val="1D1D1D"/>
            </a:solidFill>
            <a:prstDash val="solid"/>
          </a:ln>
        </p:spPr>
      </p:sp>
      <p:sp>
        <p:nvSpPr>
          <p:cNvPr id="18" name="Shape 16"/>
          <p:cNvSpPr/>
          <p:nvPr/>
        </p:nvSpPr>
        <p:spPr>
          <a:xfrm>
            <a:off x="2743200" y="4455109"/>
            <a:ext cx="7772400" cy="256032"/>
          </a:xfrm>
          <a:prstGeom prst="roundRect">
            <a:avLst>
              <a:gd name="adj" fmla="val 178571"/>
            </a:avLst>
          </a:prstGeom>
          <a:solidFill>
            <a:srgbClr val="FF5D73"/>
          </a:solidFill>
          <a:ln w="25400">
            <a:solidFill>
              <a:srgbClr val="1D1D1D"/>
            </a:solidFill>
            <a:prstDash val="solid"/>
          </a:ln>
        </p:spPr>
      </p:sp>
      <p:sp>
        <p:nvSpPr>
          <p:cNvPr id="19" name="Text 17"/>
          <p:cNvSpPr/>
          <p:nvPr/>
        </p:nvSpPr>
        <p:spPr>
          <a:xfrm>
            <a:off x="10515600" y="4400245"/>
            <a:ext cx="731520" cy="402336"/>
          </a:xfrm>
          <a:prstGeom prst="rect">
            <a:avLst/>
          </a:prstGeom>
          <a:noFill/>
          <a:ln/>
        </p:spPr>
        <p:txBody>
          <a:bodyPr wrap="square" rtlCol="0" anchor="ctr"/>
          <a:lstStyle/>
          <a:p>
            <a:pPr algn="r" indent="0" marL="0">
              <a:buNone/>
            </a:pPr>
            <a:r>
              <a:rPr lang="en-US" sz="1200" b="1" dirty="0">
                <a:solidFill>
                  <a:srgbClr val="1D1D1D"/>
                </a:solidFill>
                <a:latin typeface="Baloo 2" pitchFamily="34" charset="0"/>
                <a:ea typeface="Baloo 2" pitchFamily="34" charset="-122"/>
                <a:cs typeface="Baloo 2" pitchFamily="34" charset="-120"/>
              </a:rPr>
              <a:t>100%</a:t>
            </a:r>
            <a:endParaRPr lang="en-US" sz="1200" dirty="0"/>
          </a:p>
        </p:txBody>
      </p:sp>
      <p:sp>
        <p:nvSpPr>
          <p:cNvPr id="20" name="Text 18"/>
          <p:cNvSpPr/>
          <p:nvPr/>
        </p:nvSpPr>
        <p:spPr>
          <a:xfrm>
            <a:off x="914400" y="4875733"/>
            <a:ext cx="1737360" cy="402336"/>
          </a:xfrm>
          <a:prstGeom prst="rect">
            <a:avLst/>
          </a:prstGeom>
          <a:noFill/>
          <a:ln/>
        </p:spPr>
        <p:txBody>
          <a:bodyPr wrap="square" rtlCol="0" anchor="ctr"/>
          <a:lstStyle/>
          <a:p>
            <a:pPr indent="0" marL="0">
              <a:buNone/>
            </a:pPr>
            <a:r>
              <a:rPr lang="en-US" sz="1100" b="1" dirty="0">
                <a:solidFill>
                  <a:srgbClr val="1D1D1D"/>
                </a:solidFill>
                <a:latin typeface="Nunito" pitchFamily="34" charset="0"/>
                <a:ea typeface="Nunito" pitchFamily="34" charset="-122"/>
                <a:cs typeface="Nunito" pitchFamily="34" charset="-120"/>
              </a:rPr>
              <a:t>Outdated</a:t>
            </a:r>
            <a:endParaRPr lang="en-US" sz="1100" dirty="0"/>
          </a:p>
        </p:txBody>
      </p:sp>
      <p:sp>
        <p:nvSpPr>
          <p:cNvPr id="21" name="Shape 19"/>
          <p:cNvSpPr/>
          <p:nvPr/>
        </p:nvSpPr>
        <p:spPr>
          <a:xfrm>
            <a:off x="2743200" y="4930597"/>
            <a:ext cx="7772400" cy="256032"/>
          </a:xfrm>
          <a:prstGeom prst="roundRect">
            <a:avLst>
              <a:gd name="adj" fmla="val 178571"/>
            </a:avLst>
          </a:prstGeom>
          <a:solidFill>
            <a:srgbClr val="FFFFFF"/>
          </a:solidFill>
          <a:ln w="25400">
            <a:solidFill>
              <a:srgbClr val="1D1D1D"/>
            </a:solidFill>
            <a:prstDash val="solid"/>
          </a:ln>
        </p:spPr>
      </p:sp>
      <p:sp>
        <p:nvSpPr>
          <p:cNvPr id="22" name="Shape 20"/>
          <p:cNvSpPr/>
          <p:nvPr/>
        </p:nvSpPr>
        <p:spPr>
          <a:xfrm>
            <a:off x="2743200" y="4930597"/>
            <a:ext cx="3497580" cy="256032"/>
          </a:xfrm>
          <a:prstGeom prst="roundRect">
            <a:avLst>
              <a:gd name="adj" fmla="val 178571"/>
            </a:avLst>
          </a:prstGeom>
          <a:solidFill>
            <a:srgbClr val="F5E6CC"/>
          </a:solidFill>
          <a:ln w="25400">
            <a:solidFill>
              <a:srgbClr val="1D1D1D"/>
            </a:solidFill>
            <a:prstDash val="solid"/>
          </a:ln>
        </p:spPr>
      </p:sp>
      <p:sp>
        <p:nvSpPr>
          <p:cNvPr id="23" name="Text 21"/>
          <p:cNvSpPr/>
          <p:nvPr/>
        </p:nvSpPr>
        <p:spPr>
          <a:xfrm>
            <a:off x="10515600" y="4875733"/>
            <a:ext cx="731520" cy="402336"/>
          </a:xfrm>
          <a:prstGeom prst="rect">
            <a:avLst/>
          </a:prstGeom>
          <a:noFill/>
          <a:ln/>
        </p:spPr>
        <p:txBody>
          <a:bodyPr wrap="square" rtlCol="0" anchor="ctr"/>
          <a:lstStyle/>
          <a:p>
            <a:pPr algn="r" indent="0" marL="0">
              <a:buNone/>
            </a:pPr>
            <a:r>
              <a:rPr lang="en-US" sz="1200" b="1" dirty="0">
                <a:solidFill>
                  <a:srgbClr val="1D1D1D"/>
                </a:solidFill>
                <a:latin typeface="Baloo 2" pitchFamily="34" charset="0"/>
                <a:ea typeface="Baloo 2" pitchFamily="34" charset="-122"/>
                <a:cs typeface="Baloo 2" pitchFamily="34" charset="-120"/>
              </a:rPr>
              <a:t>45%</a:t>
            </a:r>
            <a:endParaRPr lang="en-US" sz="1200" dirty="0"/>
          </a:p>
        </p:txBody>
      </p:sp>
      <p:sp>
        <p:nvSpPr>
          <p:cNvPr id="24" name="Text 22"/>
          <p:cNvSpPr/>
          <p:nvPr/>
        </p:nvSpPr>
        <p:spPr>
          <a:xfrm>
            <a:off x="914400" y="5351221"/>
            <a:ext cx="1737360" cy="402336"/>
          </a:xfrm>
          <a:prstGeom prst="rect">
            <a:avLst/>
          </a:prstGeom>
          <a:noFill/>
          <a:ln/>
        </p:spPr>
        <p:txBody>
          <a:bodyPr wrap="square" rtlCol="0" anchor="ctr"/>
          <a:lstStyle/>
          <a:p>
            <a:pPr indent="0" marL="0">
              <a:buNone/>
            </a:pPr>
            <a:r>
              <a:rPr lang="en-US" sz="1100" b="1" dirty="0">
                <a:solidFill>
                  <a:srgbClr val="1D1D1D"/>
                </a:solidFill>
                <a:latin typeface="Nunito" pitchFamily="34" charset="0"/>
                <a:ea typeface="Nunito" pitchFamily="34" charset="-122"/>
                <a:cs typeface="Nunito" pitchFamily="34" charset="-120"/>
              </a:rPr>
              <a:t>Disputed</a:t>
            </a:r>
            <a:endParaRPr lang="en-US" sz="1100" dirty="0"/>
          </a:p>
        </p:txBody>
      </p:sp>
      <p:sp>
        <p:nvSpPr>
          <p:cNvPr id="25" name="Shape 23"/>
          <p:cNvSpPr/>
          <p:nvPr/>
        </p:nvSpPr>
        <p:spPr>
          <a:xfrm>
            <a:off x="2743200" y="5406085"/>
            <a:ext cx="7772400" cy="256032"/>
          </a:xfrm>
          <a:prstGeom prst="roundRect">
            <a:avLst>
              <a:gd name="adj" fmla="val 178571"/>
            </a:avLst>
          </a:prstGeom>
          <a:solidFill>
            <a:srgbClr val="FFFFFF"/>
          </a:solidFill>
          <a:ln w="25400">
            <a:solidFill>
              <a:srgbClr val="1D1D1D"/>
            </a:solidFill>
            <a:prstDash val="solid"/>
          </a:ln>
        </p:spPr>
      </p:sp>
      <p:sp>
        <p:nvSpPr>
          <p:cNvPr id="26" name="Shape 24"/>
          <p:cNvSpPr/>
          <p:nvPr/>
        </p:nvSpPr>
        <p:spPr>
          <a:xfrm>
            <a:off x="2743200" y="5406085"/>
            <a:ext cx="1943100" cy="256032"/>
          </a:xfrm>
          <a:prstGeom prst="roundRect">
            <a:avLst>
              <a:gd name="adj" fmla="val 178571"/>
            </a:avLst>
          </a:prstGeom>
          <a:solidFill>
            <a:srgbClr val="E8E0D0"/>
          </a:solidFill>
          <a:ln w="25400">
            <a:solidFill>
              <a:srgbClr val="1D1D1D"/>
            </a:solidFill>
            <a:prstDash val="solid"/>
          </a:ln>
        </p:spPr>
      </p:sp>
      <p:sp>
        <p:nvSpPr>
          <p:cNvPr id="27" name="Text 25"/>
          <p:cNvSpPr/>
          <p:nvPr/>
        </p:nvSpPr>
        <p:spPr>
          <a:xfrm>
            <a:off x="10515600" y="5351221"/>
            <a:ext cx="731520" cy="402336"/>
          </a:xfrm>
          <a:prstGeom prst="rect">
            <a:avLst/>
          </a:prstGeom>
          <a:noFill/>
          <a:ln/>
        </p:spPr>
        <p:txBody>
          <a:bodyPr wrap="square" rtlCol="0" anchor="ctr"/>
          <a:lstStyle/>
          <a:p>
            <a:pPr algn="r" indent="0" marL="0">
              <a:buNone/>
            </a:pPr>
            <a:r>
              <a:rPr lang="en-US" sz="1200" b="1" dirty="0">
                <a:solidFill>
                  <a:srgbClr val="1D1D1D"/>
                </a:solidFill>
                <a:latin typeface="Baloo 2" pitchFamily="34" charset="0"/>
                <a:ea typeface="Baloo 2" pitchFamily="34" charset="-122"/>
                <a:cs typeface="Baloo 2" pitchFamily="34" charset="-120"/>
              </a:rPr>
              <a:t>25%</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EC4B6"/>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32 / 55</a:t>
            </a:r>
            <a:endParaRPr lang="en-US" sz="1000" dirty="0"/>
          </a:p>
        </p:txBody>
      </p:sp>
      <p:sp>
        <p:nvSpPr>
          <p:cNvPr id="4" name="Text 2"/>
          <p:cNvSpPr/>
          <p:nvPr/>
        </p:nvSpPr>
        <p:spPr>
          <a:xfrm>
            <a:off x="3474720" y="548640"/>
            <a:ext cx="521208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FOR THE TECHNICAL JUDGES — CONCEPT FIRST</a:t>
            </a:r>
            <a:endParaRPr lang="en-US" sz="1100" dirty="0"/>
          </a:p>
        </p:txBody>
      </p:sp>
      <p:sp>
        <p:nvSpPr>
          <p:cNvPr id="5" name="Text 3"/>
          <p:cNvSpPr/>
          <p:nvPr/>
        </p:nvSpPr>
        <p:spPr>
          <a:xfrm>
            <a:off x="914400" y="1188720"/>
            <a:ext cx="10360152" cy="1382725"/>
          </a:xfrm>
          <a:prstGeom prst="rect">
            <a:avLst/>
          </a:prstGeom>
          <a:noFill/>
          <a:ln/>
        </p:spPr>
        <p:txBody>
          <a:bodyPr wrap="square" rtlCol="0" anchor="t"/>
          <a:lstStyle/>
          <a:p>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The architecture exists to enforce </a:t>
            </a:r>
            <a:pPr algn="ctr"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one</a:t>
            </a:r>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 rule.</a:t>
            </a:r>
            <a:endParaRPr lang="en-US" sz="3800" dirty="0"/>
          </a:p>
        </p:txBody>
      </p:sp>
      <p:sp>
        <p:nvSpPr>
          <p:cNvPr id="6" name="Shape 4"/>
          <p:cNvSpPr/>
          <p:nvPr/>
        </p:nvSpPr>
        <p:spPr>
          <a:xfrm>
            <a:off x="769468" y="3083509"/>
            <a:ext cx="2286000" cy="1371600"/>
          </a:xfrm>
          <a:prstGeom prst="roundRect">
            <a:avLst>
              <a:gd name="adj" fmla="val 6667"/>
            </a:avLst>
          </a:prstGeom>
          <a:solidFill>
            <a:srgbClr val="F5E6CC"/>
          </a:solidFill>
          <a:ln w="31750">
            <a:solidFill>
              <a:srgbClr val="1D1D1D"/>
            </a:solidFill>
            <a:prstDash val="solid"/>
          </a:ln>
          <a:effectLst>
            <a:outerShdw sx="100000" sy="100000" kx="0" ky="0" algn="bl" rotWithShape="0" blurRad="1.5373467993715405e+91" dist="1.0569259245679343e+91" dir="5.9229766729020215e+106">
              <a:srgbClr val="1D1D1D">
                <a:alpha val="9.999999999999999e+109"/>
              </a:srgbClr>
            </a:outerShdw>
          </a:effectLst>
        </p:spPr>
      </p:sp>
      <p:sp>
        <p:nvSpPr>
          <p:cNvPr id="7" name="Text 5"/>
          <p:cNvSpPr/>
          <p:nvPr/>
        </p:nvSpPr>
        <p:spPr>
          <a:xfrm>
            <a:off x="769468" y="3083509"/>
            <a:ext cx="2286000" cy="1371600"/>
          </a:xfrm>
          <a:prstGeom prst="rect">
            <a:avLst/>
          </a:prstGeom>
          <a:noFill/>
          <a:ln/>
        </p:spPr>
        <p:txBody>
          <a:bodyPr wrap="square" rtlCol="0" anchor="ctr"/>
          <a:lstStyle/>
          <a:p>
            <a:pPr algn="ctr" indent="0" marL="0">
              <a:buNone/>
            </a:pPr>
            <a:r>
              <a:rPr lang="en-US" sz="1400" b="1" dirty="0">
                <a:solidFill>
                  <a:srgbClr val="1D1D1D"/>
                </a:solidFill>
                <a:latin typeface="Nunito" pitchFamily="34" charset="0"/>
                <a:ea typeface="Nunito" pitchFamily="34" charset="-122"/>
                <a:cs typeface="Nunito" pitchFamily="34" charset="-120"/>
              </a:rPr>
              <a:t>Citizen’s</a:t>
            </a:r>
            <a:endParaRPr lang="en-US" sz="1400" dirty="0"/>
          </a:p>
          <a:p>
            <a:pPr algn="ctr" indent="0" marL="0">
              <a:buNone/>
            </a:pPr>
            <a:r>
              <a:rPr lang="en-US" sz="1400" b="1" dirty="0">
                <a:solidFill>
                  <a:srgbClr val="1D1D1D"/>
                </a:solidFill>
                <a:latin typeface="Nunito" pitchFamily="34" charset="0"/>
                <a:ea typeface="Nunito" pitchFamily="34" charset="-122"/>
                <a:cs typeface="Nunito" pitchFamily="34" charset="-120"/>
              </a:rPr>
              <a:t>message</a:t>
            </a:r>
            <a:endParaRPr lang="en-US" sz="1400" dirty="0"/>
          </a:p>
        </p:txBody>
      </p:sp>
      <p:sp>
        <p:nvSpPr>
          <p:cNvPr id="8" name="Text 6"/>
          <p:cNvSpPr/>
          <p:nvPr/>
        </p:nvSpPr>
        <p:spPr>
          <a:xfrm>
            <a:off x="3055468" y="3083509"/>
            <a:ext cx="502920" cy="1371600"/>
          </a:xfrm>
          <a:prstGeom prst="rect">
            <a:avLst/>
          </a:prstGeom>
          <a:noFill/>
          <a:ln/>
        </p:spPr>
        <p:txBody>
          <a:bodyPr wrap="square" rtlCol="0" anchor="ctr"/>
          <a:lstStyle/>
          <a:p>
            <a:pPr algn="ctr" indent="0" marL="0">
              <a:buNone/>
            </a:pPr>
            <a:r>
              <a:rPr lang="en-US" sz="2200" b="1" dirty="0">
                <a:solidFill>
                  <a:srgbClr val="1D1D1D"/>
                </a:solidFill>
                <a:latin typeface="Baloo 2" pitchFamily="34" charset="0"/>
                <a:ea typeface="Baloo 2" pitchFamily="34" charset="-122"/>
                <a:cs typeface="Baloo 2" pitchFamily="34" charset="-120"/>
              </a:rPr>
              <a:t>→</a:t>
            </a:r>
            <a:endParaRPr lang="en-US" sz="2200" dirty="0"/>
          </a:p>
        </p:txBody>
      </p:sp>
      <p:sp>
        <p:nvSpPr>
          <p:cNvPr id="9" name="Shape 7"/>
          <p:cNvSpPr/>
          <p:nvPr/>
        </p:nvSpPr>
        <p:spPr>
          <a:xfrm>
            <a:off x="3558388" y="3083509"/>
            <a:ext cx="2286000" cy="1371600"/>
          </a:xfrm>
          <a:prstGeom prst="roundRect">
            <a:avLst>
              <a:gd name="adj" fmla="val 6667"/>
            </a:avLst>
          </a:prstGeom>
          <a:solidFill>
            <a:srgbClr val="FFBF00"/>
          </a:solidFill>
          <a:ln w="31750">
            <a:solidFill>
              <a:srgbClr val="1D1D1D"/>
            </a:solidFill>
            <a:prstDash val="solid"/>
          </a:ln>
          <a:effectLst>
            <a:outerShdw sx="100000" sy="100000" kx="0" ky="0" algn="bl" rotWithShape="0" blurRad="1.9524304352018566e+95" dist="1.3422959242012766e+95" dir="3.553786003741213e+111">
              <a:srgbClr val="1D1D1D">
                <a:alpha val="9.999999999999998e+114"/>
              </a:srgbClr>
            </a:outerShdw>
          </a:effectLst>
        </p:spPr>
      </p:sp>
      <p:sp>
        <p:nvSpPr>
          <p:cNvPr id="10" name="Text 8"/>
          <p:cNvSpPr/>
          <p:nvPr/>
        </p:nvSpPr>
        <p:spPr>
          <a:xfrm>
            <a:off x="3558388" y="3083509"/>
            <a:ext cx="2286000" cy="1371600"/>
          </a:xfrm>
          <a:prstGeom prst="rect">
            <a:avLst/>
          </a:prstGeom>
          <a:noFill/>
          <a:ln/>
        </p:spPr>
        <p:txBody>
          <a:bodyPr wrap="square" rtlCol="0" anchor="ctr"/>
          <a:lstStyle/>
          <a:p>
            <a:pPr algn="ctr" indent="0" marL="0">
              <a:buNone/>
            </a:pPr>
            <a:r>
              <a:rPr lang="en-US" sz="1400" b="1" dirty="0">
                <a:solidFill>
                  <a:srgbClr val="1D1D1D"/>
                </a:solidFill>
                <a:latin typeface="Nunito" pitchFamily="34" charset="0"/>
                <a:ea typeface="Nunito" pitchFamily="34" charset="-122"/>
                <a:cs typeface="Nunito" pitchFamily="34" charset="-120"/>
              </a:rPr>
              <a:t>Rules engine</a:t>
            </a:r>
            <a:endParaRPr lang="en-US" sz="1400" dirty="0"/>
          </a:p>
          <a:p>
            <a:pPr algn="ctr" indent="0" marL="0">
              <a:buNone/>
            </a:pPr>
            <a:r>
              <a:rPr lang="en-US" sz="1400" b="1" dirty="0">
                <a:solidFill>
                  <a:srgbClr val="1D1D1D"/>
                </a:solidFill>
                <a:latin typeface="Nunito" pitchFamily="34" charset="0"/>
                <a:ea typeface="Nunito" pitchFamily="34" charset="-122"/>
                <a:cs typeface="Nunito" pitchFamily="34" charset="-120"/>
              </a:rPr>
              <a:t>decides</a:t>
            </a:r>
            <a:endParaRPr lang="en-US" sz="1400" dirty="0"/>
          </a:p>
        </p:txBody>
      </p:sp>
      <p:sp>
        <p:nvSpPr>
          <p:cNvPr id="11" name="Text 9"/>
          <p:cNvSpPr/>
          <p:nvPr/>
        </p:nvSpPr>
        <p:spPr>
          <a:xfrm>
            <a:off x="5844388" y="3083509"/>
            <a:ext cx="502920" cy="1371600"/>
          </a:xfrm>
          <a:prstGeom prst="rect">
            <a:avLst/>
          </a:prstGeom>
          <a:noFill/>
          <a:ln/>
        </p:spPr>
        <p:txBody>
          <a:bodyPr wrap="square" rtlCol="0" anchor="ctr"/>
          <a:lstStyle/>
          <a:p>
            <a:pPr algn="ctr" indent="0" marL="0">
              <a:buNone/>
            </a:pPr>
            <a:r>
              <a:rPr lang="en-US" sz="2200" b="1" dirty="0">
                <a:solidFill>
                  <a:srgbClr val="1D1D1D"/>
                </a:solidFill>
                <a:latin typeface="Baloo 2" pitchFamily="34" charset="0"/>
                <a:ea typeface="Baloo 2" pitchFamily="34" charset="-122"/>
                <a:cs typeface="Baloo 2" pitchFamily="34" charset="-120"/>
              </a:rPr>
              <a:t>→</a:t>
            </a:r>
            <a:endParaRPr lang="en-US" sz="2200" dirty="0"/>
          </a:p>
        </p:txBody>
      </p:sp>
      <p:sp>
        <p:nvSpPr>
          <p:cNvPr id="12" name="Shape 10"/>
          <p:cNvSpPr/>
          <p:nvPr/>
        </p:nvSpPr>
        <p:spPr>
          <a:xfrm>
            <a:off x="6347308" y="3083509"/>
            <a:ext cx="2286000" cy="1371600"/>
          </a:xfrm>
          <a:prstGeom prst="roundRect">
            <a:avLst>
              <a:gd name="adj" fmla="val 6667"/>
            </a:avLst>
          </a:prstGeom>
          <a:solidFill>
            <a:srgbClr val="F5E6CC"/>
          </a:solidFill>
          <a:ln w="31750">
            <a:solidFill>
              <a:srgbClr val="1D1D1D"/>
            </a:solidFill>
            <a:prstDash val="solid"/>
          </a:ln>
          <a:effectLst>
            <a:outerShdw sx="100000" sy="100000" kx="0" ky="0" algn="bl" rotWithShape="0" blurRad="2.4795866527063578e+99" dist="1.7047158237356213e+99" dir="2.1322716022447277e+116">
              <a:srgbClr val="1D1D1D">
                <a:alpha val="9.999999999999998e+119"/>
              </a:srgbClr>
            </a:outerShdw>
          </a:effectLst>
        </p:spPr>
      </p:sp>
      <p:sp>
        <p:nvSpPr>
          <p:cNvPr id="13" name="Text 11"/>
          <p:cNvSpPr/>
          <p:nvPr/>
        </p:nvSpPr>
        <p:spPr>
          <a:xfrm>
            <a:off x="6347308" y="3083509"/>
            <a:ext cx="2286000" cy="1371600"/>
          </a:xfrm>
          <a:prstGeom prst="rect">
            <a:avLst/>
          </a:prstGeom>
          <a:noFill/>
          <a:ln/>
        </p:spPr>
        <p:txBody>
          <a:bodyPr wrap="square" rtlCol="0" anchor="ctr"/>
          <a:lstStyle/>
          <a:p>
            <a:pPr algn="ctr" indent="0" marL="0">
              <a:buNone/>
            </a:pPr>
            <a:r>
              <a:rPr lang="en-US" sz="1400" b="1" dirty="0">
                <a:solidFill>
                  <a:srgbClr val="1D1D1D"/>
                </a:solidFill>
                <a:latin typeface="Nunito" pitchFamily="34" charset="0"/>
                <a:ea typeface="Nunito" pitchFamily="34" charset="-122"/>
                <a:cs typeface="Nunito" pitchFamily="34" charset="-120"/>
              </a:rPr>
              <a:t>AI model</a:t>
            </a:r>
            <a:endParaRPr lang="en-US" sz="1400" dirty="0"/>
          </a:p>
          <a:p>
            <a:pPr algn="ctr" indent="0" marL="0">
              <a:buNone/>
            </a:pPr>
            <a:r>
              <a:rPr lang="en-US" sz="1400" b="1" dirty="0">
                <a:solidFill>
                  <a:srgbClr val="1D1D1D"/>
                </a:solidFill>
                <a:latin typeface="Nunito" pitchFamily="34" charset="0"/>
                <a:ea typeface="Nunito" pitchFamily="34" charset="-122"/>
                <a:cs typeface="Nunito" pitchFamily="34" charset="-120"/>
              </a:rPr>
              <a:t>only explains</a:t>
            </a:r>
            <a:endParaRPr lang="en-US" sz="1400" dirty="0"/>
          </a:p>
        </p:txBody>
      </p:sp>
      <p:sp>
        <p:nvSpPr>
          <p:cNvPr id="14" name="Text 12"/>
          <p:cNvSpPr/>
          <p:nvPr/>
        </p:nvSpPr>
        <p:spPr>
          <a:xfrm>
            <a:off x="8633308" y="3083509"/>
            <a:ext cx="502920" cy="1371600"/>
          </a:xfrm>
          <a:prstGeom prst="rect">
            <a:avLst/>
          </a:prstGeom>
          <a:noFill/>
          <a:ln/>
        </p:spPr>
        <p:txBody>
          <a:bodyPr wrap="square" rtlCol="0" anchor="ctr"/>
          <a:lstStyle/>
          <a:p>
            <a:pPr algn="ctr" indent="0" marL="0">
              <a:buNone/>
            </a:pPr>
            <a:r>
              <a:rPr lang="en-US" sz="2200" b="1" dirty="0">
                <a:solidFill>
                  <a:srgbClr val="1D1D1D"/>
                </a:solidFill>
                <a:latin typeface="Baloo 2" pitchFamily="34" charset="0"/>
                <a:ea typeface="Baloo 2" pitchFamily="34" charset="-122"/>
                <a:cs typeface="Baloo 2" pitchFamily="34" charset="-120"/>
              </a:rPr>
              <a:t>→</a:t>
            </a:r>
            <a:endParaRPr lang="en-US" sz="2200" dirty="0"/>
          </a:p>
        </p:txBody>
      </p:sp>
      <p:sp>
        <p:nvSpPr>
          <p:cNvPr id="15" name="Shape 13"/>
          <p:cNvSpPr/>
          <p:nvPr/>
        </p:nvSpPr>
        <p:spPr>
          <a:xfrm>
            <a:off x="9136228" y="3083509"/>
            <a:ext cx="2286000" cy="1371600"/>
          </a:xfrm>
          <a:prstGeom prst="roundRect">
            <a:avLst>
              <a:gd name="adj" fmla="val 6667"/>
            </a:avLst>
          </a:prstGeom>
          <a:solidFill>
            <a:srgbClr val="FF5D73"/>
          </a:solidFill>
          <a:ln w="31750">
            <a:solidFill>
              <a:srgbClr val="1D1D1D"/>
            </a:solidFill>
            <a:prstDash val="solid"/>
          </a:ln>
          <a:effectLst>
            <a:outerShdw sx="100000" sy="100000" kx="0" ky="0" algn="bl" rotWithShape="0" blurRad="3.149075048937074e+103" dist="2.164989096144239e+103" dir="1.2793629613468366e+121">
              <a:srgbClr val="1D1D1D">
                <a:alpha val="1e+125"/>
              </a:srgbClr>
            </a:outerShdw>
          </a:effectLst>
        </p:spPr>
      </p:sp>
      <p:sp>
        <p:nvSpPr>
          <p:cNvPr id="16" name="Text 14"/>
          <p:cNvSpPr/>
          <p:nvPr/>
        </p:nvSpPr>
        <p:spPr>
          <a:xfrm>
            <a:off x="9136228" y="3083509"/>
            <a:ext cx="2286000" cy="1371600"/>
          </a:xfrm>
          <a:prstGeom prst="rect">
            <a:avLst/>
          </a:prstGeom>
          <a:noFill/>
          <a:ln/>
        </p:spPr>
        <p:txBody>
          <a:bodyPr wrap="square" rtlCol="0" anchor="ctr"/>
          <a:lstStyle/>
          <a:p>
            <a:pPr algn="ctr" indent="0" marL="0">
              <a:buNone/>
            </a:pPr>
            <a:r>
              <a:rPr lang="en-US" sz="1400" b="1" dirty="0">
                <a:solidFill>
                  <a:srgbClr val="1D1D1D"/>
                </a:solidFill>
                <a:latin typeface="Nunito" pitchFamily="34" charset="0"/>
                <a:ea typeface="Nunito" pitchFamily="34" charset="-122"/>
                <a:cs typeface="Nunito" pitchFamily="34" charset="-120"/>
              </a:rPr>
              <a:t>Citizen</a:t>
            </a:r>
            <a:endParaRPr lang="en-US" sz="1400" dirty="0"/>
          </a:p>
          <a:p>
            <a:pPr algn="ctr" indent="0" marL="0">
              <a:buNone/>
            </a:pPr>
            <a:r>
              <a:rPr lang="en-US" sz="1400" b="1" dirty="0">
                <a:solidFill>
                  <a:srgbClr val="1D1D1D"/>
                </a:solidFill>
                <a:latin typeface="Nunito" pitchFamily="34" charset="0"/>
                <a:ea typeface="Nunito" pitchFamily="34" charset="-122"/>
                <a:cs typeface="Nunito" pitchFamily="34" charset="-120"/>
              </a:rPr>
              <a:t>reads the reply</a:t>
            </a:r>
            <a:endParaRPr lang="en-US" sz="1400" dirty="0"/>
          </a:p>
        </p:txBody>
      </p:sp>
      <p:sp>
        <p:nvSpPr>
          <p:cNvPr id="17" name="Text 15"/>
          <p:cNvSpPr/>
          <p:nvPr/>
        </p:nvSpPr>
        <p:spPr>
          <a:xfrm>
            <a:off x="1645920" y="4875733"/>
            <a:ext cx="8897112" cy="1618234"/>
          </a:xfrm>
          <a:prstGeom prst="rect">
            <a:avLst/>
          </a:prstGeom>
          <a:noFill/>
          <a:ln/>
        </p:spPr>
        <p:txBody>
          <a:bodyPr wrap="square" rtlCol="0" anchor="t"/>
          <a:lstStyle/>
          <a:p>
            <a:pPr algn="ctr" indent="0" marL="0">
              <a:lnSpc>
                <a:spcPct val="125000"/>
              </a:lnSpc>
              <a:buNone/>
            </a:pPr>
            <a:r>
              <a:rPr lang="en-US" sz="1900" dirty="0">
                <a:solidFill>
                  <a:srgbClr val="1D1D1D"/>
                </a:solidFill>
                <a:latin typeface="Nunito" pitchFamily="34" charset="0"/>
                <a:ea typeface="Nunito" pitchFamily="34" charset="-122"/>
                <a:cs typeface="Nunito" pitchFamily="34" charset="-120"/>
              </a:rPr>
              <a:t>If the middle step finds nothing, the last box before the citizen is never reached by a model at all — it’s rendered by a template instead. That’s not a fallback bolted on afterward; it’s the same code path every single time.</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33 / 55</a:t>
            </a:r>
            <a:endParaRPr lang="en-US" sz="1000" dirty="0"/>
          </a:p>
        </p:txBody>
      </p:sp>
      <p:sp>
        <p:nvSpPr>
          <p:cNvPr id="4" name="Text 2"/>
          <p:cNvSpPr/>
          <p:nvPr/>
        </p:nvSpPr>
        <p:spPr>
          <a:xfrm>
            <a:off x="640080" y="502920"/>
            <a:ext cx="603504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FOR THE TECHNICAL JUDGES — HOW IT’S ACTUALLY BUILT</a:t>
            </a:r>
            <a:endParaRPr lang="en-US" sz="1100" dirty="0"/>
          </a:p>
        </p:txBody>
      </p:sp>
      <p:sp>
        <p:nvSpPr>
          <p:cNvPr id="5" name="Text 3"/>
          <p:cNvSpPr/>
          <p:nvPr/>
        </p:nvSpPr>
        <p:spPr>
          <a:xfrm>
            <a:off x="640080" y="105156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One application. No Docker, no Redis, no separate backend to babysit.</a:t>
            </a:r>
            <a:endParaRPr lang="en-US" sz="3800" dirty="0"/>
          </a:p>
        </p:txBody>
      </p:sp>
      <p:sp>
        <p:nvSpPr>
          <p:cNvPr id="6" name="Shape 4"/>
          <p:cNvSpPr/>
          <p:nvPr/>
        </p:nvSpPr>
        <p:spPr>
          <a:xfrm>
            <a:off x="640080" y="2809189"/>
            <a:ext cx="3429000" cy="1920240"/>
          </a:xfrm>
          <a:prstGeom prst="roundRect">
            <a:avLst>
              <a:gd name="adj" fmla="val 4762"/>
            </a:avLst>
          </a:prstGeom>
          <a:solidFill>
            <a:srgbClr val="F5E6CC"/>
          </a:solidFill>
          <a:ln w="28575">
            <a:solidFill>
              <a:srgbClr val="1D1D1D"/>
            </a:solidFill>
            <a:prstDash val="solid"/>
          </a:ln>
          <a:effectLst>
            <a:outerShdw sx="100000" sy="100000" kx="0" ky="0" algn="bl" rotWithShape="0" blurRad="3.9993253121500844e+107" dist="2.7495361521031837e+107" dir="7.67617776808102e+125">
              <a:srgbClr val="1D1D1D">
                <a:alpha val="9.999999999999999e+129"/>
              </a:srgbClr>
            </a:outerShdw>
          </a:effectLst>
        </p:spPr>
      </p:sp>
      <p:sp>
        <p:nvSpPr>
          <p:cNvPr id="7" name="Text 5"/>
          <p:cNvSpPr/>
          <p:nvPr/>
        </p:nvSpPr>
        <p:spPr>
          <a:xfrm>
            <a:off x="841248" y="2973781"/>
            <a:ext cx="3026664" cy="457200"/>
          </a:xfrm>
          <a:prstGeom prst="rect">
            <a:avLst/>
          </a:prstGeom>
          <a:noFill/>
          <a:ln/>
        </p:spPr>
        <p:txBody>
          <a:bodyPr wrap="square" rtlCol="0" anchor="t"/>
          <a:lstStyle/>
          <a:p>
            <a:pPr indent="0" marL="0">
              <a:buNone/>
            </a:pPr>
            <a:r>
              <a:rPr lang="en-US" sz="1400" b="1" dirty="0">
                <a:solidFill>
                  <a:srgbClr val="1D1D1D"/>
                </a:solidFill>
                <a:latin typeface="Nunito" pitchFamily="34" charset="0"/>
                <a:ea typeface="Nunito" pitchFamily="34" charset="-122"/>
                <a:cs typeface="Nunito" pitchFamily="34" charset="-120"/>
              </a:rPr>
              <a:t>Thin adapters</a:t>
            </a:r>
            <a:endParaRPr lang="en-US" sz="1400" dirty="0"/>
          </a:p>
        </p:txBody>
      </p:sp>
      <p:sp>
        <p:nvSpPr>
          <p:cNvPr id="8" name="Text 6"/>
          <p:cNvSpPr/>
          <p:nvPr/>
        </p:nvSpPr>
        <p:spPr>
          <a:xfrm>
            <a:off x="841248" y="3449269"/>
            <a:ext cx="3026664" cy="1133856"/>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API routes and pages just parse, guard, and call one function.</a:t>
            </a:r>
            <a:endParaRPr lang="en-US" sz="1300" dirty="0"/>
          </a:p>
        </p:txBody>
      </p:sp>
      <p:sp>
        <p:nvSpPr>
          <p:cNvPr id="9" name="Shape 7"/>
          <p:cNvSpPr/>
          <p:nvPr/>
        </p:nvSpPr>
        <p:spPr>
          <a:xfrm>
            <a:off x="4343400" y="2809189"/>
            <a:ext cx="3429000" cy="1920240"/>
          </a:xfrm>
          <a:prstGeom prst="roundRect">
            <a:avLst>
              <a:gd name="adj" fmla="val 4762"/>
            </a:avLst>
          </a:prstGeom>
          <a:solidFill>
            <a:srgbClr val="2EC4B6"/>
          </a:solidFill>
          <a:ln w="28575">
            <a:solidFill>
              <a:srgbClr val="1D1D1D"/>
            </a:solidFill>
            <a:prstDash val="solid"/>
          </a:ln>
          <a:effectLst>
            <a:outerShdw sx="100000" sy="100000" kx="0" ky="0" algn="bl" rotWithShape="0" blurRad="5.079143146430607e+111" dist="3.491910913171043e+111" dir="4.605706660848612e+130">
              <a:srgbClr val="1D1D1D">
                <a:alpha val="1e+135"/>
              </a:srgbClr>
            </a:outerShdw>
          </a:effectLst>
        </p:spPr>
      </p:sp>
      <p:sp>
        <p:nvSpPr>
          <p:cNvPr id="10" name="Text 8"/>
          <p:cNvSpPr/>
          <p:nvPr/>
        </p:nvSpPr>
        <p:spPr>
          <a:xfrm>
            <a:off x="4544568" y="2973781"/>
            <a:ext cx="3026664" cy="457200"/>
          </a:xfrm>
          <a:prstGeom prst="rect">
            <a:avLst/>
          </a:prstGeom>
          <a:noFill/>
          <a:ln/>
        </p:spPr>
        <p:txBody>
          <a:bodyPr wrap="square" rtlCol="0" anchor="t"/>
          <a:lstStyle/>
          <a:p>
            <a:pPr indent="0" marL="0">
              <a:buNone/>
            </a:pPr>
            <a:r>
              <a:rPr lang="en-US" sz="1400" b="1" dirty="0">
                <a:solidFill>
                  <a:srgbClr val="1D1D1D"/>
                </a:solidFill>
                <a:latin typeface="Nunito" pitchFamily="34" charset="0"/>
                <a:ea typeface="Nunito" pitchFamily="34" charset="-122"/>
                <a:cs typeface="Nunito" pitchFamily="34" charset="-120"/>
              </a:rPr>
              <a:t>All the logic</a:t>
            </a:r>
            <a:endParaRPr lang="en-US" sz="1400" dirty="0"/>
          </a:p>
        </p:txBody>
      </p:sp>
      <p:sp>
        <p:nvSpPr>
          <p:cNvPr id="11" name="Text 9"/>
          <p:cNvSpPr/>
          <p:nvPr/>
        </p:nvSpPr>
        <p:spPr>
          <a:xfrm>
            <a:off x="4544568" y="3449269"/>
            <a:ext cx="3026664" cy="1133856"/>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Lives in plain functions that know nothing about the web framework.</a:t>
            </a:r>
            <a:endParaRPr lang="en-US" sz="1300" dirty="0"/>
          </a:p>
        </p:txBody>
      </p:sp>
      <p:sp>
        <p:nvSpPr>
          <p:cNvPr id="12" name="Shape 10"/>
          <p:cNvSpPr/>
          <p:nvPr/>
        </p:nvSpPr>
        <p:spPr>
          <a:xfrm>
            <a:off x="8046720" y="2809189"/>
            <a:ext cx="3429000" cy="1920240"/>
          </a:xfrm>
          <a:prstGeom prst="roundRect">
            <a:avLst>
              <a:gd name="adj" fmla="val 4762"/>
            </a:avLst>
          </a:prstGeom>
          <a:solidFill>
            <a:srgbClr val="FFBF00"/>
          </a:solidFill>
          <a:ln w="28575">
            <a:solidFill>
              <a:srgbClr val="1D1D1D"/>
            </a:solidFill>
            <a:prstDash val="solid"/>
          </a:ln>
          <a:effectLst>
            <a:outerShdw sx="100000" sy="100000" kx="0" ky="0" algn="bl" rotWithShape="0" blurRad="6.450511795966871e+115" dist="4.434726859727225e+115" dir="2.763423996509167e+135">
              <a:srgbClr val="1D1D1D">
                <a:alpha val="1e+140"/>
              </a:srgbClr>
            </a:outerShdw>
          </a:effectLst>
        </p:spPr>
      </p:sp>
      <p:sp>
        <p:nvSpPr>
          <p:cNvPr id="13" name="Text 11"/>
          <p:cNvSpPr/>
          <p:nvPr/>
        </p:nvSpPr>
        <p:spPr>
          <a:xfrm>
            <a:off x="8247888" y="2973781"/>
            <a:ext cx="3026664" cy="457200"/>
          </a:xfrm>
          <a:prstGeom prst="rect">
            <a:avLst/>
          </a:prstGeom>
          <a:noFill/>
          <a:ln/>
        </p:spPr>
        <p:txBody>
          <a:bodyPr wrap="square" rtlCol="0" anchor="t"/>
          <a:lstStyle/>
          <a:p>
            <a:pPr indent="0" marL="0">
              <a:buNone/>
            </a:pPr>
            <a:r>
              <a:rPr lang="en-US" sz="1400" b="1" dirty="0">
                <a:solidFill>
                  <a:srgbClr val="1D1D1D"/>
                </a:solidFill>
                <a:latin typeface="Nunito" pitchFamily="34" charset="0"/>
                <a:ea typeface="Nunito" pitchFamily="34" charset="-122"/>
                <a:cs typeface="Nunito" pitchFamily="34" charset="-120"/>
              </a:rPr>
              <a:t>One database</a:t>
            </a:r>
            <a:endParaRPr lang="en-US" sz="1400" dirty="0"/>
          </a:p>
        </p:txBody>
      </p:sp>
      <p:sp>
        <p:nvSpPr>
          <p:cNvPr id="14" name="Text 12"/>
          <p:cNvSpPr/>
          <p:nvPr/>
        </p:nvSpPr>
        <p:spPr>
          <a:xfrm>
            <a:off x="8247888" y="3449269"/>
            <a:ext cx="3026664" cy="1133856"/>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A single SQLite file today, with one file that would need to change to move to Postgres.</a:t>
            </a:r>
            <a:endParaRPr lang="en-US" sz="1300" dirty="0"/>
          </a:p>
        </p:txBody>
      </p:sp>
      <p:sp>
        <p:nvSpPr>
          <p:cNvPr id="15" name="Text 13"/>
          <p:cNvSpPr/>
          <p:nvPr/>
        </p:nvSpPr>
        <p:spPr>
          <a:xfrm>
            <a:off x="640080" y="4967173"/>
            <a:ext cx="10908792" cy="1250251"/>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This is a real, deliberate trade-off, not a shortcut we’re hiding: it means the whole system starts from a fresh clone with two commands, which is exactly what let every flow here be verified before you ever saw it.</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34 / 55</a:t>
            </a:r>
            <a:endParaRPr lang="en-US" sz="1000" dirty="0"/>
          </a:p>
        </p:txBody>
      </p:sp>
      <p:sp>
        <p:nvSpPr>
          <p:cNvPr id="4" name="Text 2"/>
          <p:cNvSpPr/>
          <p:nvPr/>
        </p:nvSpPr>
        <p:spPr>
          <a:xfrm>
            <a:off x="640080" y="502920"/>
            <a:ext cx="594360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FOR THE TECHNICAL JUDGES — WHY IT MATTERS HERE</a:t>
            </a:r>
            <a:endParaRPr lang="en-US" sz="1100" dirty="0"/>
          </a:p>
        </p:txBody>
      </p:sp>
      <p:sp>
        <p:nvSpPr>
          <p:cNvPr id="5" name="Text 3"/>
          <p:cNvSpPr/>
          <p:nvPr/>
        </p:nvSpPr>
        <p:spPr>
          <a:xfrm>
            <a:off x="640080" y="105156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Every infrastructure choice was made against a </a:t>
            </a:r>
            <a:pPr algn="l" indent="0" marL="0">
              <a:lnSpc>
                <a:spcPct val="105000"/>
              </a:lnSpc>
              <a:buNone/>
            </a:pPr>
            <a:r>
              <a:rPr lang="en-US" sz="3800" b="1" dirty="0">
                <a:solidFill>
                  <a:srgbClr val="1D1D1D"/>
                </a:solidFill>
                <a:highlight>
                  <a:srgbClr val="2EC4B6"/>
                </a:highlight>
                <a:latin typeface="Baloo 2" pitchFamily="34" charset="0"/>
                <a:ea typeface="Baloo 2" pitchFamily="34" charset="-122"/>
                <a:cs typeface="Baloo 2" pitchFamily="34" charset="-120"/>
              </a:rPr>
              <a:t>2G phone</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not a demo laptop.</a:t>
            </a:r>
            <a:endParaRPr lang="en-US" sz="3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2672029"/>
          <a:ext cx="10908792" cy="914400"/>
        </p:xfrm>
        <a:graphic>
          <a:graphicData uri="http://schemas.openxmlformats.org/drawingml/2006/table">
            <a:tbl>
              <a:tblPr/>
              <a:tblGrid>
                <a:gridCol w="3657600"/>
                <a:gridCol w="7251192"/>
              </a:tblGrid>
              <a:tr h="502920">
                <a:tc>
                  <a:txBody>
                    <a:bodyPr/>
                    <a:lstStyle/>
                    <a:p>
                      <a:pPr algn="l" indent="0" marL="0">
                        <a:buNone/>
                      </a:pPr>
                      <a:r>
                        <a:rPr lang="en-US" sz="1100" b="1" dirty="0">
                          <a:solidFill>
                            <a:srgbClr val="FFF6E9"/>
                          </a:solidFill>
                          <a:latin typeface="Baloo 2" pitchFamily="34" charset="0"/>
                          <a:ea typeface="Baloo 2" pitchFamily="34" charset="-122"/>
                          <a:cs typeface="Baloo 2" pitchFamily="34" charset="-120"/>
                        </a:rPr>
                        <a:t>Choice</a:t>
                      </a:r>
                      <a:endParaRPr lang="en-US" sz="1100" dirty="0">
                        <a:latin typeface="Baloo 2" charset="0"/>
                        <a:ea typeface="Baloo 2" charset="0"/>
                        <a:cs typeface="Baloo 2"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1D1D1D"/>
                    </a:solidFill>
                  </a:tcPr>
                </a:tc>
                <a:tc>
                  <a:txBody>
                    <a:bodyPr/>
                    <a:lstStyle/>
                    <a:p>
                      <a:pPr algn="l" indent="0" marL="0">
                        <a:buNone/>
                      </a:pPr>
                      <a:r>
                        <a:rPr lang="en-US" sz="1100" b="1" dirty="0">
                          <a:solidFill>
                            <a:srgbClr val="FFF6E9"/>
                          </a:solidFill>
                          <a:latin typeface="Baloo 2" pitchFamily="34" charset="0"/>
                          <a:ea typeface="Baloo 2" pitchFamily="34" charset="-122"/>
                          <a:cs typeface="Baloo 2" pitchFamily="34" charset="-120"/>
                        </a:rPr>
                        <a:t>Why it matters on the ground</a:t>
                      </a:r>
                      <a:endParaRPr lang="en-US" sz="1100" dirty="0">
                        <a:latin typeface="Baloo 2" charset="0"/>
                        <a:ea typeface="Baloo 2" charset="0"/>
                        <a:cs typeface="Baloo 2"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1D1D1D"/>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No map library, tiles proxied by our own server</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dirty="0">
                          <a:solidFill>
                            <a:srgbClr val="332F2A"/>
                          </a:solidFill>
                          <a:latin typeface="Nunito" pitchFamily="34" charset="0"/>
                          <a:ea typeface="Nunito" pitchFamily="34" charset="-122"/>
                          <a:cs typeface="Nunito" pitchFamily="34" charset="-120"/>
                        </a:rPr>
                        <a:t>No third-party origin ever sees a citizen’s location just for looking up a legal aid office</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OpenStreetMap, not a paid map API</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dirty="0">
                          <a:solidFill>
                            <a:srgbClr val="332F2A"/>
                          </a:solidFill>
                          <a:latin typeface="Nunito" pitchFamily="34" charset="0"/>
                          <a:ea typeface="Nunito" pitchFamily="34" charset="-122"/>
                          <a:cs typeface="Nunito" pitchFamily="34" charset="-120"/>
                        </a:rPr>
                        <a:t>No per-request billing risk as usage grows across a whole country</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Server-side voice transcription</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dirty="0">
                          <a:solidFill>
                            <a:srgbClr val="332F2A"/>
                          </a:solidFill>
                          <a:latin typeface="Nunito" pitchFamily="34" charset="0"/>
                          <a:ea typeface="Nunito" pitchFamily="34" charset="-122"/>
                          <a:cs typeface="Nunito" pitchFamily="34" charset="-120"/>
                        </a:rPr>
                        <a:t>Works identically on Firefox and old Android WebViews, not just Chrome</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SQLite today, Postgres-ready</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dirty="0">
                          <a:solidFill>
                            <a:srgbClr val="332F2A"/>
                          </a:solidFill>
                          <a:latin typeface="Nunito" pitchFamily="34" charset="0"/>
                          <a:ea typeface="Nunito" pitchFamily="34" charset="-122"/>
                          <a:cs typeface="Nunito" pitchFamily="34" charset="-120"/>
                        </a:rPr>
                        <a:t>Runs with zero installed services, so a partner’s team can actually stand it up</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Deployed on Cloudflare’s edge network</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dirty="0">
                          <a:solidFill>
                            <a:srgbClr val="332F2A"/>
                          </a:solidFill>
                          <a:latin typeface="Nunito" pitchFamily="34" charset="0"/>
                          <a:ea typeface="Nunito" pitchFamily="34" charset="-122"/>
                          <a:cs typeface="Nunito" pitchFamily="34" charset="-120"/>
                        </a:rPr>
                        <a:t>Affordable at scale, and fast from wherever in Bangladesh someone opens it</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35 / 55</a:t>
            </a:r>
            <a:endParaRPr lang="en-US" sz="1000" dirty="0"/>
          </a:p>
        </p:txBody>
      </p:sp>
      <p:sp>
        <p:nvSpPr>
          <p:cNvPr id="4" name="Text 2"/>
          <p:cNvSpPr/>
          <p:nvPr/>
        </p:nvSpPr>
        <p:spPr>
          <a:xfrm>
            <a:off x="640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BUILT FOR BANGLADESH — LANGUAGE</a:t>
            </a:r>
            <a:endParaRPr lang="en-US" sz="1100" dirty="0"/>
          </a:p>
        </p:txBody>
      </p:sp>
      <p:sp>
        <p:nvSpPr>
          <p:cNvPr id="5" name="Text 3"/>
          <p:cNvSpPr/>
          <p:nvPr/>
        </p:nvSpPr>
        <p:spPr>
          <a:xfrm>
            <a:off x="640080" y="1042416"/>
            <a:ext cx="6309360"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Bangla first. Not Bangla </a:t>
            </a:r>
            <a:pPr algn="l"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bolted on.</a:t>
            </a:r>
            <a:endParaRPr lang="en-US" sz="3800" dirty="0"/>
          </a:p>
        </p:txBody>
      </p:sp>
      <p:sp>
        <p:nvSpPr>
          <p:cNvPr id="6" name="Text 4"/>
          <p:cNvSpPr/>
          <p:nvPr/>
        </p:nvSpPr>
        <p:spPr>
          <a:xfrm>
            <a:off x="640080" y="2662885"/>
            <a:ext cx="6309360" cy="3090164"/>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Every string in the product exists as a matched Bangla/English pair — a translation that’s missing its other half fails to even compile. Bangla text gets its own type rules: taller line spacing, larger sizing, no forced italics (Bangla script doesn’t really have one), and the exact OpenType features that let conjunct letters render correctly. This isn’t a checkbox; it’s structural.</a:t>
            </a:r>
            <a:endParaRPr lang="en-US" sz="1900" dirty="0"/>
          </a:p>
        </p:txBody>
      </p:sp>
      <p:sp>
        <p:nvSpPr>
          <p:cNvPr id="7" name="Shape 5"/>
          <p:cNvSpPr/>
          <p:nvPr/>
        </p:nvSpPr>
        <p:spPr>
          <a:xfrm>
            <a:off x="7762457" y="438912"/>
            <a:ext cx="2854527" cy="6071616"/>
          </a:xfrm>
          <a:prstGeom prst="roundRect">
            <a:avLst>
              <a:gd name="adj" fmla="val 5125"/>
            </a:avLst>
          </a:prstGeom>
          <a:solidFill>
            <a:srgbClr val="1D1D1D"/>
          </a:solidFill>
          <a:ln/>
          <a:effectLst>
            <a:outerShdw sx="100000" sy="100000" kx="0" ky="0" algn="bl" rotWithShape="0" blurRad="1.2105092908437327e+87" dist="1.3618229521991992e+87" dir="9.871627788170037e+101">
              <a:srgbClr val="1D1D1D">
                <a:alpha val="9.999999999999998e+104"/>
              </a:srgbClr>
            </a:outerShdw>
          </a:effectLst>
        </p:spPr>
      </p:sp>
      <p:pic>
        <p:nvPicPr>
          <p:cNvPr id="8" name="Image 0" descr="C:\Users\TL-77057\Downloads\AccessAI\screenshots\03-chat-bn-response.jpg">    </p:cNvPr>
          <p:cNvPicPr>
            <a:picLocks noChangeAspect="1"/>
          </p:cNvPicPr>
          <p:nvPr/>
        </p:nvPicPr>
        <p:blipFill>
          <a:blip r:embed="rId1"/>
          <a:stretch>
            <a:fillRect/>
          </a:stretch>
        </p:blipFill>
        <p:spPr>
          <a:xfrm>
            <a:off x="7872185" y="548640"/>
            <a:ext cx="2635071" cy="585216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36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BUILT FOR BANGLADESH — GOVERNANCE</a:t>
            </a:r>
            <a:endParaRPr lang="en-US" sz="1100" dirty="0"/>
          </a:p>
        </p:txBody>
      </p:sp>
      <p:sp>
        <p:nvSpPr>
          <p:cNvPr id="5" name="Text 3"/>
          <p:cNvSpPr/>
          <p:nvPr/>
        </p:nvSpPr>
        <p:spPr>
          <a:xfrm>
            <a:off x="5212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Modelled on the government structure that </a:t>
            </a:r>
            <a:pPr algn="l"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already exists.</a:t>
            </a:r>
            <a:endParaRPr lang="en-US" sz="3800" dirty="0"/>
          </a:p>
        </p:txBody>
      </p:sp>
      <p:sp>
        <p:nvSpPr>
          <p:cNvPr id="6" name="Text 4"/>
          <p:cNvSpPr/>
          <p:nvPr/>
        </p:nvSpPr>
        <p:spPr>
          <a:xfrm>
            <a:off x="5212080" y="3281096"/>
            <a:ext cx="6309360" cy="3090164"/>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Union Parishad, Upazila, Zila — the civic layer’s roles map onto Bangladesh’s real local government tiers, not an invented hierarchy. And the back office is just as honest as the citizen side: this real screen states plainly that 42 of 42 sample programmes aren’t yet verified, and their confidence is capped accordingly — nothing here is presented as more certain than it is.</a:t>
            </a:r>
            <a:endParaRPr lang="en-US" sz="1900" dirty="0"/>
          </a:p>
        </p:txBody>
      </p:sp>
      <p:sp>
        <p:nvSpPr>
          <p:cNvPr id="7" name="Shape 5"/>
          <p:cNvSpPr/>
          <p:nvPr/>
        </p:nvSpPr>
        <p:spPr>
          <a:xfrm>
            <a:off x="438912" y="2379155"/>
            <a:ext cx="4425696" cy="2191131"/>
          </a:xfrm>
          <a:prstGeom prst="roundRect">
            <a:avLst>
              <a:gd name="adj" fmla="val 6677"/>
            </a:avLst>
          </a:prstGeom>
          <a:solidFill>
            <a:srgbClr val="1D1D1D"/>
          </a:solidFill>
          <a:ln/>
          <a:effectLst>
            <a:outerShdw sx="100000" sy="100000" kx="0" ky="0" algn="bl" rotWithShape="0" blurRad="1.5373467993715405e+91" dist="1.729515149292983e+91" dir="5.9229766729020215e+106">
              <a:srgbClr val="1D1D1D">
                <a:alpha val="9.999999999999999e+109"/>
              </a:srgbClr>
            </a:outerShdw>
          </a:effectLst>
        </p:spPr>
      </p:sp>
      <p:pic>
        <p:nvPicPr>
          <p:cNvPr id="8" name="Image 0" descr="C:\Users\TL-77057\Downloads\AccessAI\screenshots\16-admin-overview-health.jpg">    </p:cNvPr>
          <p:cNvPicPr>
            <a:picLocks noChangeAspect="1"/>
          </p:cNvPicPr>
          <p:nvPr/>
        </p:nvPicPr>
        <p:blipFill>
          <a:blip r:embed="rId1"/>
          <a:stretch>
            <a:fillRect/>
          </a:stretch>
        </p:blipFill>
        <p:spPr>
          <a:xfrm>
            <a:off x="548640" y="2488883"/>
            <a:ext cx="4206240" cy="19716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37 / 55</a:t>
            </a:r>
            <a:endParaRPr lang="en-US" sz="1000" dirty="0"/>
          </a:p>
        </p:txBody>
      </p:sp>
      <p:sp>
        <p:nvSpPr>
          <p:cNvPr id="4" name="Text 2"/>
          <p:cNvSpPr/>
          <p:nvPr/>
        </p:nvSpPr>
        <p:spPr>
          <a:xfrm>
            <a:off x="640080" y="50292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WHAT ACTUALLY CHANGES</a:t>
            </a:r>
            <a:endParaRPr lang="en-US" sz="1100" dirty="0"/>
          </a:p>
        </p:txBody>
      </p:sp>
      <p:sp>
        <p:nvSpPr>
          <p:cNvPr id="5" name="Text 3"/>
          <p:cNvSpPr/>
          <p:nvPr/>
        </p:nvSpPr>
        <p:spPr>
          <a:xfrm>
            <a:off x="640080" y="1051560"/>
            <a:ext cx="10908792" cy="76451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Before this exists. After it does.</a:t>
            </a:r>
            <a:endParaRPr lang="en-US" sz="3800" dirty="0"/>
          </a:p>
        </p:txBody>
      </p:sp>
      <p:sp>
        <p:nvSpPr>
          <p:cNvPr id="6" name="Shape 4"/>
          <p:cNvSpPr/>
          <p:nvPr/>
        </p:nvSpPr>
        <p:spPr>
          <a:xfrm>
            <a:off x="640080" y="2145259"/>
            <a:ext cx="5212080" cy="4346981"/>
          </a:xfrm>
          <a:prstGeom prst="roundRect">
            <a:avLst>
              <a:gd name="adj" fmla="val 2104"/>
            </a:avLst>
          </a:prstGeom>
          <a:solidFill>
            <a:srgbClr val="FFFFFF"/>
          </a:solidFill>
          <a:ln w="31750">
            <a:solidFill>
              <a:srgbClr val="1D1D1D"/>
            </a:solidFill>
            <a:prstDash val="solid"/>
          </a:ln>
          <a:effectLst>
            <a:outerShdw sx="100000" sy="100000" kx="0" ky="0" algn="bl" rotWithShape="0" blurRad="8.192149980877925e+119" dist="5.6321031118535756e+119" dir="1.6580543979055002e+140">
              <a:srgbClr val="1D1D1D">
                <a:alpha val="1.0000000000000001e+145"/>
              </a:srgbClr>
            </a:outerShdw>
          </a:effectLst>
        </p:spPr>
      </p:sp>
      <p:sp>
        <p:nvSpPr>
          <p:cNvPr id="7" name="Text 5"/>
          <p:cNvSpPr/>
          <p:nvPr/>
        </p:nvSpPr>
        <p:spPr>
          <a:xfrm>
            <a:off x="868680" y="2328139"/>
            <a:ext cx="1463040" cy="365760"/>
          </a:xfrm>
          <a:prstGeom prst="roundRect">
            <a:avLst>
              <a:gd name="adj" fmla="val 125000"/>
            </a:avLst>
          </a:prstGeom>
          <a:solidFill>
            <a:srgbClr val="FFFFFF"/>
          </a:solidFill>
          <a:ln w="25400">
            <a:solidFill>
              <a:srgbClr val="1D1D1D"/>
            </a:solidFill>
          </a:ln>
          <a:effectLst>
            <a:outerShdw sx="100000" sy="100000" kx="0" ky="0" algn="bl" rotWithShape="0" blurRad="1.0404030475714965e+124" dist="7.15277095205404e+123" dir="9.948326387433002e+144">
              <a:srgbClr val="1D1D1D">
                <a:alpha val="1.0000000000000002e+150"/>
              </a:srgbClr>
            </a:outerShdw>
          </a:effectLst>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BEFORE</a:t>
            </a:r>
            <a:endParaRPr lang="en-US" sz="1100" dirty="0"/>
          </a:p>
        </p:txBody>
      </p:sp>
      <p:sp>
        <p:nvSpPr>
          <p:cNvPr id="8" name="Text 6"/>
          <p:cNvSpPr/>
          <p:nvPr/>
        </p:nvSpPr>
        <p:spPr>
          <a:xfrm>
            <a:off x="868680" y="2922499"/>
            <a:ext cx="4754880" cy="3432581"/>
          </a:xfrm>
          <a:prstGeom prst="rect">
            <a:avLst/>
          </a:prstGeom>
          <a:noFill/>
          <a:ln/>
        </p:spPr>
        <p:txBody>
          <a:bodyPr wrap="square" rtlCol="0" anchor="t"/>
          <a:lstStyle/>
          <a:p>
            <a:pPr marL="342900" indent="-342900">
              <a:lnSpc>
                <a:spcPct val="155000"/>
              </a:lnSpc>
              <a:buSzPct val="100000"/>
              <a:buChar char="▪"/>
            </a:pPr>
            <a:r>
              <a:rPr lang="en-US" sz="1450" dirty="0">
                <a:solidFill>
                  <a:srgbClr val="332F2A"/>
                </a:solidFill>
                <a:latin typeface="Nunito" pitchFamily="34" charset="0"/>
                <a:ea typeface="Nunito" pitchFamily="34" charset="-122"/>
                <a:cs typeface="Nunito" pitchFamily="34" charset="-120"/>
              </a:rPr>
              <a:t>No idea what she qualifies for, or why
</a:t>
            </a:r>
            <a:pPr indent="0" marL="0">
              <a:lnSpc>
                <a:spcPct val="155000"/>
              </a:lnSpc>
              <a:buNone/>
            </a:pPr>
            <a:r>
              <a:rPr lang="en-US" sz="1450" dirty="0">
                <a:solidFill>
                  <a:srgbClr val="332F2A"/>
                </a:solidFill>
                <a:latin typeface="Nunito" pitchFamily="34" charset="0"/>
                <a:ea typeface="Nunito" pitchFamily="34" charset="-122"/>
                <a:cs typeface="Nunito" pitchFamily="34" charset="-120"/>
              </a:rPr>
              <a:t>A “no” with no reason and no next step
</a:t>
            </a:r>
            <a:pPr indent="0" marL="0">
              <a:lnSpc>
                <a:spcPct val="155000"/>
              </a:lnSpc>
              <a:buNone/>
            </a:pPr>
            <a:r>
              <a:rPr lang="en-US" sz="1450" dirty="0">
                <a:solidFill>
                  <a:srgbClr val="332F2A"/>
                </a:solidFill>
                <a:latin typeface="Nunito" pitchFamily="34" charset="0"/>
                <a:ea typeface="Nunito" pitchFamily="34" charset="-122"/>
                <a:cs typeface="Nunito" pitchFamily="34" charset="-120"/>
              </a:rPr>
              <a:t>A benefit application that quietly stalls
</a:t>
            </a:r>
            <a:pPr indent="0" marL="0">
              <a:lnSpc>
                <a:spcPct val="155000"/>
              </a:lnSpc>
              <a:buNone/>
            </a:pPr>
            <a:r>
              <a:rPr lang="en-US" sz="1450" dirty="0">
                <a:solidFill>
                  <a:srgbClr val="332F2A"/>
                </a:solidFill>
                <a:latin typeface="Nunito" pitchFamily="34" charset="0"/>
                <a:ea typeface="Nunito" pitchFamily="34" charset="-122"/>
                <a:cs typeface="Nunito" pitchFamily="34" charset="-120"/>
              </a:rPr>
              <a:t>A budget she has no way to see
</a:t>
            </a:r>
            <a:pPr indent="0" marL="0">
              <a:lnSpc>
                <a:spcPct val="155000"/>
              </a:lnSpc>
              <a:buNone/>
            </a:pPr>
            <a:r>
              <a:rPr lang="en-US" sz="1450" dirty="0">
                <a:solidFill>
                  <a:srgbClr val="332F2A"/>
                </a:solidFill>
                <a:latin typeface="Nunito" pitchFamily="34" charset="0"/>
                <a:ea typeface="Nunito" pitchFamily="34" charset="-122"/>
                <a:cs typeface="Nunito" pitchFamily="34" charset="-120"/>
              </a:rPr>
              <a:t>A complaint with nowhere real to go</a:t>
            </a:r>
            <a:endParaRPr lang="en-US" sz="1450" dirty="0"/>
          </a:p>
        </p:txBody>
      </p:sp>
      <p:sp>
        <p:nvSpPr>
          <p:cNvPr id="9" name="Shape 7"/>
          <p:cNvSpPr/>
          <p:nvPr/>
        </p:nvSpPr>
        <p:spPr>
          <a:xfrm>
            <a:off x="6126480" y="2145259"/>
            <a:ext cx="5212080" cy="4346981"/>
          </a:xfrm>
          <a:prstGeom prst="roundRect">
            <a:avLst>
              <a:gd name="adj" fmla="val 2104"/>
            </a:avLst>
          </a:prstGeom>
          <a:solidFill>
            <a:srgbClr val="2EC4B6"/>
          </a:solidFill>
          <a:ln w="31750">
            <a:solidFill>
              <a:srgbClr val="1D1D1D"/>
            </a:solidFill>
            <a:prstDash val="solid"/>
          </a:ln>
          <a:effectLst>
            <a:outerShdw sx="100000" sy="100000" kx="0" ky="0" algn="bl" rotWithShape="0" blurRad="1.3213118704158005e+128" dist="9.084019109108631e+127" dir="5.968995832459801e+149">
              <a:srgbClr val="1D1D1D">
                <a:alpha val="1.0000000000000001e+155"/>
              </a:srgbClr>
            </a:outerShdw>
          </a:effectLst>
        </p:spPr>
      </p:sp>
      <p:sp>
        <p:nvSpPr>
          <p:cNvPr id="10" name="Text 8"/>
          <p:cNvSpPr/>
          <p:nvPr/>
        </p:nvSpPr>
        <p:spPr>
          <a:xfrm>
            <a:off x="6355080" y="2328139"/>
            <a:ext cx="1463040" cy="365760"/>
          </a:xfrm>
          <a:prstGeom prst="roundRect">
            <a:avLst>
              <a:gd name="adj" fmla="val 125000"/>
            </a:avLst>
          </a:prstGeom>
          <a:solidFill>
            <a:srgbClr val="1D1D1D"/>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AFTER</a:t>
            </a:r>
            <a:endParaRPr lang="en-US" sz="1100" dirty="0"/>
          </a:p>
        </p:txBody>
      </p:sp>
      <p:sp>
        <p:nvSpPr>
          <p:cNvPr id="11" name="Text 9"/>
          <p:cNvSpPr/>
          <p:nvPr/>
        </p:nvSpPr>
        <p:spPr>
          <a:xfrm>
            <a:off x="6355080" y="2922499"/>
            <a:ext cx="4754880" cy="3432581"/>
          </a:xfrm>
          <a:prstGeom prst="rect">
            <a:avLst/>
          </a:prstGeom>
          <a:noFill/>
          <a:ln/>
        </p:spPr>
        <p:txBody>
          <a:bodyPr wrap="square" rtlCol="0" anchor="t"/>
          <a:lstStyle/>
          <a:p>
            <a:pPr marL="342900" indent="-342900">
              <a:lnSpc>
                <a:spcPct val="155000"/>
              </a:lnSpc>
              <a:buSzPct val="100000"/>
              <a:buChar char="▪"/>
            </a:pPr>
            <a:r>
              <a:rPr lang="en-US" sz="1450" dirty="0">
                <a:solidFill>
                  <a:srgbClr val="1D1D1D"/>
                </a:solidFill>
                <a:latin typeface="Nunito" pitchFamily="34" charset="0"/>
                <a:ea typeface="Nunito" pitchFamily="34" charset="-122"/>
                <a:cs typeface="Nunito" pitchFamily="34" charset="-120"/>
              </a:rPr>
              <a:t>A clear yes / partial / no / not yet — always with a reason
</a:t>
            </a:r>
            <a:pPr indent="0" marL="0">
              <a:lnSpc>
                <a:spcPct val="155000"/>
              </a:lnSpc>
              <a:buNone/>
            </a:pPr>
            <a:r>
              <a:rPr lang="en-US" sz="1450" dirty="0">
                <a:solidFill>
                  <a:srgbClr val="1D1D1D"/>
                </a:solidFill>
                <a:latin typeface="Nunito" pitchFamily="34" charset="0"/>
                <a:ea typeface="Nunito" pitchFamily="34" charset="-122"/>
                <a:cs typeface="Nunito" pitchFamily="34" charset="-120"/>
              </a:rPr>
              <a:t>The nearest programmes she actually does qualify for
</a:t>
            </a:r>
            <a:pPr indent="0" marL="0">
              <a:lnSpc>
                <a:spcPct val="155000"/>
              </a:lnSpc>
              <a:buNone/>
            </a:pPr>
            <a:r>
              <a:rPr lang="en-US" sz="1450" dirty="0">
                <a:solidFill>
                  <a:srgbClr val="1D1D1D"/>
                </a:solidFill>
                <a:latin typeface="Nunito" pitchFamily="34" charset="0"/>
                <a:ea typeface="Nunito" pitchFamily="34" charset="-122"/>
                <a:cs typeface="Nunito" pitchFamily="34" charset="-120"/>
              </a:rPr>
              <a:t>A checklist and deadlines that follow her
</a:t>
            </a:r>
            <a:pPr indent="0" marL="0">
              <a:lnSpc>
                <a:spcPct val="155000"/>
              </a:lnSpc>
              <a:buNone/>
            </a:pPr>
            <a:r>
              <a:rPr lang="en-US" sz="1450" dirty="0">
                <a:solidFill>
                  <a:srgbClr val="1D1D1D"/>
                </a:solidFill>
                <a:latin typeface="Nunito" pitchFamily="34" charset="0"/>
                <a:ea typeface="Nunito" pitchFamily="34" charset="-122"/>
                <a:cs typeface="Nunito" pitchFamily="34" charset="-120"/>
              </a:rPr>
              <a:t>A union budget she can see and flag
</a:t>
            </a:r>
            <a:pPr indent="0" marL="0">
              <a:lnSpc>
                <a:spcPct val="155000"/>
              </a:lnSpc>
              <a:buNone/>
            </a:pPr>
            <a:r>
              <a:rPr lang="en-US" sz="1450" dirty="0">
                <a:solidFill>
                  <a:srgbClr val="1D1D1D"/>
                </a:solidFill>
                <a:latin typeface="Nunito" pitchFamily="34" charset="0"/>
                <a:ea typeface="Nunito" pitchFamily="34" charset="-122"/>
                <a:cs typeface="Nunito" pitchFamily="34" charset="-120"/>
              </a:rPr>
              <a:t>A report that moves through a real, visible process</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5D7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38 / 55</a:t>
            </a:r>
            <a:endParaRPr lang="en-US" sz="1000" dirty="0"/>
          </a:p>
        </p:txBody>
      </p:sp>
      <p:sp>
        <p:nvSpPr>
          <p:cNvPr id="4" name="Text 2"/>
          <p:cNvSpPr/>
          <p:nvPr/>
        </p:nvSpPr>
        <p:spPr>
          <a:xfrm>
            <a:off x="640080" y="502920"/>
            <a:ext cx="329184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IS THIS REAL, OR A PITCH?</a:t>
            </a:r>
            <a:endParaRPr lang="en-US" sz="1100" dirty="0"/>
          </a:p>
        </p:txBody>
      </p:sp>
      <p:sp>
        <p:nvSpPr>
          <p:cNvPr id="5" name="Text 3"/>
          <p:cNvSpPr/>
          <p:nvPr/>
        </p:nvSpPr>
        <p:spPr>
          <a:xfrm>
            <a:off x="640080" y="105156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Every screen in this deck came from the </a:t>
            </a:r>
            <a:pPr algn="l"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running app.</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Nothing was drawn.</a:t>
            </a:r>
            <a:endParaRPr lang="en-US" sz="3800" dirty="0"/>
          </a:p>
        </p:txBody>
      </p:sp>
      <p:sp>
        <p:nvSpPr>
          <p:cNvPr id="6" name="Shape 4"/>
          <p:cNvSpPr/>
          <p:nvPr/>
        </p:nvSpPr>
        <p:spPr>
          <a:xfrm>
            <a:off x="640080" y="2946349"/>
            <a:ext cx="2514600" cy="1371600"/>
          </a:xfrm>
          <a:prstGeom prst="roundRect">
            <a:avLst>
              <a:gd name="adj" fmla="val 6667"/>
            </a:avLst>
          </a:prstGeom>
          <a:solidFill>
            <a:srgbClr val="F5E6CC"/>
          </a:solidFill>
          <a:ln w="28575">
            <a:solidFill>
              <a:srgbClr val="1D1D1D"/>
            </a:solidFill>
            <a:prstDash val="solid"/>
          </a:ln>
          <a:effectLst>
            <a:outerShdw sx="100000" sy="100000" kx="0" ky="0" algn="bl" rotWithShape="0" blurRad="1.6780660754280665e+132" dist="1.1536704268567961e+132" dir="3.581397499475881e+154">
              <a:srgbClr val="1D1D1D">
                <a:alpha val="1.0000000000000002e+160"/>
              </a:srgbClr>
            </a:outerShdw>
          </a:effectLst>
        </p:spPr>
      </p:sp>
      <p:sp>
        <p:nvSpPr>
          <p:cNvPr id="7" name="Text 5"/>
          <p:cNvSpPr/>
          <p:nvPr/>
        </p:nvSpPr>
        <p:spPr>
          <a:xfrm>
            <a:off x="640080" y="3083509"/>
            <a:ext cx="2514600" cy="685800"/>
          </a:xfrm>
          <a:prstGeom prst="rect">
            <a:avLst/>
          </a:prstGeom>
          <a:noFill/>
          <a:ln/>
        </p:spPr>
        <p:txBody>
          <a:bodyPr wrap="square" rtlCol="0" anchor="ctr"/>
          <a:lstStyle/>
          <a:p>
            <a:pPr algn="ctr" indent="0" marL="0">
              <a:buNone/>
            </a:pPr>
            <a:r>
              <a:rPr lang="en-US" sz="3000" b="1" dirty="0">
                <a:solidFill>
                  <a:srgbClr val="1D1D1D"/>
                </a:solidFill>
                <a:latin typeface="Baloo 2" pitchFamily="34" charset="0"/>
                <a:ea typeface="Baloo 2" pitchFamily="34" charset="-122"/>
                <a:cs typeface="Baloo 2" pitchFamily="34" charset="-120"/>
              </a:rPr>
              <a:t>47</a:t>
            </a:r>
            <a:endParaRPr lang="en-US" sz="3000" dirty="0"/>
          </a:p>
        </p:txBody>
      </p:sp>
      <p:sp>
        <p:nvSpPr>
          <p:cNvPr id="8" name="Text 6"/>
          <p:cNvSpPr/>
          <p:nvPr/>
        </p:nvSpPr>
        <p:spPr>
          <a:xfrm>
            <a:off x="731520" y="3769309"/>
            <a:ext cx="2331720" cy="457200"/>
          </a:xfrm>
          <a:prstGeom prst="rect">
            <a:avLst/>
          </a:prstGeom>
          <a:noFill/>
          <a:ln/>
        </p:spPr>
        <p:txBody>
          <a:bodyPr wrap="square" rtlCol="0" anchor="t"/>
          <a:lstStyle/>
          <a:p>
            <a:pPr algn="ctr" indent="0" marL="0">
              <a:buNone/>
            </a:pPr>
            <a:r>
              <a:rPr lang="en-US" sz="1100" b="1" dirty="0">
                <a:solidFill>
                  <a:srgbClr val="1D1D1D"/>
                </a:solidFill>
                <a:latin typeface="Nunito" pitchFamily="34" charset="0"/>
                <a:ea typeface="Nunito" pitchFamily="34" charset="-122"/>
                <a:cs typeface="Nunito" pitchFamily="34" charset="-120"/>
              </a:rPr>
              <a:t>database tables</a:t>
            </a:r>
            <a:endParaRPr lang="en-US" sz="1100" dirty="0"/>
          </a:p>
        </p:txBody>
      </p:sp>
      <p:sp>
        <p:nvSpPr>
          <p:cNvPr id="9" name="Shape 7"/>
          <p:cNvSpPr/>
          <p:nvPr/>
        </p:nvSpPr>
        <p:spPr>
          <a:xfrm>
            <a:off x="3364992" y="2946349"/>
            <a:ext cx="2514600" cy="1371600"/>
          </a:xfrm>
          <a:prstGeom prst="roundRect">
            <a:avLst>
              <a:gd name="adj" fmla="val 6667"/>
            </a:avLst>
          </a:prstGeom>
          <a:solidFill>
            <a:srgbClr val="F5E6CC"/>
          </a:solidFill>
          <a:ln w="28575">
            <a:solidFill>
              <a:srgbClr val="1D1D1D"/>
            </a:solidFill>
            <a:prstDash val="solid"/>
          </a:ln>
          <a:effectLst>
            <a:outerShdw sx="100000" sy="100000" kx="0" ky="0" algn="bl" rotWithShape="0" blurRad="2.1311439157936445e+136" dist="1.465161442108131e+136" dir="2.1488384996855287e+159">
              <a:srgbClr val="1D1D1D">
                <a:alpha val="1.0000000000000001e+165"/>
              </a:srgbClr>
            </a:outerShdw>
          </a:effectLst>
        </p:spPr>
      </p:sp>
      <p:sp>
        <p:nvSpPr>
          <p:cNvPr id="10" name="Text 8"/>
          <p:cNvSpPr/>
          <p:nvPr/>
        </p:nvSpPr>
        <p:spPr>
          <a:xfrm>
            <a:off x="3364992" y="3083509"/>
            <a:ext cx="2514600" cy="685800"/>
          </a:xfrm>
          <a:prstGeom prst="rect">
            <a:avLst/>
          </a:prstGeom>
          <a:noFill/>
          <a:ln/>
        </p:spPr>
        <p:txBody>
          <a:bodyPr wrap="square" rtlCol="0" anchor="ctr"/>
          <a:lstStyle/>
          <a:p>
            <a:pPr algn="ctr" indent="0" marL="0">
              <a:buNone/>
            </a:pPr>
            <a:r>
              <a:rPr lang="en-US" sz="3000" b="1" dirty="0">
                <a:solidFill>
                  <a:srgbClr val="1D1D1D"/>
                </a:solidFill>
                <a:latin typeface="Baloo 2" pitchFamily="34" charset="0"/>
                <a:ea typeface="Baloo 2" pitchFamily="34" charset="-122"/>
                <a:cs typeface="Baloo 2" pitchFamily="34" charset="-120"/>
              </a:rPr>
              <a:t>~44</a:t>
            </a:r>
            <a:endParaRPr lang="en-US" sz="3000" dirty="0"/>
          </a:p>
        </p:txBody>
      </p:sp>
      <p:sp>
        <p:nvSpPr>
          <p:cNvPr id="11" name="Text 9"/>
          <p:cNvSpPr/>
          <p:nvPr/>
        </p:nvSpPr>
        <p:spPr>
          <a:xfrm>
            <a:off x="3456432" y="3769309"/>
            <a:ext cx="2331720" cy="457200"/>
          </a:xfrm>
          <a:prstGeom prst="rect">
            <a:avLst/>
          </a:prstGeom>
          <a:noFill/>
          <a:ln/>
        </p:spPr>
        <p:txBody>
          <a:bodyPr wrap="square" rtlCol="0" anchor="t"/>
          <a:lstStyle/>
          <a:p>
            <a:pPr algn="ctr" indent="0" marL="0">
              <a:buNone/>
            </a:pPr>
            <a:r>
              <a:rPr lang="en-US" sz="1100" b="1" dirty="0">
                <a:solidFill>
                  <a:srgbClr val="1D1D1D"/>
                </a:solidFill>
                <a:latin typeface="Nunito" pitchFamily="34" charset="0"/>
                <a:ea typeface="Nunito" pitchFamily="34" charset="-122"/>
                <a:cs typeface="Nunito" pitchFamily="34" charset="-120"/>
              </a:rPr>
              <a:t>bilingual pages</a:t>
            </a:r>
            <a:endParaRPr lang="en-US" sz="1100" dirty="0"/>
          </a:p>
        </p:txBody>
      </p:sp>
      <p:sp>
        <p:nvSpPr>
          <p:cNvPr id="12" name="Shape 10"/>
          <p:cNvSpPr/>
          <p:nvPr/>
        </p:nvSpPr>
        <p:spPr>
          <a:xfrm>
            <a:off x="6089904" y="2946349"/>
            <a:ext cx="2514600" cy="1371600"/>
          </a:xfrm>
          <a:prstGeom prst="roundRect">
            <a:avLst>
              <a:gd name="adj" fmla="val 6667"/>
            </a:avLst>
          </a:prstGeom>
          <a:solidFill>
            <a:srgbClr val="F5E6CC"/>
          </a:solidFill>
          <a:ln w="28575">
            <a:solidFill>
              <a:srgbClr val="1D1D1D"/>
            </a:solidFill>
            <a:prstDash val="solid"/>
          </a:ln>
          <a:effectLst>
            <a:outerShdw sx="100000" sy="100000" kx="0" ky="0" algn="bl" rotWithShape="0" blurRad="2.7065527730579285e+140" dist="1.8607550314773265e+140" dir="1.2893030998113172e+164">
              <a:srgbClr val="1D1D1D">
                <a:alpha val="1.0000000000000002e+170"/>
              </a:srgbClr>
            </a:outerShdw>
          </a:effectLst>
        </p:spPr>
      </p:sp>
      <p:sp>
        <p:nvSpPr>
          <p:cNvPr id="13" name="Text 11"/>
          <p:cNvSpPr/>
          <p:nvPr/>
        </p:nvSpPr>
        <p:spPr>
          <a:xfrm>
            <a:off x="6089904" y="3083509"/>
            <a:ext cx="2514600" cy="685800"/>
          </a:xfrm>
          <a:prstGeom prst="rect">
            <a:avLst/>
          </a:prstGeom>
          <a:noFill/>
          <a:ln/>
        </p:spPr>
        <p:txBody>
          <a:bodyPr wrap="square" rtlCol="0" anchor="ctr"/>
          <a:lstStyle/>
          <a:p>
            <a:pPr algn="ctr" indent="0" marL="0">
              <a:buNone/>
            </a:pPr>
            <a:r>
              <a:rPr lang="en-US" sz="3000" b="1" dirty="0">
                <a:solidFill>
                  <a:srgbClr val="1D1D1D"/>
                </a:solidFill>
                <a:latin typeface="Baloo 2" pitchFamily="34" charset="0"/>
                <a:ea typeface="Baloo 2" pitchFamily="34" charset="-122"/>
                <a:cs typeface="Baloo 2" pitchFamily="34" charset="-120"/>
              </a:rPr>
              <a:t>58</a:t>
            </a:r>
            <a:endParaRPr lang="en-US" sz="3000" dirty="0"/>
          </a:p>
        </p:txBody>
      </p:sp>
      <p:sp>
        <p:nvSpPr>
          <p:cNvPr id="14" name="Text 12"/>
          <p:cNvSpPr/>
          <p:nvPr/>
        </p:nvSpPr>
        <p:spPr>
          <a:xfrm>
            <a:off x="6181344" y="3769309"/>
            <a:ext cx="2331720" cy="457200"/>
          </a:xfrm>
          <a:prstGeom prst="rect">
            <a:avLst/>
          </a:prstGeom>
          <a:noFill/>
          <a:ln/>
        </p:spPr>
        <p:txBody>
          <a:bodyPr wrap="square" rtlCol="0" anchor="t"/>
          <a:lstStyle/>
          <a:p>
            <a:pPr algn="ctr" indent="0" marL="0">
              <a:buNone/>
            </a:pPr>
            <a:r>
              <a:rPr lang="en-US" sz="1100" b="1" dirty="0">
                <a:solidFill>
                  <a:srgbClr val="1D1D1D"/>
                </a:solidFill>
                <a:latin typeface="Nunito" pitchFamily="34" charset="0"/>
                <a:ea typeface="Nunito" pitchFamily="34" charset="-122"/>
                <a:cs typeface="Nunito" pitchFamily="34" charset="-120"/>
              </a:rPr>
              <a:t>API route files</a:t>
            </a:r>
            <a:endParaRPr lang="en-US" sz="1100" dirty="0"/>
          </a:p>
        </p:txBody>
      </p:sp>
      <p:sp>
        <p:nvSpPr>
          <p:cNvPr id="15" name="Shape 13"/>
          <p:cNvSpPr/>
          <p:nvPr/>
        </p:nvSpPr>
        <p:spPr>
          <a:xfrm>
            <a:off x="8814816" y="2946349"/>
            <a:ext cx="2514600" cy="1371600"/>
          </a:xfrm>
          <a:prstGeom prst="roundRect">
            <a:avLst>
              <a:gd name="adj" fmla="val 6667"/>
            </a:avLst>
          </a:prstGeom>
          <a:solidFill>
            <a:srgbClr val="F5E6CC"/>
          </a:solidFill>
          <a:ln w="28575">
            <a:solidFill>
              <a:srgbClr val="1D1D1D"/>
            </a:solidFill>
            <a:prstDash val="solid"/>
          </a:ln>
          <a:effectLst>
            <a:outerShdw sx="100000" sy="100000" kx="0" ky="0" algn="bl" rotWithShape="0" blurRad="3.4373220217835694e+144" dist="2.3631588899762048e+144" dir="7.735818598867904e+168">
              <a:srgbClr val="1D1D1D">
                <a:alpha val="1.0000000000000001e+175"/>
              </a:srgbClr>
            </a:outerShdw>
          </a:effectLst>
        </p:spPr>
      </p:sp>
      <p:sp>
        <p:nvSpPr>
          <p:cNvPr id="16" name="Text 14"/>
          <p:cNvSpPr/>
          <p:nvPr/>
        </p:nvSpPr>
        <p:spPr>
          <a:xfrm>
            <a:off x="8814816" y="3083509"/>
            <a:ext cx="2514600" cy="685800"/>
          </a:xfrm>
          <a:prstGeom prst="rect">
            <a:avLst/>
          </a:prstGeom>
          <a:noFill/>
          <a:ln/>
        </p:spPr>
        <p:txBody>
          <a:bodyPr wrap="square" rtlCol="0" anchor="ctr"/>
          <a:lstStyle/>
          <a:p>
            <a:pPr algn="ctr" indent="0" marL="0">
              <a:buNone/>
            </a:pPr>
            <a:r>
              <a:rPr lang="en-US" sz="3000" b="1" dirty="0">
                <a:solidFill>
                  <a:srgbClr val="1D1D1D"/>
                </a:solidFill>
                <a:latin typeface="Baloo 2" pitchFamily="34" charset="0"/>
                <a:ea typeface="Baloo 2" pitchFamily="34" charset="-122"/>
                <a:cs typeface="Baloo 2" pitchFamily="34" charset="-120"/>
              </a:rPr>
              <a:t>2</a:t>
            </a:r>
            <a:endParaRPr lang="en-US" sz="3000" dirty="0"/>
          </a:p>
        </p:txBody>
      </p:sp>
      <p:sp>
        <p:nvSpPr>
          <p:cNvPr id="17" name="Text 15"/>
          <p:cNvSpPr/>
          <p:nvPr/>
        </p:nvSpPr>
        <p:spPr>
          <a:xfrm>
            <a:off x="8906256" y="3769309"/>
            <a:ext cx="2331720" cy="457200"/>
          </a:xfrm>
          <a:prstGeom prst="rect">
            <a:avLst/>
          </a:prstGeom>
          <a:noFill/>
          <a:ln/>
        </p:spPr>
        <p:txBody>
          <a:bodyPr wrap="square" rtlCol="0" anchor="t"/>
          <a:lstStyle/>
          <a:p>
            <a:pPr algn="ctr" indent="0" marL="0">
              <a:buNone/>
            </a:pPr>
            <a:r>
              <a:rPr lang="en-US" sz="1100" b="1" dirty="0">
                <a:solidFill>
                  <a:srgbClr val="1D1D1D"/>
                </a:solidFill>
                <a:latin typeface="Nunito" pitchFamily="34" charset="0"/>
                <a:ea typeface="Nunito" pitchFamily="34" charset="-122"/>
                <a:cs typeface="Nunito" pitchFamily="34" charset="-120"/>
              </a:rPr>
              <a:t>independent tamper-evident ledgers</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39 / 55</a:t>
            </a:r>
            <a:endParaRPr lang="en-US" sz="1000" dirty="0"/>
          </a:p>
        </p:txBody>
      </p:sp>
      <p:sp>
        <p:nvSpPr>
          <p:cNvPr id="4" name="Text 2"/>
          <p:cNvSpPr/>
          <p:nvPr/>
        </p:nvSpPr>
        <p:spPr>
          <a:xfrm>
            <a:off x="5212080" y="457200"/>
            <a:ext cx="630936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FEASIBILITY — VERIFY IT YOURSELF</a:t>
            </a:r>
            <a:endParaRPr lang="en-US" sz="1100" dirty="0"/>
          </a:p>
        </p:txBody>
      </p:sp>
      <p:sp>
        <p:nvSpPr>
          <p:cNvPr id="5" name="Text 3"/>
          <p:cNvSpPr/>
          <p:nvPr/>
        </p:nvSpPr>
        <p:spPr>
          <a:xfrm>
            <a:off x="5212080" y="1042416"/>
            <a:ext cx="6309360"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We wrote down our own gaps before a judge could find them.</a:t>
            </a:r>
            <a:endParaRPr lang="en-US" sz="3800" dirty="0"/>
          </a:p>
        </p:txBody>
      </p:sp>
      <p:sp>
        <p:nvSpPr>
          <p:cNvPr id="6" name="Text 4"/>
          <p:cNvSpPr/>
          <p:nvPr/>
        </p:nvSpPr>
        <p:spPr>
          <a:xfrm>
            <a:off x="5212080" y="3281096"/>
            <a:ext cx="6309360" cy="3458147"/>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A ledger-audit script that runs with no login and no server. Automated tests that compute real contrast ratios instead of trusting a design document’s claim. And a document, shipped in the same repository, that says outright which integrations are real, which are simulated, and why — including one genuine bug we found and fixed while writing it. That habit of self-checking is itself the evidence this is engineered, not staged.</a:t>
            </a:r>
            <a:endParaRPr lang="en-US" sz="1900" dirty="0"/>
          </a:p>
        </p:txBody>
      </p:sp>
      <p:sp>
        <p:nvSpPr>
          <p:cNvPr id="7" name="Shape 5"/>
          <p:cNvSpPr/>
          <p:nvPr/>
        </p:nvSpPr>
        <p:spPr>
          <a:xfrm>
            <a:off x="438912" y="1951958"/>
            <a:ext cx="4425696" cy="3045523"/>
          </a:xfrm>
          <a:prstGeom prst="roundRect">
            <a:avLst>
              <a:gd name="adj" fmla="val 4804"/>
            </a:avLst>
          </a:prstGeom>
          <a:solidFill>
            <a:srgbClr val="1D1D1D"/>
          </a:solidFill>
          <a:ln/>
          <a:effectLst>
            <a:outerShdw sx="100000" sy="100000" kx="0" ky="0" algn="bl" rotWithShape="0" blurRad="1.9524304352018566e+95" dist="2.1964842396020885e+95" dir="3.553786003741213e+111">
              <a:srgbClr val="1D1D1D">
                <a:alpha val="9.999999999999998e+114"/>
              </a:srgbClr>
            </a:outerShdw>
          </a:effectLst>
        </p:spPr>
      </p:sp>
      <p:pic>
        <p:nvPicPr>
          <p:cNvPr id="8" name="Image 0" descr="C:\Users\TL-77057\Downloads\AccessAI\screenshots\18-admin-programme-verification.jpg">    </p:cNvPr>
          <p:cNvPicPr>
            <a:picLocks noChangeAspect="1"/>
          </p:cNvPicPr>
          <p:nvPr/>
        </p:nvPicPr>
        <p:blipFill>
          <a:blip r:embed="rId1"/>
          <a:stretch>
            <a:fillRect/>
          </a:stretch>
        </p:blipFill>
        <p:spPr>
          <a:xfrm>
            <a:off x="548640" y="2061686"/>
            <a:ext cx="4206240" cy="2826067"/>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40 / 55</a:t>
            </a:r>
            <a:endParaRPr lang="en-US" sz="1000" dirty="0"/>
          </a:p>
        </p:txBody>
      </p:sp>
      <p:sp>
        <p:nvSpPr>
          <p:cNvPr id="4" name="Text 2"/>
          <p:cNvSpPr/>
          <p:nvPr/>
        </p:nvSpPr>
        <p:spPr>
          <a:xfrm>
            <a:off x="640080" y="50292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HOW THIS SUSTAINS ITSELF</a:t>
            </a:r>
            <a:endParaRPr lang="en-US" sz="1100" dirty="0"/>
          </a:p>
        </p:txBody>
      </p:sp>
      <p:sp>
        <p:nvSpPr>
          <p:cNvPr id="5" name="Text 3"/>
          <p:cNvSpPr/>
          <p:nvPr/>
        </p:nvSpPr>
        <p:spPr>
          <a:xfrm>
            <a:off x="640080" y="105156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 public-interest platform doesn’t monetise citizens. It monetises </a:t>
            </a:r>
            <a:pPr algn="l" indent="0" marL="0">
              <a:lnSpc>
                <a:spcPct val="105000"/>
              </a:lnSpc>
              <a:buNone/>
            </a:pPr>
            <a:r>
              <a:rPr lang="en-US" sz="3800" b="1" dirty="0">
                <a:solidFill>
                  <a:srgbClr val="1D1D1D"/>
                </a:solidFill>
                <a:highlight>
                  <a:srgbClr val="2EC4B6"/>
                </a:highlight>
                <a:latin typeface="Baloo 2" pitchFamily="34" charset="0"/>
                <a:ea typeface="Baloo 2" pitchFamily="34" charset="-122"/>
                <a:cs typeface="Baloo 2" pitchFamily="34" charset="-120"/>
              </a:rPr>
              <a:t>trust</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a:t>
            </a:r>
            <a:endParaRPr lang="en-US" sz="3800" dirty="0"/>
          </a:p>
        </p:txBody>
      </p:sp>
      <p:sp>
        <p:nvSpPr>
          <p:cNvPr id="6" name="Shape 4"/>
          <p:cNvSpPr/>
          <p:nvPr/>
        </p:nvSpPr>
        <p:spPr>
          <a:xfrm>
            <a:off x="640080" y="2809189"/>
            <a:ext cx="3429000" cy="2331720"/>
          </a:xfrm>
          <a:prstGeom prst="roundRect">
            <a:avLst>
              <a:gd name="adj" fmla="val 3922"/>
            </a:avLst>
          </a:prstGeom>
          <a:solidFill>
            <a:srgbClr val="2EC4B6"/>
          </a:solidFill>
          <a:ln w="28575">
            <a:solidFill>
              <a:srgbClr val="1D1D1D"/>
            </a:solidFill>
            <a:prstDash val="solid"/>
          </a:ln>
          <a:effectLst>
            <a:outerShdw sx="100000" sy="100000" kx="0" ky="0" algn="bl" rotWithShape="0" blurRad="4.3653989676651333e+148" dist="3.00121179026978e+148" dir="4.6414911593207425e+173">
              <a:srgbClr val="1D1D1D">
                <a:alpha val="1.0000000000000001e+180"/>
              </a:srgbClr>
            </a:outerShdw>
          </a:effectLst>
        </p:spPr>
      </p:sp>
      <p:sp>
        <p:nvSpPr>
          <p:cNvPr id="7" name="Text 5"/>
          <p:cNvSpPr/>
          <p:nvPr/>
        </p:nvSpPr>
        <p:spPr>
          <a:xfrm>
            <a:off x="841248" y="2973781"/>
            <a:ext cx="3026664" cy="457200"/>
          </a:xfrm>
          <a:prstGeom prst="rect">
            <a:avLst/>
          </a:prstGeom>
          <a:noFill/>
          <a:ln/>
        </p:spPr>
        <p:txBody>
          <a:bodyPr wrap="square" rtlCol="0" anchor="t"/>
          <a:lstStyle/>
          <a:p>
            <a:pPr indent="0" marL="0">
              <a:buNone/>
            </a:pPr>
            <a:r>
              <a:rPr lang="en-US" sz="1300" b="1" dirty="0">
                <a:solidFill>
                  <a:srgbClr val="1D1D1D"/>
                </a:solidFill>
                <a:latin typeface="Nunito" pitchFamily="34" charset="0"/>
                <a:ea typeface="Nunito" pitchFamily="34" charset="-122"/>
                <a:cs typeface="Nunito" pitchFamily="34" charset="-120"/>
              </a:rPr>
              <a:t>Ministry &amp; local-government partnership</a:t>
            </a:r>
            <a:endParaRPr lang="en-US" sz="1300" dirty="0"/>
          </a:p>
        </p:txBody>
      </p:sp>
      <p:sp>
        <p:nvSpPr>
          <p:cNvPr id="8" name="Text 6"/>
          <p:cNvSpPr/>
          <p:nvPr/>
        </p:nvSpPr>
        <p:spPr>
          <a:xfrm>
            <a:off x="841248" y="3449269"/>
            <a:ext cx="3026664" cy="1545336"/>
          </a:xfrm>
          <a:prstGeom prst="rect">
            <a:avLst/>
          </a:prstGeom>
          <a:noFill/>
          <a:ln/>
        </p:spPr>
        <p:txBody>
          <a:bodyPr wrap="square" rtlCol="0" anchor="t"/>
          <a:lstStyle/>
          <a:p>
            <a:pPr indent="0" marL="0">
              <a:lnSpc>
                <a:spcPct val="125000"/>
              </a:lnSpc>
              <a:buNone/>
            </a:pPr>
            <a:r>
              <a:rPr lang="en-US" sz="1200" dirty="0">
                <a:solidFill>
                  <a:srgbClr val="332F2A"/>
                </a:solidFill>
                <a:latin typeface="Nunito" pitchFamily="34" charset="0"/>
                <a:ea typeface="Nunito" pitchFamily="34" charset="-122"/>
                <a:cs typeface="Nunito" pitchFamily="34" charset="-120"/>
              </a:rPr>
              <a:t>Licensed as the digital front door for verified programmes — the verification workflow already exists; it just needs an institutional owner.</a:t>
            </a:r>
            <a:endParaRPr lang="en-US" sz="1200" dirty="0"/>
          </a:p>
        </p:txBody>
      </p:sp>
      <p:sp>
        <p:nvSpPr>
          <p:cNvPr id="9" name="Shape 7"/>
          <p:cNvSpPr/>
          <p:nvPr/>
        </p:nvSpPr>
        <p:spPr>
          <a:xfrm>
            <a:off x="4343400" y="2809189"/>
            <a:ext cx="3429000" cy="2331720"/>
          </a:xfrm>
          <a:prstGeom prst="roundRect">
            <a:avLst>
              <a:gd name="adj" fmla="val 3922"/>
            </a:avLst>
          </a:prstGeom>
          <a:solidFill>
            <a:srgbClr val="FFBF00"/>
          </a:solidFill>
          <a:ln w="28575">
            <a:solidFill>
              <a:srgbClr val="1D1D1D"/>
            </a:solidFill>
            <a:prstDash val="solid"/>
          </a:ln>
          <a:effectLst>
            <a:outerShdw sx="100000" sy="100000" kx="0" ky="0" algn="bl" rotWithShape="0" blurRad="5.54405668893472e+152" dist="3.811538973642621e+152" dir="2.7848946955924455e+178">
              <a:srgbClr val="1D1D1D">
                <a:alpha val="1.0000000000000001e+185"/>
              </a:srgbClr>
            </a:outerShdw>
          </a:effectLst>
        </p:spPr>
      </p:sp>
      <p:sp>
        <p:nvSpPr>
          <p:cNvPr id="10" name="Text 8"/>
          <p:cNvSpPr/>
          <p:nvPr/>
        </p:nvSpPr>
        <p:spPr>
          <a:xfrm>
            <a:off x="4544568" y="2973781"/>
            <a:ext cx="3026664" cy="457200"/>
          </a:xfrm>
          <a:prstGeom prst="rect">
            <a:avLst/>
          </a:prstGeom>
          <a:noFill/>
          <a:ln/>
        </p:spPr>
        <p:txBody>
          <a:bodyPr wrap="square" rtlCol="0" anchor="t"/>
          <a:lstStyle/>
          <a:p>
            <a:pPr indent="0" marL="0">
              <a:buNone/>
            </a:pPr>
            <a:r>
              <a:rPr lang="en-US" sz="1300" b="1" dirty="0">
                <a:solidFill>
                  <a:srgbClr val="1D1D1D"/>
                </a:solidFill>
                <a:latin typeface="Nunito" pitchFamily="34" charset="0"/>
                <a:ea typeface="Nunito" pitchFamily="34" charset="-122"/>
                <a:cs typeface="Nunito" pitchFamily="34" charset="-120"/>
              </a:rPr>
              <a:t>Donor-funded verification</a:t>
            </a:r>
            <a:endParaRPr lang="en-US" sz="1300" dirty="0"/>
          </a:p>
        </p:txBody>
      </p:sp>
      <p:sp>
        <p:nvSpPr>
          <p:cNvPr id="11" name="Text 9"/>
          <p:cNvSpPr/>
          <p:nvPr/>
        </p:nvSpPr>
        <p:spPr>
          <a:xfrm>
            <a:off x="4544568" y="3449269"/>
            <a:ext cx="3026664" cy="1545336"/>
          </a:xfrm>
          <a:prstGeom prst="rect">
            <a:avLst/>
          </a:prstGeom>
          <a:noFill/>
          <a:ln/>
        </p:spPr>
        <p:txBody>
          <a:bodyPr wrap="square" rtlCol="0" anchor="t"/>
          <a:lstStyle/>
          <a:p>
            <a:pPr indent="0" marL="0">
              <a:lnSpc>
                <a:spcPct val="125000"/>
              </a:lnSpc>
              <a:buNone/>
            </a:pPr>
            <a:r>
              <a:rPr lang="en-US" sz="1200" dirty="0">
                <a:solidFill>
                  <a:srgbClr val="332F2A"/>
                </a:solidFill>
                <a:latin typeface="Nunito" pitchFamily="34" charset="0"/>
                <a:ea typeface="Nunito" pitchFamily="34" charset="-122"/>
                <a:cs typeface="Nunito" pitchFamily="34" charset="-120"/>
              </a:rPr>
              <a:t>A development partner pays to have their own programmes verified and lifted out of the 65% ceiling — and gets the Donor Portal you just saw, for free, as proof.</a:t>
            </a:r>
            <a:endParaRPr lang="en-US" sz="1200" dirty="0"/>
          </a:p>
        </p:txBody>
      </p:sp>
      <p:sp>
        <p:nvSpPr>
          <p:cNvPr id="12" name="Shape 10"/>
          <p:cNvSpPr/>
          <p:nvPr/>
        </p:nvSpPr>
        <p:spPr>
          <a:xfrm>
            <a:off x="8046720" y="2809189"/>
            <a:ext cx="3429000" cy="2331720"/>
          </a:xfrm>
          <a:prstGeom prst="roundRect">
            <a:avLst>
              <a:gd name="adj" fmla="val 3922"/>
            </a:avLst>
          </a:prstGeom>
          <a:solidFill>
            <a:srgbClr val="FF5D73"/>
          </a:solidFill>
          <a:ln w="28575">
            <a:solidFill>
              <a:srgbClr val="1D1D1D"/>
            </a:solidFill>
            <a:prstDash val="solid"/>
          </a:ln>
          <a:effectLst>
            <a:outerShdw sx="100000" sy="100000" kx="0" ky="0" algn="bl" rotWithShape="0" blurRad="7.040951994947093e+156" dist="4.840654496526129e+156" dir="1.6709368173554673e+183">
              <a:srgbClr val="1D1D1D">
                <a:alpha val="1e+190"/>
              </a:srgbClr>
            </a:outerShdw>
          </a:effectLst>
        </p:spPr>
      </p:sp>
      <p:sp>
        <p:nvSpPr>
          <p:cNvPr id="13" name="Text 11"/>
          <p:cNvSpPr/>
          <p:nvPr/>
        </p:nvSpPr>
        <p:spPr>
          <a:xfrm>
            <a:off x="8247888" y="2973781"/>
            <a:ext cx="3026664" cy="457200"/>
          </a:xfrm>
          <a:prstGeom prst="rect">
            <a:avLst/>
          </a:prstGeom>
          <a:noFill/>
          <a:ln/>
        </p:spPr>
        <p:txBody>
          <a:bodyPr wrap="square" rtlCol="0" anchor="t"/>
          <a:lstStyle/>
          <a:p>
            <a:pPr indent="0" marL="0">
              <a:buNone/>
            </a:pPr>
            <a:r>
              <a:rPr lang="en-US" sz="1300" b="1" dirty="0">
                <a:solidFill>
                  <a:srgbClr val="1D1D1D"/>
                </a:solidFill>
                <a:latin typeface="Nunito" pitchFamily="34" charset="0"/>
                <a:ea typeface="Nunito" pitchFamily="34" charset="-122"/>
                <a:cs typeface="Nunito" pitchFamily="34" charset="-120"/>
              </a:rPr>
              <a:t>Union Parishad accountability tier</a:t>
            </a:r>
            <a:endParaRPr lang="en-US" sz="1300" dirty="0"/>
          </a:p>
        </p:txBody>
      </p:sp>
      <p:sp>
        <p:nvSpPr>
          <p:cNvPr id="14" name="Text 12"/>
          <p:cNvSpPr/>
          <p:nvPr/>
        </p:nvSpPr>
        <p:spPr>
          <a:xfrm>
            <a:off x="8247888" y="3449269"/>
            <a:ext cx="3026664" cy="1545336"/>
          </a:xfrm>
          <a:prstGeom prst="rect">
            <a:avLst/>
          </a:prstGeom>
          <a:noFill/>
          <a:ln/>
        </p:spPr>
        <p:txBody>
          <a:bodyPr wrap="square" rtlCol="0" anchor="t"/>
          <a:lstStyle/>
          <a:p>
            <a:pPr indent="0" marL="0">
              <a:lnSpc>
                <a:spcPct val="125000"/>
              </a:lnSpc>
              <a:buNone/>
            </a:pPr>
            <a:r>
              <a:rPr lang="en-US" sz="1200" dirty="0">
                <a:solidFill>
                  <a:srgbClr val="332F2A"/>
                </a:solidFill>
                <a:latin typeface="Nunito" pitchFamily="34" charset="0"/>
                <a:ea typeface="Nunito" pitchFamily="34" charset="-122"/>
                <a:cs typeface="Nunito" pitchFamily="34" charset="-120"/>
              </a:rPr>
              <a:t>A light support fee for unions that want the budget-transparency and issue-tracking module — the feature that builds a chairman’s own credibility.</a:t>
            </a:r>
            <a:endParaRPr lang="en-US" sz="1200" dirty="0"/>
          </a:p>
        </p:txBody>
      </p:sp>
      <p:sp>
        <p:nvSpPr>
          <p:cNvPr id="15" name="Text 13"/>
          <p:cNvSpPr/>
          <p:nvPr/>
        </p:nvSpPr>
        <p:spPr>
          <a:xfrm>
            <a:off x="640080" y="5378653"/>
            <a:ext cx="10908792" cy="882269"/>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No fee ever sits between a citizen and finding out what they’re owed. That line doesn’t move.</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BF00"/>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41 / 55</a:t>
            </a:r>
            <a:endParaRPr lang="en-US" sz="1000" dirty="0"/>
          </a:p>
        </p:txBody>
      </p:sp>
      <p:sp>
        <p:nvSpPr>
          <p:cNvPr id="4" name="Text 2"/>
          <p:cNvSpPr/>
          <p:nvPr/>
        </p:nvSpPr>
        <p:spPr>
          <a:xfrm>
            <a:off x="4160520" y="502920"/>
            <a:ext cx="384048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THE SIZE OF THE OPPORTUNITY</a:t>
            </a:r>
            <a:endParaRPr lang="en-US" sz="1100" dirty="0"/>
          </a:p>
        </p:txBody>
      </p:sp>
      <p:sp>
        <p:nvSpPr>
          <p:cNvPr id="5" name="Text 3"/>
          <p:cNvSpPr/>
          <p:nvPr/>
        </p:nvSpPr>
        <p:spPr>
          <a:xfrm>
            <a:off x="914400" y="1097280"/>
            <a:ext cx="10360152" cy="1382725"/>
          </a:xfrm>
          <a:prstGeom prst="rect">
            <a:avLst/>
          </a:prstGeom>
          <a:noFill/>
          <a:ln/>
        </p:spPr>
        <p:txBody>
          <a:bodyPr wrap="square" rtlCol="0" anchor="t"/>
          <a:lstStyle/>
          <a:p>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This pilot proves the model at </a:t>
            </a:r>
            <a:pPr algn="ctr"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5</a:t>
            </a:r>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 unions.</a:t>
            </a:r>
            <a:endParaRPr lang="en-US" sz="3800" dirty="0"/>
          </a:p>
        </p:txBody>
      </p:sp>
      <p:sp>
        <p:nvSpPr>
          <p:cNvPr id="6" name="Text 4"/>
          <p:cNvSpPr/>
          <p:nvPr/>
        </p:nvSpPr>
        <p:spPr>
          <a:xfrm>
            <a:off x="1371600" y="2992069"/>
            <a:ext cx="3200400" cy="1280160"/>
          </a:xfrm>
          <a:prstGeom prst="rect">
            <a:avLst/>
          </a:prstGeom>
          <a:noFill/>
          <a:ln/>
        </p:spPr>
        <p:txBody>
          <a:bodyPr wrap="square" rtlCol="0" anchor="ctr"/>
          <a:lstStyle/>
          <a:p>
            <a:pPr algn="ctr" indent="0" marL="0">
              <a:buNone/>
            </a:pPr>
            <a:r>
              <a:rPr lang="en-US" sz="6000" b="1" dirty="0">
                <a:solidFill>
                  <a:srgbClr val="1D1D1D"/>
                </a:solidFill>
                <a:latin typeface="Baloo 2" pitchFamily="34" charset="0"/>
                <a:ea typeface="Baloo 2" pitchFamily="34" charset="-122"/>
                <a:cs typeface="Baloo 2" pitchFamily="34" charset="-120"/>
              </a:rPr>
              <a:t>5</a:t>
            </a:r>
            <a:endParaRPr lang="en-US" sz="6000" dirty="0"/>
          </a:p>
        </p:txBody>
      </p:sp>
      <p:sp>
        <p:nvSpPr>
          <p:cNvPr id="7" name="Text 5"/>
          <p:cNvSpPr/>
          <p:nvPr/>
        </p:nvSpPr>
        <p:spPr>
          <a:xfrm>
            <a:off x="1371600" y="4226509"/>
            <a:ext cx="3200400" cy="457200"/>
          </a:xfrm>
          <a:prstGeom prst="rect">
            <a:avLst/>
          </a:prstGeom>
          <a:noFill/>
          <a:ln/>
        </p:spPr>
        <p:txBody>
          <a:bodyPr wrap="square" rtlCol="0" anchor="ctr"/>
          <a:lstStyle/>
          <a:p>
            <a:pPr algn="ctr" indent="0" marL="0">
              <a:buNone/>
            </a:pPr>
            <a:r>
              <a:rPr lang="en-US" sz="1400" b="1" dirty="0">
                <a:solidFill>
                  <a:srgbClr val="1D1D1D"/>
                </a:solidFill>
                <a:latin typeface="Nunito" pitchFamily="34" charset="0"/>
                <a:ea typeface="Nunito" pitchFamily="34" charset="-122"/>
                <a:cs typeface="Nunito" pitchFamily="34" charset="-120"/>
              </a:rPr>
              <a:t>unions running today</a:t>
            </a:r>
            <a:endParaRPr lang="en-US" sz="1400" dirty="0"/>
          </a:p>
        </p:txBody>
      </p:sp>
      <p:sp>
        <p:nvSpPr>
          <p:cNvPr id="8" name="Text 6"/>
          <p:cNvSpPr/>
          <p:nvPr/>
        </p:nvSpPr>
        <p:spPr>
          <a:xfrm>
            <a:off x="4937760" y="3174949"/>
            <a:ext cx="2286000" cy="1097280"/>
          </a:xfrm>
          <a:prstGeom prst="rect">
            <a:avLst/>
          </a:prstGeom>
          <a:noFill/>
          <a:ln/>
        </p:spPr>
        <p:txBody>
          <a:bodyPr wrap="square" rtlCol="0" anchor="ctr"/>
          <a:lstStyle/>
          <a:p>
            <a:pPr algn="ctr" indent="0" marL="0">
              <a:buNone/>
            </a:pPr>
            <a:r>
              <a:rPr lang="en-US" sz="3400" b="1" dirty="0">
                <a:solidFill>
                  <a:srgbClr val="1D1D1D"/>
                </a:solidFill>
                <a:latin typeface="Baloo 2" pitchFamily="34" charset="0"/>
                <a:ea typeface="Baloo 2" pitchFamily="34" charset="-122"/>
                <a:cs typeface="Baloo 2" pitchFamily="34" charset="-120"/>
              </a:rPr>
              <a:t>→</a:t>
            </a:r>
            <a:endParaRPr lang="en-US" sz="3400" dirty="0"/>
          </a:p>
        </p:txBody>
      </p:sp>
      <p:sp>
        <p:nvSpPr>
          <p:cNvPr id="9" name="Text 7"/>
          <p:cNvSpPr/>
          <p:nvPr/>
        </p:nvSpPr>
        <p:spPr>
          <a:xfrm>
            <a:off x="7589520" y="2992069"/>
            <a:ext cx="3200400" cy="1280160"/>
          </a:xfrm>
          <a:prstGeom prst="rect">
            <a:avLst/>
          </a:prstGeom>
          <a:noFill/>
          <a:ln/>
        </p:spPr>
        <p:txBody>
          <a:bodyPr wrap="square" rtlCol="0" anchor="ctr"/>
          <a:lstStyle/>
          <a:p>
            <a:pPr algn="ctr" indent="0" marL="0">
              <a:buNone/>
            </a:pPr>
            <a:r>
              <a:rPr lang="en-US" sz="6000" b="1" dirty="0">
                <a:solidFill>
                  <a:srgbClr val="1D1D1D"/>
                </a:solidFill>
                <a:latin typeface="Baloo 2" pitchFamily="34" charset="0"/>
                <a:ea typeface="Baloo 2" pitchFamily="34" charset="-122"/>
                <a:cs typeface="Baloo 2" pitchFamily="34" charset="-120"/>
              </a:rPr>
              <a:t>~4,500</a:t>
            </a:r>
            <a:endParaRPr lang="en-US" sz="6000" dirty="0"/>
          </a:p>
        </p:txBody>
      </p:sp>
      <p:sp>
        <p:nvSpPr>
          <p:cNvPr id="10" name="Text 8"/>
          <p:cNvSpPr/>
          <p:nvPr/>
        </p:nvSpPr>
        <p:spPr>
          <a:xfrm>
            <a:off x="7589520" y="4226509"/>
            <a:ext cx="3200400" cy="457200"/>
          </a:xfrm>
          <a:prstGeom prst="rect">
            <a:avLst/>
          </a:prstGeom>
          <a:noFill/>
          <a:ln/>
        </p:spPr>
        <p:txBody>
          <a:bodyPr wrap="square" rtlCol="0" anchor="ctr"/>
          <a:lstStyle/>
          <a:p>
            <a:pPr algn="ctr" indent="0" marL="0">
              <a:buNone/>
            </a:pPr>
            <a:r>
              <a:rPr lang="en-US" sz="1400" b="1" dirty="0">
                <a:solidFill>
                  <a:srgbClr val="1D1D1D"/>
                </a:solidFill>
                <a:latin typeface="Nunito" pitchFamily="34" charset="0"/>
                <a:ea typeface="Nunito" pitchFamily="34" charset="-122"/>
                <a:cs typeface="Nunito" pitchFamily="34" charset="-120"/>
              </a:rPr>
              <a:t>Union Parishads nationwide</a:t>
            </a:r>
            <a:endParaRPr lang="en-US" sz="1400" dirty="0"/>
          </a:p>
        </p:txBody>
      </p:sp>
      <p:sp>
        <p:nvSpPr>
          <p:cNvPr id="11" name="Text 9"/>
          <p:cNvSpPr/>
          <p:nvPr/>
        </p:nvSpPr>
        <p:spPr>
          <a:xfrm>
            <a:off x="1645920" y="4820869"/>
            <a:ext cx="8897112" cy="1250251"/>
          </a:xfrm>
          <a:prstGeom prst="rect">
            <a:avLst/>
          </a:prstGeom>
          <a:noFill/>
          <a:ln/>
        </p:spPr>
        <p:txBody>
          <a:bodyPr wrap="square" rtlCol="0" anchor="t"/>
          <a:lstStyle/>
          <a:p>
            <a:pPr algn="ctr" indent="0" marL="0">
              <a:lnSpc>
                <a:spcPct val="125000"/>
              </a:lnSpc>
              <a:buNone/>
            </a:pPr>
            <a:r>
              <a:rPr lang="en-US" sz="1900" dirty="0">
                <a:solidFill>
                  <a:srgbClr val="1D1D1D"/>
                </a:solidFill>
                <a:latin typeface="Nunito" pitchFamily="34" charset="0"/>
                <a:ea typeface="Nunito" pitchFamily="34" charset="-122"/>
                <a:cs typeface="Nunito" pitchFamily="34" charset="-120"/>
              </a:rPr>
              <a:t>No rewrite required. The leader dashboard already rolls a union up to an upazila by resolving a list of union IDs — the same query, wider scope. Growth here is a matter of onboarding, not engineering.</a:t>
            </a:r>
            <a:endParaRPr lang="en-US" sz="1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42 / 55</a:t>
            </a:r>
            <a:endParaRPr lang="en-US" sz="1000" dirty="0"/>
          </a:p>
        </p:txBody>
      </p:sp>
      <p:sp>
        <p:nvSpPr>
          <p:cNvPr id="4" name="Text 2"/>
          <p:cNvSpPr/>
          <p:nvPr/>
        </p:nvSpPr>
        <p:spPr>
          <a:xfrm>
            <a:off x="640080" y="50292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WHAT’S OUT THERE TODAY</a:t>
            </a:r>
            <a:endParaRPr lang="en-US" sz="1100" dirty="0"/>
          </a:p>
        </p:txBody>
      </p:sp>
      <p:sp>
        <p:nvSpPr>
          <p:cNvPr id="5" name="Text 3"/>
          <p:cNvSpPr/>
          <p:nvPr/>
        </p:nvSpPr>
        <p:spPr>
          <a:xfrm>
            <a:off x="640080" y="105156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Nothing else on the market does </a:t>
            </a:r>
            <a:pPr algn="l" indent="0" marL="0">
              <a:lnSpc>
                <a:spcPct val="105000"/>
              </a:lnSpc>
              <a:buNone/>
            </a:pPr>
            <a:r>
              <a:rPr lang="en-US" sz="3800" b="1" dirty="0">
                <a:solidFill>
                  <a:srgbClr val="1D1D1D"/>
                </a:solidFill>
                <a:highlight>
                  <a:srgbClr val="FF5D73"/>
                </a:highlight>
                <a:latin typeface="Baloo 2" pitchFamily="34" charset="0"/>
                <a:ea typeface="Baloo 2" pitchFamily="34" charset="-122"/>
                <a:cs typeface="Baloo 2" pitchFamily="34" charset="-120"/>
              </a:rPr>
              <a:t>both</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halves of this.</a:t>
            </a:r>
            <a:endParaRPr lang="en-US" sz="3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080" y="2672029"/>
          <a:ext cx="10908792" cy="914400"/>
        </p:xfrm>
        <a:graphic>
          <a:graphicData uri="http://schemas.openxmlformats.org/drawingml/2006/table">
            <a:tbl>
              <a:tblPr/>
              <a:tblGrid>
                <a:gridCol w="2834640"/>
                <a:gridCol w="2286000"/>
                <a:gridCol w="1920240"/>
                <a:gridCol w="1920240"/>
                <a:gridCol w="1947672"/>
              </a:tblGrid>
              <a:tr h="502920">
                <a:tc>
                  <a:txBody>
                    <a:bodyPr/>
                    <a:lstStyle/>
                    <a:p>
                      <a:pPr algn="l" indent="0" marL="0">
                        <a:buNone/>
                      </a:pPr>
                      <a:endParaRPr lang="en-US" sz="1100" dirty="0">
                        <a:latin typeface="Baloo 2" charset="0"/>
                        <a:ea typeface="Baloo 2" charset="0"/>
                        <a:cs typeface="Baloo 2"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1D1D1D"/>
                    </a:solidFill>
                  </a:tcPr>
                </a:tc>
                <a:tc>
                  <a:txBody>
                    <a:bodyPr/>
                    <a:lstStyle/>
                    <a:p>
                      <a:pPr algn="l" indent="0" marL="0">
                        <a:buNone/>
                      </a:pPr>
                      <a:r>
                        <a:rPr lang="en-US" sz="1100" b="1" dirty="0">
                          <a:solidFill>
                            <a:srgbClr val="FFF6E9"/>
                          </a:solidFill>
                          <a:latin typeface="Baloo 2" pitchFamily="34" charset="0"/>
                          <a:ea typeface="Baloo 2" pitchFamily="34" charset="-122"/>
                          <a:cs typeface="Baloo 2" pitchFamily="34" charset="-120"/>
                        </a:rPr>
                        <a:t>Paper &amp; word-of-mouth</a:t>
                      </a:r>
                      <a:endParaRPr lang="en-US" sz="1100" dirty="0">
                        <a:latin typeface="Baloo 2" charset="0"/>
                        <a:ea typeface="Baloo 2" charset="0"/>
                        <a:cs typeface="Baloo 2"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1D1D1D"/>
                    </a:solidFill>
                  </a:tcPr>
                </a:tc>
                <a:tc>
                  <a:txBody>
                    <a:bodyPr/>
                    <a:lstStyle/>
                    <a:p>
                      <a:pPr algn="l" indent="0" marL="0">
                        <a:buNone/>
                      </a:pPr>
                      <a:r>
                        <a:rPr lang="en-US" sz="1100" b="1" dirty="0">
                          <a:solidFill>
                            <a:srgbClr val="FFF6E9"/>
                          </a:solidFill>
                          <a:latin typeface="Baloo 2" pitchFamily="34" charset="0"/>
                          <a:ea typeface="Baloo 2" pitchFamily="34" charset="-122"/>
                          <a:cs typeface="Baloo 2" pitchFamily="34" charset="-120"/>
                        </a:rPr>
                        <a:t>Generic AI chatbot</a:t>
                      </a:r>
                      <a:endParaRPr lang="en-US" sz="1100" dirty="0">
                        <a:latin typeface="Baloo 2" charset="0"/>
                        <a:ea typeface="Baloo 2" charset="0"/>
                        <a:cs typeface="Baloo 2"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1D1D1D"/>
                    </a:solidFill>
                  </a:tcPr>
                </a:tc>
                <a:tc>
                  <a:txBody>
                    <a:bodyPr/>
                    <a:lstStyle/>
                    <a:p>
                      <a:pPr algn="l" indent="0" marL="0">
                        <a:buNone/>
                      </a:pPr>
                      <a:r>
                        <a:rPr lang="en-US" sz="1100" b="1" dirty="0">
                          <a:solidFill>
                            <a:srgbClr val="FFF6E9"/>
                          </a:solidFill>
                          <a:latin typeface="Baloo 2" pitchFamily="34" charset="0"/>
                          <a:ea typeface="Baloo 2" pitchFamily="34" charset="-122"/>
                          <a:cs typeface="Baloo 2" pitchFamily="34" charset="-120"/>
                        </a:rPr>
                        <a:t>Single-purpose NGO app</a:t>
                      </a:r>
                      <a:endParaRPr lang="en-US" sz="1100" dirty="0">
                        <a:latin typeface="Baloo 2" charset="0"/>
                        <a:ea typeface="Baloo 2" charset="0"/>
                        <a:cs typeface="Baloo 2"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1D1D1D"/>
                    </a:solidFill>
                  </a:tcPr>
                </a:tc>
                <a:tc>
                  <a:txBody>
                    <a:bodyPr/>
                    <a:lstStyle/>
                    <a:p>
                      <a:pPr algn="l" indent="0" marL="0">
                        <a:buNone/>
                      </a:pPr>
                      <a:r>
                        <a:rPr lang="en-US" sz="1100" b="1" dirty="0">
                          <a:solidFill>
                            <a:srgbClr val="FFF6E9"/>
                          </a:solidFill>
                          <a:latin typeface="Baloo 2" pitchFamily="34" charset="0"/>
                          <a:ea typeface="Baloo 2" pitchFamily="34" charset="-122"/>
                          <a:cs typeface="Baloo 2" pitchFamily="34" charset="-120"/>
                        </a:rPr>
                        <a:t>Nagorik Sathi</a:t>
                      </a:r>
                      <a:endParaRPr lang="en-US" sz="1100" dirty="0">
                        <a:latin typeface="Baloo 2" charset="0"/>
                        <a:ea typeface="Baloo 2" charset="0"/>
                        <a:cs typeface="Baloo 2"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1D1D1D"/>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Explains why you qualify</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Not reliably</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Rarely</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Every time</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2EC4B6"/>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Cannot hallucinate a benefit</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N/A</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2EC4B6"/>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 safeguard</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Depends</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By construction</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2EC4B6"/>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Works with no smartphone</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Yes</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2EC4B6"/>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USSD + SMS</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2EC4B6"/>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Shows where local budgets go</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Not usually</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Public, no login</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2EC4B6"/>
                    </a:solidFill>
                  </a:tcPr>
                </a:tc>
              </a:tr>
              <a:tr h="502920">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Tamper-evident financial records</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5E6CC"/>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8378"/>
                          </a:solidFill>
                          <a:latin typeface="Nunito" pitchFamily="34" charset="0"/>
                          <a:ea typeface="Nunito" pitchFamily="34" charset="-122"/>
                          <a:cs typeface="Nunito" pitchFamily="34" charset="-120"/>
                        </a:rPr>
                        <a:t>No</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1D1D"/>
                          </a:solidFill>
                          <a:latin typeface="Nunito" pitchFamily="34" charset="0"/>
                          <a:ea typeface="Nunito" pitchFamily="34" charset="-122"/>
                          <a:cs typeface="Nunito" pitchFamily="34" charset="-120"/>
                        </a:rPr>
                        <a:t>Two independent chains</a:t>
                      </a:r>
                      <a:endParaRPr lang="en-US" sz="1050" dirty="0">
                        <a:latin typeface="Nunito" charset="0"/>
                        <a:ea typeface="Nunito" charset="0"/>
                        <a:cs typeface="Nunito" charset="0"/>
                      </a:endParaRPr>
                    </a:p>
                  </a:txBody>
                  <a:tcPr marL="91440" marR="91440" marT="45720" marB="45720" anchor="ctr">
                    <a:lnL w="25400" cap="flat" cmpd="sng" algn="ctr">
                      <a:solidFill>
                        <a:srgbClr val="1D1D1D"/>
                      </a:solidFill>
                      <a:prstDash val="solid"/>
                      <a:round/>
                      <a:headEnd type="none" w="med" len="med"/>
                      <a:tailEnd type="none" w="med" len="med"/>
                    </a:lnL>
                    <a:lnR w="25400" cap="flat" cmpd="sng" algn="ctr">
                      <a:solidFill>
                        <a:srgbClr val="1D1D1D"/>
                      </a:solidFill>
                      <a:prstDash val="solid"/>
                      <a:round/>
                      <a:headEnd type="none" w="med" len="med"/>
                      <a:tailEnd type="none" w="med" len="med"/>
                    </a:lnR>
                    <a:lnT w="25400" cap="flat" cmpd="sng" algn="ctr">
                      <a:solidFill>
                        <a:srgbClr val="1D1D1D"/>
                      </a:solidFill>
                      <a:prstDash val="solid"/>
                      <a:round/>
                      <a:headEnd type="none" w="med" len="med"/>
                      <a:tailEnd type="none" w="med" len="med"/>
                    </a:lnT>
                    <a:lnB w="25400" cap="flat" cmpd="sng" algn="ctr">
                      <a:solidFill>
                        <a:srgbClr val="1D1D1D"/>
                      </a:solidFill>
                      <a:prstDash val="solid"/>
                      <a:round/>
                      <a:headEnd type="none" w="med" len="med"/>
                      <a:tailEnd type="none" w="med" len="med"/>
                    </a:lnB>
                    <a:solidFill>
                      <a:srgbClr val="2EC4B6"/>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43 / 55</a:t>
            </a:r>
            <a:endParaRPr lang="en-US" sz="1000" dirty="0"/>
          </a:p>
        </p:txBody>
      </p:sp>
      <p:sp>
        <p:nvSpPr>
          <p:cNvPr id="4" name="Text 2"/>
          <p:cNvSpPr/>
          <p:nvPr/>
        </p:nvSpPr>
        <p:spPr>
          <a:xfrm>
            <a:off x="640080" y="50292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RISKS, NAMED HONESTLY</a:t>
            </a:r>
            <a:endParaRPr lang="en-US" sz="1100" dirty="0"/>
          </a:p>
        </p:txBody>
      </p:sp>
      <p:sp>
        <p:nvSpPr>
          <p:cNvPr id="5" name="Text 3"/>
          <p:cNvSpPr/>
          <p:nvPr/>
        </p:nvSpPr>
        <p:spPr>
          <a:xfrm>
            <a:off x="640080" y="1051560"/>
            <a:ext cx="10908792" cy="76451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We’d rather you hear these from us.</a:t>
            </a:r>
            <a:endParaRPr lang="en-US" sz="3800" dirty="0"/>
          </a:p>
        </p:txBody>
      </p:sp>
      <p:sp>
        <p:nvSpPr>
          <p:cNvPr id="6" name="Shape 4"/>
          <p:cNvSpPr/>
          <p:nvPr/>
        </p:nvSpPr>
        <p:spPr>
          <a:xfrm>
            <a:off x="640080" y="2190979"/>
            <a:ext cx="10908792" cy="938155"/>
          </a:xfrm>
          <a:prstGeom prst="roundRect">
            <a:avLst>
              <a:gd name="adj" fmla="val 7797"/>
            </a:avLst>
          </a:prstGeom>
          <a:solidFill>
            <a:srgbClr val="F5E6CC"/>
          </a:solidFill>
          <a:ln w="28575">
            <a:solidFill>
              <a:srgbClr val="1D1D1D"/>
            </a:solidFill>
            <a:prstDash val="solid"/>
          </a:ln>
          <a:effectLst>
            <a:outerShdw sx="100000" sy="100000" kx="0" ky="0" algn="bl" rotWithShape="0" blurRad="8.942009033582808e+160" dist="6.147631210588184e+160" dir="1.0025620904132804e+188">
              <a:srgbClr val="1D1D1D">
                <a:alpha val="1.0000000000000001e+195"/>
              </a:srgbClr>
            </a:outerShdw>
          </a:effectLst>
        </p:spPr>
      </p:sp>
      <p:sp>
        <p:nvSpPr>
          <p:cNvPr id="7" name="Text 5"/>
          <p:cNvSpPr/>
          <p:nvPr/>
        </p:nvSpPr>
        <p:spPr>
          <a:xfrm>
            <a:off x="868680" y="2190979"/>
            <a:ext cx="3657600" cy="938155"/>
          </a:xfrm>
          <a:prstGeom prst="rect">
            <a:avLst/>
          </a:prstGeom>
          <a:noFill/>
          <a:ln/>
        </p:spPr>
        <p:txBody>
          <a:bodyPr wrap="square" rtlCol="0" anchor="ctr"/>
          <a:lstStyle/>
          <a:p>
            <a:pPr indent="0" marL="0">
              <a:buNone/>
            </a:pPr>
            <a:r>
              <a:rPr lang="en-US" sz="1300" b="1" dirty="0">
                <a:solidFill>
                  <a:srgbClr val="1D1D1D"/>
                </a:solidFill>
                <a:latin typeface="Nunito" pitchFamily="34" charset="0"/>
                <a:ea typeface="Nunito" pitchFamily="34" charset="-122"/>
                <a:cs typeface="Nunito" pitchFamily="34" charset="-120"/>
              </a:rPr>
              <a:t>Sample data isn’t verified yet</a:t>
            </a:r>
            <a:endParaRPr lang="en-US" sz="1300" dirty="0"/>
          </a:p>
        </p:txBody>
      </p:sp>
      <p:sp>
        <p:nvSpPr>
          <p:cNvPr id="8" name="Text 6"/>
          <p:cNvSpPr/>
          <p:nvPr/>
        </p:nvSpPr>
        <p:spPr>
          <a:xfrm>
            <a:off x="4663440" y="2190979"/>
            <a:ext cx="6675120" cy="938155"/>
          </a:xfrm>
          <a:prstGeom prst="rect">
            <a:avLst/>
          </a:prstGeom>
          <a:noFill/>
          <a:ln/>
        </p:spPr>
        <p:txBody>
          <a:bodyPr wrap="square" rtlCol="0" anchor="ctr"/>
          <a:lstStyle/>
          <a:p>
            <a:pPr indent="0" marL="0">
              <a:buNone/>
            </a:pPr>
            <a:r>
              <a:rPr lang="en-US" sz="1200" dirty="0">
                <a:solidFill>
                  <a:srgbClr val="1D1D1D"/>
                </a:solidFill>
                <a:latin typeface="Nunito" pitchFamily="34" charset="0"/>
                <a:ea typeface="Nunito" pitchFamily="34" charset="-122"/>
                <a:cs typeface="Nunito" pitchFamily="34" charset="-120"/>
              </a:rPr>
              <a:t>→ capped at 65% confidence, labelled everywhere, verification workflow already built</a:t>
            </a:r>
            <a:endParaRPr lang="en-US" sz="1200" dirty="0"/>
          </a:p>
        </p:txBody>
      </p:sp>
      <p:sp>
        <p:nvSpPr>
          <p:cNvPr id="9" name="Shape 7"/>
          <p:cNvSpPr/>
          <p:nvPr/>
        </p:nvSpPr>
        <p:spPr>
          <a:xfrm>
            <a:off x="640080" y="3266294"/>
            <a:ext cx="10908792" cy="938155"/>
          </a:xfrm>
          <a:prstGeom prst="roundRect">
            <a:avLst>
              <a:gd name="adj" fmla="val 7797"/>
            </a:avLst>
          </a:prstGeom>
          <a:solidFill>
            <a:srgbClr val="2EC4B6"/>
          </a:solidFill>
          <a:ln w="28575">
            <a:solidFill>
              <a:srgbClr val="1D1D1D"/>
            </a:solidFill>
            <a:prstDash val="solid"/>
          </a:ln>
          <a:effectLst>
            <a:outerShdw sx="100000" sy="100000" kx="0" ky="0" algn="bl" rotWithShape="0" blurRad="1.1356351472650167e+165" dist="7.807491637446994e+164" dir="6.015372542479682e+192">
              <a:srgbClr val="1D1D1D">
                <a:alpha val="1.0000000000000001e+200"/>
              </a:srgbClr>
            </a:outerShdw>
          </a:effectLst>
        </p:spPr>
      </p:sp>
      <p:sp>
        <p:nvSpPr>
          <p:cNvPr id="10" name="Text 8"/>
          <p:cNvSpPr/>
          <p:nvPr/>
        </p:nvSpPr>
        <p:spPr>
          <a:xfrm>
            <a:off x="868680" y="3266294"/>
            <a:ext cx="3657600" cy="938155"/>
          </a:xfrm>
          <a:prstGeom prst="rect">
            <a:avLst/>
          </a:prstGeom>
          <a:noFill/>
          <a:ln/>
        </p:spPr>
        <p:txBody>
          <a:bodyPr wrap="square" rtlCol="0" anchor="ctr"/>
          <a:lstStyle/>
          <a:p>
            <a:pPr indent="0" marL="0">
              <a:buNone/>
            </a:pPr>
            <a:r>
              <a:rPr lang="en-US" sz="1300" b="1" dirty="0">
                <a:solidFill>
                  <a:srgbClr val="1D1D1D"/>
                </a:solidFill>
                <a:latin typeface="Nunito" pitchFamily="34" charset="0"/>
                <a:ea typeface="Nunito" pitchFamily="34" charset="-122"/>
                <a:cs typeface="Nunito" pitchFamily="34" charset="-120"/>
              </a:rPr>
              <a:t>A single database is one writer</a:t>
            </a:r>
            <a:endParaRPr lang="en-US" sz="1300" dirty="0"/>
          </a:p>
        </p:txBody>
      </p:sp>
      <p:sp>
        <p:nvSpPr>
          <p:cNvPr id="11" name="Text 9"/>
          <p:cNvSpPr/>
          <p:nvPr/>
        </p:nvSpPr>
        <p:spPr>
          <a:xfrm>
            <a:off x="4663440" y="3266294"/>
            <a:ext cx="6675120" cy="938155"/>
          </a:xfrm>
          <a:prstGeom prst="rect">
            <a:avLst/>
          </a:prstGeom>
          <a:noFill/>
          <a:ln/>
        </p:spPr>
        <p:txBody>
          <a:bodyPr wrap="square" rtlCol="0" anchor="ctr"/>
          <a:lstStyle/>
          <a:p>
            <a:pPr indent="0" marL="0">
              <a:buNone/>
            </a:pPr>
            <a:r>
              <a:rPr lang="en-US" sz="1200" dirty="0">
                <a:solidFill>
                  <a:srgbClr val="1D1D1D"/>
                </a:solidFill>
                <a:latin typeface="Nunito" pitchFamily="34" charset="0"/>
                <a:ea typeface="Nunito" pitchFamily="34" charset="-122"/>
                <a:cs typeface="Nunito" pitchFamily="34" charset="-120"/>
              </a:rPr>
              <a:t>→ collisions fail loudly, not silently; a documented, deliberate limit at pilot scale</a:t>
            </a:r>
            <a:endParaRPr lang="en-US" sz="1200" dirty="0"/>
          </a:p>
        </p:txBody>
      </p:sp>
      <p:sp>
        <p:nvSpPr>
          <p:cNvPr id="12" name="Shape 10"/>
          <p:cNvSpPr/>
          <p:nvPr/>
        </p:nvSpPr>
        <p:spPr>
          <a:xfrm>
            <a:off x="640080" y="4341609"/>
            <a:ext cx="10908792" cy="938155"/>
          </a:xfrm>
          <a:prstGeom prst="roundRect">
            <a:avLst>
              <a:gd name="adj" fmla="val 7797"/>
            </a:avLst>
          </a:prstGeom>
          <a:solidFill>
            <a:srgbClr val="FFBF00"/>
          </a:solidFill>
          <a:ln w="28575">
            <a:solidFill>
              <a:srgbClr val="1D1D1D"/>
            </a:solidFill>
            <a:prstDash val="solid"/>
          </a:ln>
          <a:effectLst>
            <a:outerShdw sx="100000" sy="100000" kx="0" ky="0" algn="bl" rotWithShape="0" blurRad="1.4422566370265713e+169" dist="9.915514379557683e+168" dir="3.6092235254878095e+197">
              <a:srgbClr val="1D1D1D">
                <a:alpha val="1.0000000000000001e+205"/>
              </a:srgbClr>
            </a:outerShdw>
          </a:effectLst>
        </p:spPr>
      </p:sp>
      <p:sp>
        <p:nvSpPr>
          <p:cNvPr id="13" name="Text 11"/>
          <p:cNvSpPr/>
          <p:nvPr/>
        </p:nvSpPr>
        <p:spPr>
          <a:xfrm>
            <a:off x="868680" y="4341609"/>
            <a:ext cx="3657600" cy="938155"/>
          </a:xfrm>
          <a:prstGeom prst="rect">
            <a:avLst/>
          </a:prstGeom>
          <a:noFill/>
          <a:ln/>
        </p:spPr>
        <p:txBody>
          <a:bodyPr wrap="square" rtlCol="0" anchor="ctr"/>
          <a:lstStyle/>
          <a:p>
            <a:pPr indent="0" marL="0">
              <a:buNone/>
            </a:pPr>
            <a:r>
              <a:rPr lang="en-US" sz="1300" b="1" dirty="0">
                <a:solidFill>
                  <a:srgbClr val="1D1D1D"/>
                </a:solidFill>
                <a:latin typeface="Nunito" pitchFamily="34" charset="0"/>
                <a:ea typeface="Nunito" pitchFamily="34" charset="-122"/>
                <a:cs typeface="Nunito" pitchFamily="34" charset="-120"/>
              </a:rPr>
              <a:t>Real SMS / vision credentials aren’t live here</a:t>
            </a:r>
            <a:endParaRPr lang="en-US" sz="1300" dirty="0"/>
          </a:p>
        </p:txBody>
      </p:sp>
      <p:sp>
        <p:nvSpPr>
          <p:cNvPr id="14" name="Text 12"/>
          <p:cNvSpPr/>
          <p:nvPr/>
        </p:nvSpPr>
        <p:spPr>
          <a:xfrm>
            <a:off x="4663440" y="4341609"/>
            <a:ext cx="6675120" cy="938155"/>
          </a:xfrm>
          <a:prstGeom prst="rect">
            <a:avLst/>
          </a:prstGeom>
          <a:noFill/>
          <a:ln/>
        </p:spPr>
        <p:txBody>
          <a:bodyPr wrap="square" rtlCol="0" anchor="ctr"/>
          <a:lstStyle/>
          <a:p>
            <a:pPr indent="0" marL="0">
              <a:buNone/>
            </a:pPr>
            <a:r>
              <a:rPr lang="en-US" sz="1200" dirty="0">
                <a:solidFill>
                  <a:srgbClr val="1D1D1D"/>
                </a:solidFill>
                <a:latin typeface="Nunito" pitchFamily="34" charset="0"/>
                <a:ea typeface="Nunito" pitchFamily="34" charset="-122"/>
                <a:cs typeface="Nunito" pitchFamily="34" charset="-120"/>
              </a:rPr>
              <a:t>→ real vendor-shaped code, degrades to a stated fallback, never a silent fake success</a:t>
            </a:r>
            <a:endParaRPr lang="en-US" sz="1200" dirty="0"/>
          </a:p>
        </p:txBody>
      </p:sp>
      <p:sp>
        <p:nvSpPr>
          <p:cNvPr id="15" name="Shape 13"/>
          <p:cNvSpPr/>
          <p:nvPr/>
        </p:nvSpPr>
        <p:spPr>
          <a:xfrm>
            <a:off x="640080" y="5416925"/>
            <a:ext cx="10908792" cy="938155"/>
          </a:xfrm>
          <a:prstGeom prst="roundRect">
            <a:avLst>
              <a:gd name="adj" fmla="val 7797"/>
            </a:avLst>
          </a:prstGeom>
          <a:solidFill>
            <a:srgbClr val="FF5D73"/>
          </a:solidFill>
          <a:ln w="28575">
            <a:solidFill>
              <a:srgbClr val="1D1D1D"/>
            </a:solidFill>
            <a:prstDash val="solid"/>
          </a:ln>
          <a:effectLst>
            <a:outerShdw sx="100000" sy="100000" kx="0" ky="0" algn="bl" rotWithShape="0" blurRad="1.8316659290237455e+173" dist="1.2592703262038257e+173" dir="2.1655341152926858e+202">
              <a:srgbClr val="1D1D1D">
                <a:alpha val="1.0000000000000001e+210"/>
              </a:srgbClr>
            </a:outerShdw>
          </a:effectLst>
        </p:spPr>
      </p:sp>
      <p:sp>
        <p:nvSpPr>
          <p:cNvPr id="16" name="Text 14"/>
          <p:cNvSpPr/>
          <p:nvPr/>
        </p:nvSpPr>
        <p:spPr>
          <a:xfrm>
            <a:off x="868680" y="5416925"/>
            <a:ext cx="3657600" cy="938155"/>
          </a:xfrm>
          <a:prstGeom prst="rect">
            <a:avLst/>
          </a:prstGeom>
          <a:noFill/>
          <a:ln/>
        </p:spPr>
        <p:txBody>
          <a:bodyPr wrap="square" rtlCol="0" anchor="ctr"/>
          <a:lstStyle/>
          <a:p>
            <a:pPr indent="0" marL="0">
              <a:buNone/>
            </a:pPr>
            <a:r>
              <a:rPr lang="en-US" sz="1300" b="1" dirty="0">
                <a:solidFill>
                  <a:srgbClr val="1D1D1D"/>
                </a:solidFill>
                <a:latin typeface="Nunito" pitchFamily="34" charset="0"/>
                <a:ea typeface="Nunito" pitchFamily="34" charset="-122"/>
                <a:cs typeface="Nunito" pitchFamily="34" charset="-120"/>
              </a:rPr>
              <a:t>Adoption needs institutional buy-in</a:t>
            </a:r>
            <a:endParaRPr lang="en-US" sz="1300" dirty="0"/>
          </a:p>
        </p:txBody>
      </p:sp>
      <p:sp>
        <p:nvSpPr>
          <p:cNvPr id="17" name="Text 15"/>
          <p:cNvSpPr/>
          <p:nvPr/>
        </p:nvSpPr>
        <p:spPr>
          <a:xfrm>
            <a:off x="4663440" y="5416925"/>
            <a:ext cx="6675120" cy="938155"/>
          </a:xfrm>
          <a:prstGeom prst="rect">
            <a:avLst/>
          </a:prstGeom>
          <a:noFill/>
          <a:ln/>
        </p:spPr>
        <p:txBody>
          <a:bodyPr wrap="square" rtlCol="0" anchor="ctr"/>
          <a:lstStyle/>
          <a:p>
            <a:pPr indent="0" marL="0">
              <a:buNone/>
            </a:pPr>
            <a:r>
              <a:rPr lang="en-US" sz="1200" dirty="0">
                <a:solidFill>
                  <a:srgbClr val="1D1D1D"/>
                </a:solidFill>
                <a:latin typeface="Nunito" pitchFamily="34" charset="0"/>
                <a:ea typeface="Nunito" pitchFamily="34" charset="-122"/>
                <a:cs typeface="Nunito" pitchFamily="34" charset="-120"/>
              </a:rPr>
              <a:t>→ every civic feature already mirrors Bangladesh’s real government tiers, so there’s no re-org required to use it</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44 / 55</a:t>
            </a:r>
            <a:endParaRPr lang="en-US" sz="1000" dirty="0"/>
          </a:p>
        </p:txBody>
      </p:sp>
      <p:sp>
        <p:nvSpPr>
          <p:cNvPr id="4" name="Text 2"/>
          <p:cNvSpPr/>
          <p:nvPr/>
        </p:nvSpPr>
        <p:spPr>
          <a:xfrm>
            <a:off x="640080" y="502920"/>
            <a:ext cx="475488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WHAT’S NEXT</a:t>
            </a:r>
            <a:endParaRPr lang="en-US" sz="1100" dirty="0"/>
          </a:p>
        </p:txBody>
      </p:sp>
      <p:sp>
        <p:nvSpPr>
          <p:cNvPr id="5" name="Text 3"/>
          <p:cNvSpPr/>
          <p:nvPr/>
        </p:nvSpPr>
        <p:spPr>
          <a:xfrm>
            <a:off x="640080" y="1051560"/>
            <a:ext cx="10908792" cy="76451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Three honest steps, in order.</a:t>
            </a:r>
            <a:endParaRPr lang="en-US" sz="3800" dirty="0"/>
          </a:p>
        </p:txBody>
      </p:sp>
      <p:sp>
        <p:nvSpPr>
          <p:cNvPr id="6" name="Shape 4"/>
          <p:cNvSpPr/>
          <p:nvPr/>
        </p:nvSpPr>
        <p:spPr>
          <a:xfrm>
            <a:off x="640080" y="2236699"/>
            <a:ext cx="3429000" cy="4255541"/>
          </a:xfrm>
          <a:prstGeom prst="roundRect">
            <a:avLst>
              <a:gd name="adj" fmla="val 2667"/>
            </a:avLst>
          </a:prstGeom>
          <a:solidFill>
            <a:srgbClr val="FFBF00"/>
          </a:solidFill>
          <a:ln w="28575">
            <a:solidFill>
              <a:srgbClr val="1D1D1D"/>
            </a:solidFill>
            <a:prstDash val="solid"/>
          </a:ln>
          <a:effectLst>
            <a:outerShdw sx="100000" sy="100000" kx="0" ky="0" algn="bl" rotWithShape="0" blurRad="2.326215729860157e+177" dist="1.5992733142788588e+177" dir="1.2993204691756116e+207">
              <a:srgbClr val="1D1D1D">
                <a:alpha val="1.0000000000000001e+215"/>
              </a:srgbClr>
            </a:outerShdw>
          </a:effectLst>
        </p:spPr>
      </p:sp>
      <p:sp>
        <p:nvSpPr>
          <p:cNvPr id="7" name="Text 5"/>
          <p:cNvSpPr/>
          <p:nvPr/>
        </p:nvSpPr>
        <p:spPr>
          <a:xfrm>
            <a:off x="841248" y="2401291"/>
            <a:ext cx="3026664" cy="457200"/>
          </a:xfrm>
          <a:prstGeom prst="rect">
            <a:avLst/>
          </a:prstGeom>
          <a:noFill/>
          <a:ln/>
        </p:spPr>
        <p:txBody>
          <a:bodyPr wrap="square" rtlCol="0" anchor="t"/>
          <a:lstStyle/>
          <a:p>
            <a:pPr indent="0" marL="0">
              <a:buNone/>
            </a:pPr>
            <a:r>
              <a:rPr lang="en-US" sz="1400" b="1" dirty="0">
                <a:solidFill>
                  <a:srgbClr val="1D1D1D"/>
                </a:solidFill>
                <a:latin typeface="Nunito" pitchFamily="34" charset="0"/>
                <a:ea typeface="Nunito" pitchFamily="34" charset="-122"/>
                <a:cs typeface="Nunito" pitchFamily="34" charset="-120"/>
              </a:rPr>
              <a:t>Next</a:t>
            </a:r>
            <a:endParaRPr lang="en-US" sz="1400" dirty="0"/>
          </a:p>
        </p:txBody>
      </p:sp>
      <p:sp>
        <p:nvSpPr>
          <p:cNvPr id="8" name="Text 6"/>
          <p:cNvSpPr/>
          <p:nvPr/>
        </p:nvSpPr>
        <p:spPr>
          <a:xfrm>
            <a:off x="841248" y="2876779"/>
            <a:ext cx="3026664" cy="3469157"/>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Verify the corpus with a real institutional partner — the single highest-leverage step there is.</a:t>
            </a:r>
            <a:endParaRPr lang="en-US" sz="1300" dirty="0"/>
          </a:p>
        </p:txBody>
      </p:sp>
      <p:sp>
        <p:nvSpPr>
          <p:cNvPr id="9" name="Shape 7"/>
          <p:cNvSpPr/>
          <p:nvPr/>
        </p:nvSpPr>
        <p:spPr>
          <a:xfrm>
            <a:off x="4343400" y="2236699"/>
            <a:ext cx="3429000" cy="4255541"/>
          </a:xfrm>
          <a:prstGeom prst="roundRect">
            <a:avLst>
              <a:gd name="adj" fmla="val 2667"/>
            </a:avLst>
          </a:prstGeom>
          <a:solidFill>
            <a:srgbClr val="2EC4B6"/>
          </a:solidFill>
          <a:ln w="28575">
            <a:solidFill>
              <a:srgbClr val="1D1D1D"/>
            </a:solidFill>
            <a:prstDash val="solid"/>
          </a:ln>
          <a:effectLst>
            <a:outerShdw sx="100000" sy="100000" kx="0" ky="0" algn="bl" rotWithShape="0" blurRad="2.9542939769223992e+181" dist="2.0310771091341506e+181" dir="7.795922815053669e+211">
              <a:srgbClr val="1D1D1D">
                <a:alpha val="1.0000000000000001e+220"/>
              </a:srgbClr>
            </a:outerShdw>
          </a:effectLst>
        </p:spPr>
      </p:sp>
      <p:sp>
        <p:nvSpPr>
          <p:cNvPr id="10" name="Text 8"/>
          <p:cNvSpPr/>
          <p:nvPr/>
        </p:nvSpPr>
        <p:spPr>
          <a:xfrm>
            <a:off x="4544568" y="2401291"/>
            <a:ext cx="3026664" cy="457200"/>
          </a:xfrm>
          <a:prstGeom prst="rect">
            <a:avLst/>
          </a:prstGeom>
          <a:noFill/>
          <a:ln/>
        </p:spPr>
        <p:txBody>
          <a:bodyPr wrap="square" rtlCol="0" anchor="t"/>
          <a:lstStyle/>
          <a:p>
            <a:pPr indent="0" marL="0">
              <a:buNone/>
            </a:pPr>
            <a:r>
              <a:rPr lang="en-US" sz="1400" b="1" dirty="0">
                <a:solidFill>
                  <a:srgbClr val="1D1D1D"/>
                </a:solidFill>
                <a:latin typeface="Nunito" pitchFamily="34" charset="0"/>
                <a:ea typeface="Nunito" pitchFamily="34" charset="-122"/>
                <a:cs typeface="Nunito" pitchFamily="34" charset="-120"/>
              </a:rPr>
              <a:t>Then</a:t>
            </a:r>
            <a:endParaRPr lang="en-US" sz="1400" dirty="0"/>
          </a:p>
        </p:txBody>
      </p:sp>
      <p:sp>
        <p:nvSpPr>
          <p:cNvPr id="11" name="Text 9"/>
          <p:cNvSpPr/>
          <p:nvPr/>
        </p:nvSpPr>
        <p:spPr>
          <a:xfrm>
            <a:off x="4544568" y="2876779"/>
            <a:ext cx="3026664" cy="3469157"/>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Light up real SMS and vision-moderation credentials, and expand past 5 pilot unions.</a:t>
            </a:r>
            <a:endParaRPr lang="en-US" sz="1300" dirty="0"/>
          </a:p>
        </p:txBody>
      </p:sp>
      <p:sp>
        <p:nvSpPr>
          <p:cNvPr id="12" name="Shape 10"/>
          <p:cNvSpPr/>
          <p:nvPr/>
        </p:nvSpPr>
        <p:spPr>
          <a:xfrm>
            <a:off x="8046720" y="2236699"/>
            <a:ext cx="3429000" cy="4255541"/>
          </a:xfrm>
          <a:prstGeom prst="roundRect">
            <a:avLst>
              <a:gd name="adj" fmla="val 2667"/>
            </a:avLst>
          </a:prstGeom>
          <a:solidFill>
            <a:srgbClr val="FF5D73"/>
          </a:solidFill>
          <a:ln w="28575">
            <a:solidFill>
              <a:srgbClr val="1D1D1D"/>
            </a:solidFill>
            <a:prstDash val="solid"/>
          </a:ln>
          <a:effectLst>
            <a:outerShdw sx="100000" sy="100000" kx="0" ky="0" algn="bl" rotWithShape="0" blurRad="3.751953350691447e+185" dist="2.5794679286003714e+185" dir="4.677553689032201e+216">
              <a:srgbClr val="1D1D1D">
                <a:alpha val="1.0000000000000001e+225"/>
              </a:srgbClr>
            </a:outerShdw>
          </a:effectLst>
        </p:spPr>
      </p:sp>
      <p:sp>
        <p:nvSpPr>
          <p:cNvPr id="13" name="Text 11"/>
          <p:cNvSpPr/>
          <p:nvPr/>
        </p:nvSpPr>
        <p:spPr>
          <a:xfrm>
            <a:off x="8247888" y="2401291"/>
            <a:ext cx="3026664" cy="457200"/>
          </a:xfrm>
          <a:prstGeom prst="rect">
            <a:avLst/>
          </a:prstGeom>
          <a:noFill/>
          <a:ln/>
        </p:spPr>
        <p:txBody>
          <a:bodyPr wrap="square" rtlCol="0" anchor="t"/>
          <a:lstStyle/>
          <a:p>
            <a:pPr indent="0" marL="0">
              <a:buNone/>
            </a:pPr>
            <a:r>
              <a:rPr lang="en-US" sz="1400" b="1" dirty="0">
                <a:solidFill>
                  <a:srgbClr val="1D1D1D"/>
                </a:solidFill>
                <a:latin typeface="Nunito" pitchFamily="34" charset="0"/>
                <a:ea typeface="Nunito" pitchFamily="34" charset="-122"/>
                <a:cs typeface="Nunito" pitchFamily="34" charset="-120"/>
              </a:rPr>
              <a:t>After</a:t>
            </a:r>
            <a:endParaRPr lang="en-US" sz="1400" dirty="0"/>
          </a:p>
        </p:txBody>
      </p:sp>
      <p:sp>
        <p:nvSpPr>
          <p:cNvPr id="14" name="Text 12"/>
          <p:cNvSpPr/>
          <p:nvPr/>
        </p:nvSpPr>
        <p:spPr>
          <a:xfrm>
            <a:off x="8247888" y="2876779"/>
            <a:ext cx="3026664" cy="3469157"/>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Ship document capture with a confirm-what-we-read step, and a district-officer rollup dashboard.</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2EC4B6"/>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45 / 55</a:t>
            </a:r>
            <a:endParaRPr lang="en-US" sz="1000" dirty="0"/>
          </a:p>
        </p:txBody>
      </p:sp>
      <p:sp>
        <p:nvSpPr>
          <p:cNvPr id="4" name="Text 2"/>
          <p:cNvSpPr/>
          <p:nvPr/>
        </p:nvSpPr>
        <p:spPr>
          <a:xfrm>
            <a:off x="4709160" y="548640"/>
            <a:ext cx="274320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WHY THIS SCALES</a:t>
            </a:r>
            <a:endParaRPr lang="en-US" sz="1100" dirty="0"/>
          </a:p>
        </p:txBody>
      </p:sp>
      <p:sp>
        <p:nvSpPr>
          <p:cNvPr id="5" name="Text 3"/>
          <p:cNvSpPr/>
          <p:nvPr/>
        </p:nvSpPr>
        <p:spPr>
          <a:xfrm>
            <a:off x="914400" y="1188720"/>
            <a:ext cx="10360152" cy="1382725"/>
          </a:xfrm>
          <a:prstGeom prst="rect">
            <a:avLst/>
          </a:prstGeom>
          <a:noFill/>
          <a:ln/>
        </p:spPr>
        <p:txBody>
          <a:bodyPr wrap="square" rtlCol="0" anchor="t"/>
          <a:lstStyle/>
          <a:p>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Adding the next union costs </a:t>
            </a:r>
            <a:pPr algn="ctr"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onboarding</a:t>
            </a:r>
            <a:pPr algn="ctr" indent="0" marL="0">
              <a:lnSpc>
                <a:spcPct val="105000"/>
              </a:lnSpc>
              <a:buNone/>
            </a:pPr>
            <a:r>
              <a:rPr lang="en-US" sz="3800" b="1" dirty="0">
                <a:solidFill>
                  <a:srgbClr val="1D1D1D"/>
                </a:solidFill>
                <a:latin typeface="Baloo 2" pitchFamily="34" charset="0"/>
                <a:ea typeface="Baloo 2" pitchFamily="34" charset="-122"/>
                <a:cs typeface="Baloo 2" pitchFamily="34" charset="-120"/>
              </a:rPr>
              <a:t>, not </a:t>
            </a:r>
            <a:pPr algn="ctr"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rewriting.</a:t>
            </a:r>
            <a:endParaRPr lang="en-US" sz="3800" dirty="0"/>
          </a:p>
        </p:txBody>
      </p:sp>
      <p:sp>
        <p:nvSpPr>
          <p:cNvPr id="6" name="Text 4"/>
          <p:cNvSpPr/>
          <p:nvPr/>
        </p:nvSpPr>
        <p:spPr>
          <a:xfrm>
            <a:off x="1280160" y="3083509"/>
            <a:ext cx="9628632" cy="1986217"/>
          </a:xfrm>
          <a:prstGeom prst="rect">
            <a:avLst/>
          </a:prstGeom>
          <a:noFill/>
          <a:ln/>
        </p:spPr>
        <p:txBody>
          <a:bodyPr wrap="square" rtlCol="0" anchor="t"/>
          <a:lstStyle/>
          <a:p>
            <a:pPr algn="ctr" indent="0" marL="0">
              <a:lnSpc>
                <a:spcPct val="125000"/>
              </a:lnSpc>
              <a:buNone/>
            </a:pPr>
            <a:r>
              <a:rPr lang="en-US" sz="1900" dirty="0">
                <a:solidFill>
                  <a:srgbClr val="1D1D1D"/>
                </a:solidFill>
                <a:latin typeface="Nunito" pitchFamily="34" charset="0"/>
                <a:ea typeface="Nunito" pitchFamily="34" charset="-122"/>
                <a:cs typeface="Nunito" pitchFamily="34" charset="-120"/>
              </a:rPr>
              <a:t>One codebase already answers “what can I get,” “where did the money go,” and “who’s watching” for a citizen, a chairman, an upazila officer, a donor, and the public — each from the exact same data, scoped differently. Any ministry’s next programme joins the same rule engine. Any union joins the same ledger. That is what makes this a platform, not a pilot.</a:t>
            </a:r>
            <a:endParaRPr lang="en-US" sz="1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46 / 55</a:t>
            </a:r>
            <a:endParaRPr lang="en-US" sz="1000" dirty="0"/>
          </a:p>
        </p:txBody>
      </p:sp>
      <p:sp>
        <p:nvSpPr>
          <p:cNvPr id="4" name="Text 2"/>
          <p:cNvSpPr/>
          <p:nvPr/>
        </p:nvSpPr>
        <p:spPr>
          <a:xfrm>
            <a:off x="640080" y="502920"/>
            <a:ext cx="548640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JUDGING CRITERION — ORIGINALITY</a:t>
            </a:r>
            <a:endParaRPr lang="en-US" sz="1100" dirty="0"/>
          </a:p>
        </p:txBody>
      </p:sp>
      <p:sp>
        <p:nvSpPr>
          <p:cNvPr id="5" name="Text 3"/>
          <p:cNvSpPr/>
          <p:nvPr/>
        </p:nvSpPr>
        <p:spPr>
          <a:xfrm>
            <a:off x="640080" y="109728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The new idea isn’t the chatbot. It’s the </a:t>
            </a:r>
            <a:pPr algn="l"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wall</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we built around it.</a:t>
            </a:r>
            <a:endParaRPr lang="en-US" sz="3800" dirty="0"/>
          </a:p>
        </p:txBody>
      </p:sp>
      <p:sp>
        <p:nvSpPr>
          <p:cNvPr id="6" name="Text 4"/>
          <p:cNvSpPr/>
          <p:nvPr/>
        </p:nvSpPr>
        <p:spPr>
          <a:xfrm>
            <a:off x="640080" y="2854909"/>
            <a:ext cx="10908792" cy="1618234"/>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Benefits chatbots already exist. What’s genuinely new is refusing to let a model decide anything — a rule engine owns the verdict, the AI only narrates it — and pairing that with a citizen-facing accountability ledger on the same platform, so “what can I get” and “where did the money go” are one product, not two.</a:t>
            </a:r>
            <a:endParaRPr lang="en-US" sz="1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EC4B6"/>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47 / 55</a:t>
            </a:r>
            <a:endParaRPr lang="en-US" sz="1000" dirty="0"/>
          </a:p>
        </p:txBody>
      </p:sp>
      <p:sp>
        <p:nvSpPr>
          <p:cNvPr id="4" name="Text 2"/>
          <p:cNvSpPr/>
          <p:nvPr/>
        </p:nvSpPr>
        <p:spPr>
          <a:xfrm>
            <a:off x="640080" y="502920"/>
            <a:ext cx="548640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JUDGING CRITERION — PRACTICAL IMPACT</a:t>
            </a:r>
            <a:endParaRPr lang="en-US" sz="1100" dirty="0"/>
          </a:p>
        </p:txBody>
      </p:sp>
      <p:sp>
        <p:nvSpPr>
          <p:cNvPr id="5" name="Text 3"/>
          <p:cNvSpPr/>
          <p:nvPr/>
        </p:nvSpPr>
        <p:spPr>
          <a:xfrm>
            <a:off x="640080" y="109728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It changes what a citizen learns, and what an official can’t hide.</a:t>
            </a:r>
            <a:endParaRPr lang="en-US" sz="3800" dirty="0"/>
          </a:p>
        </p:txBody>
      </p:sp>
      <p:sp>
        <p:nvSpPr>
          <p:cNvPr id="6" name="Text 4"/>
          <p:cNvSpPr/>
          <p:nvPr/>
        </p:nvSpPr>
        <p:spPr>
          <a:xfrm>
            <a:off x="640080" y="2854909"/>
            <a:ext cx="10908792" cy="1618234"/>
          </a:xfrm>
          <a:prstGeom prst="rect">
            <a:avLst/>
          </a:prstGeom>
          <a:noFill/>
          <a:ln/>
        </p:spPr>
        <p:txBody>
          <a:bodyPr wrap="square" rtlCol="0" anchor="t"/>
          <a:lstStyle/>
          <a:p>
            <a:pPr algn="l" indent="0" marL="0">
              <a:lnSpc>
                <a:spcPct val="125000"/>
              </a:lnSpc>
              <a:buNone/>
            </a:pPr>
            <a:r>
              <a:rPr lang="en-US" sz="1900" dirty="0">
                <a:solidFill>
                  <a:srgbClr val="1D1D1D"/>
                </a:solidFill>
                <a:latin typeface="Nunito" pitchFamily="34" charset="0"/>
                <a:ea typeface="Nunito" pitchFamily="34" charset="-122"/>
                <a:cs typeface="Nunito" pitchFamily="34" charset="-120"/>
              </a:rPr>
              <a:t>A citizen gets a clear yes / partially / not eligible / not yet, always with a reason, instead of silence. A union chairman gets a legitimate channel to build trust. An upazila officer gets a real queue instead of rumours. None of it requires a citizen to already know the programme exists — the life-event grid finds it for them.</a:t>
            </a:r>
            <a:endParaRPr lang="en-US" sz="1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48 / 55</a:t>
            </a:r>
            <a:endParaRPr lang="en-US" sz="1000" dirty="0"/>
          </a:p>
        </p:txBody>
      </p:sp>
      <p:sp>
        <p:nvSpPr>
          <p:cNvPr id="4" name="Text 2"/>
          <p:cNvSpPr/>
          <p:nvPr/>
        </p:nvSpPr>
        <p:spPr>
          <a:xfrm>
            <a:off x="640080" y="502920"/>
            <a:ext cx="548640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JUDGING CRITERION — COMMERCIALIZATION POTENTIAL</a:t>
            </a:r>
            <a:endParaRPr lang="en-US" sz="1100" dirty="0"/>
          </a:p>
        </p:txBody>
      </p:sp>
      <p:sp>
        <p:nvSpPr>
          <p:cNvPr id="5" name="Text 3"/>
          <p:cNvSpPr/>
          <p:nvPr/>
        </p:nvSpPr>
        <p:spPr>
          <a:xfrm>
            <a:off x="640080" y="1097280"/>
            <a:ext cx="10908792" cy="2000936"/>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The buyers aren’t citizens — they’re the institutions that need to be trusted.</a:t>
            </a:r>
            <a:endParaRPr lang="en-US" sz="3800" dirty="0"/>
          </a:p>
        </p:txBody>
      </p:sp>
      <p:sp>
        <p:nvSpPr>
          <p:cNvPr id="6" name="Text 4"/>
          <p:cNvSpPr/>
          <p:nvPr/>
        </p:nvSpPr>
        <p:spPr>
          <a:xfrm>
            <a:off x="640080" y="3473120"/>
            <a:ext cx="10908792" cy="1986217"/>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Ministries license it as a verified front door. Donors already want fund-tracking, and pay to have their own programmes verified. Union Parishads pay a light fee for the accountability tier that builds a chairman’s own credibility. The leader dashboard already scales from 5 pilot unions to any of Bangladesh’s ~4,500 with no rewrite — adoption is the constraint, not engineering.</a:t>
            </a:r>
            <a:endParaRPr lang="en-US" sz="1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BF00"/>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49 / 55</a:t>
            </a:r>
            <a:endParaRPr lang="en-US" sz="1000" dirty="0"/>
          </a:p>
        </p:txBody>
      </p:sp>
      <p:sp>
        <p:nvSpPr>
          <p:cNvPr id="4" name="Text 2"/>
          <p:cNvSpPr/>
          <p:nvPr/>
        </p:nvSpPr>
        <p:spPr>
          <a:xfrm>
            <a:off x="640080" y="502920"/>
            <a:ext cx="548640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JUDGING CRITERION — TECHNICAL CAPABILITY</a:t>
            </a:r>
            <a:endParaRPr lang="en-US" sz="1100" dirty="0"/>
          </a:p>
        </p:txBody>
      </p:sp>
      <p:sp>
        <p:nvSpPr>
          <p:cNvPr id="5" name="Text 3"/>
          <p:cNvSpPr/>
          <p:nvPr/>
        </p:nvSpPr>
        <p:spPr>
          <a:xfrm>
            <a:off x="640080" y="109728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Not a prototype pretending to work. A working system that says so.</a:t>
            </a:r>
            <a:endParaRPr lang="en-US" sz="3800" dirty="0"/>
          </a:p>
        </p:txBody>
      </p:sp>
      <p:sp>
        <p:nvSpPr>
          <p:cNvPr id="6" name="Text 4"/>
          <p:cNvSpPr/>
          <p:nvPr/>
        </p:nvSpPr>
        <p:spPr>
          <a:xfrm>
            <a:off x="640080" y="2854909"/>
            <a:ext cx="10908792" cy="1250251"/>
          </a:xfrm>
          <a:prstGeom prst="rect">
            <a:avLst/>
          </a:prstGeom>
          <a:noFill/>
          <a:ln/>
        </p:spPr>
        <p:txBody>
          <a:bodyPr wrap="square" rtlCol="0" anchor="t"/>
          <a:lstStyle/>
          <a:p>
            <a:pPr algn="l" indent="0" marL="0">
              <a:lnSpc>
                <a:spcPct val="125000"/>
              </a:lnSpc>
              <a:buNone/>
            </a:pPr>
            <a:r>
              <a:rPr lang="en-US" sz="1900" dirty="0">
                <a:solidFill>
                  <a:srgbClr val="1D1D1D"/>
                </a:solidFill>
                <a:latin typeface="Nunito" pitchFamily="34" charset="0"/>
                <a:ea typeface="Nunito" pitchFamily="34" charset="-122"/>
                <a:cs typeface="Nunito" pitchFamily="34" charset="-120"/>
              </a:rPr>
              <a:t>47 database tables, 58 API route files, a deterministic rule engine with its own test suite, and two independent tamper-evident ledgers checkable with a script that needs no login. Every screenshot in this deck came from that running system, not a mockup.</a:t>
            </a:r>
            <a:endParaRPr lang="en-US" sz="1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50 / 55</a:t>
            </a:r>
            <a:endParaRPr lang="en-US" sz="1000" dirty="0"/>
          </a:p>
        </p:txBody>
      </p:sp>
      <p:sp>
        <p:nvSpPr>
          <p:cNvPr id="4" name="Text 2"/>
          <p:cNvSpPr/>
          <p:nvPr/>
        </p:nvSpPr>
        <p:spPr>
          <a:xfrm>
            <a:off x="640080" y="502920"/>
            <a:ext cx="804672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JUDGING CRITERION — SUSTAINABLE DEVELOPMENT CONTRIBUTION</a:t>
            </a:r>
            <a:endParaRPr lang="en-US" sz="1100" dirty="0"/>
          </a:p>
        </p:txBody>
      </p:sp>
      <p:sp>
        <p:nvSpPr>
          <p:cNvPr id="5" name="Text 3"/>
          <p:cNvSpPr/>
          <p:nvPr/>
        </p:nvSpPr>
        <p:spPr>
          <a:xfrm>
            <a:off x="640080" y="109728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Four SDGs we can point to inside the product, not just in a slide.</a:t>
            </a:r>
            <a:endParaRPr lang="en-US" sz="3800" dirty="0"/>
          </a:p>
        </p:txBody>
      </p:sp>
      <p:sp>
        <p:nvSpPr>
          <p:cNvPr id="6" name="Shape 4"/>
          <p:cNvSpPr/>
          <p:nvPr/>
        </p:nvSpPr>
        <p:spPr>
          <a:xfrm>
            <a:off x="640080" y="2900629"/>
            <a:ext cx="2521458" cy="3545891"/>
          </a:xfrm>
          <a:prstGeom prst="roundRect">
            <a:avLst>
              <a:gd name="adj" fmla="val 3626"/>
            </a:avLst>
          </a:prstGeom>
          <a:solidFill>
            <a:srgbClr val="F5E6CC"/>
          </a:solidFill>
          <a:ln w="28575">
            <a:solidFill>
              <a:srgbClr val="1D1D1D"/>
            </a:solidFill>
            <a:prstDash val="solid"/>
          </a:ln>
          <a:effectLst>
            <a:outerShdw sx="100000" sy="100000" kx="0" ky="0" algn="bl" rotWithShape="0" blurRad="4.764980755378138e+189" dist="3.2759242693224717e+189" dir="2.806532213419321e+221">
              <a:srgbClr val="1D1D1D">
                <a:alpha val="1e+230"/>
              </a:srgbClr>
            </a:outerShdw>
          </a:effectLst>
        </p:spPr>
      </p:sp>
      <p:sp>
        <p:nvSpPr>
          <p:cNvPr id="7" name="Text 5"/>
          <p:cNvSpPr/>
          <p:nvPr/>
        </p:nvSpPr>
        <p:spPr>
          <a:xfrm>
            <a:off x="841248" y="3065221"/>
            <a:ext cx="2119122" cy="457200"/>
          </a:xfrm>
          <a:prstGeom prst="rect">
            <a:avLst/>
          </a:prstGeom>
          <a:noFill/>
          <a:ln/>
        </p:spPr>
        <p:txBody>
          <a:bodyPr wrap="square" rtlCol="0" anchor="t"/>
          <a:lstStyle/>
          <a:p>
            <a:pPr indent="0" marL="0">
              <a:buNone/>
            </a:pPr>
            <a:r>
              <a:rPr lang="en-US" sz="1300" b="1" dirty="0">
                <a:solidFill>
                  <a:srgbClr val="1D1D1D"/>
                </a:solidFill>
                <a:latin typeface="Nunito" pitchFamily="34" charset="0"/>
                <a:ea typeface="Nunito" pitchFamily="34" charset="-122"/>
                <a:cs typeface="Nunito" pitchFamily="34" charset="-120"/>
              </a:rPr>
              <a:t>SDG 1 — No Poverty</a:t>
            </a:r>
            <a:endParaRPr lang="en-US" sz="1300" dirty="0"/>
          </a:p>
        </p:txBody>
      </p:sp>
      <p:sp>
        <p:nvSpPr>
          <p:cNvPr id="8" name="Text 6"/>
          <p:cNvSpPr/>
          <p:nvPr/>
        </p:nvSpPr>
        <p:spPr>
          <a:xfrm>
            <a:off x="841248" y="3540709"/>
            <a:ext cx="2119122" cy="2759507"/>
          </a:xfrm>
          <a:prstGeom prst="rect">
            <a:avLst/>
          </a:prstGeom>
          <a:noFill/>
          <a:ln/>
        </p:spPr>
        <p:txBody>
          <a:bodyPr wrap="square" rtlCol="0" anchor="t"/>
          <a:lstStyle/>
          <a:p>
            <a:pPr indent="0" marL="0">
              <a:lnSpc>
                <a:spcPct val="125000"/>
              </a:lnSpc>
              <a:buNone/>
            </a:pPr>
            <a:r>
              <a:rPr lang="en-US" sz="1200" dirty="0">
                <a:solidFill>
                  <a:srgbClr val="332F2A"/>
                </a:solidFill>
                <a:latin typeface="Nunito" pitchFamily="34" charset="0"/>
                <a:ea typeface="Nunito" pitchFamily="34" charset="-122"/>
                <a:cs typeface="Nunito" pitchFamily="34" charset="-120"/>
              </a:rPr>
              <a:t>Connects citizens to welfare allowances they qualify for but didn’t know existed.</a:t>
            </a:r>
            <a:endParaRPr lang="en-US" sz="1200" dirty="0"/>
          </a:p>
        </p:txBody>
      </p:sp>
      <p:sp>
        <p:nvSpPr>
          <p:cNvPr id="9" name="Shape 7"/>
          <p:cNvSpPr/>
          <p:nvPr/>
        </p:nvSpPr>
        <p:spPr>
          <a:xfrm>
            <a:off x="3435858" y="2900629"/>
            <a:ext cx="2521458" cy="3545891"/>
          </a:xfrm>
          <a:prstGeom prst="roundRect">
            <a:avLst>
              <a:gd name="adj" fmla="val 3626"/>
            </a:avLst>
          </a:prstGeom>
          <a:solidFill>
            <a:srgbClr val="FF5D73"/>
          </a:solidFill>
          <a:ln w="28575">
            <a:solidFill>
              <a:srgbClr val="1D1D1D"/>
            </a:solidFill>
            <a:prstDash val="solid"/>
          </a:ln>
          <a:effectLst>
            <a:outerShdw sx="100000" sy="100000" kx="0" ky="0" algn="bl" rotWithShape="0" blurRad="6.051525559330235e+193" dist="4.160423822039539e+193" dir="1.6839193280515925e+226">
              <a:srgbClr val="1D1D1D">
                <a:alpha val="1e+235"/>
              </a:srgbClr>
            </a:outerShdw>
          </a:effectLst>
        </p:spPr>
      </p:sp>
      <p:sp>
        <p:nvSpPr>
          <p:cNvPr id="10" name="Text 8"/>
          <p:cNvSpPr/>
          <p:nvPr/>
        </p:nvSpPr>
        <p:spPr>
          <a:xfrm>
            <a:off x="3637026" y="3065221"/>
            <a:ext cx="2119122" cy="457200"/>
          </a:xfrm>
          <a:prstGeom prst="rect">
            <a:avLst/>
          </a:prstGeom>
          <a:noFill/>
          <a:ln/>
        </p:spPr>
        <p:txBody>
          <a:bodyPr wrap="square" rtlCol="0" anchor="t"/>
          <a:lstStyle/>
          <a:p>
            <a:pPr indent="0" marL="0">
              <a:buNone/>
            </a:pPr>
            <a:r>
              <a:rPr lang="en-US" sz="1300" b="1" dirty="0">
                <a:solidFill>
                  <a:srgbClr val="1D1D1D"/>
                </a:solidFill>
                <a:latin typeface="Nunito" pitchFamily="34" charset="0"/>
                <a:ea typeface="Nunito" pitchFamily="34" charset="-122"/>
                <a:cs typeface="Nunito" pitchFamily="34" charset="-120"/>
              </a:rPr>
              <a:t>SDG 5 — Gender Equality</a:t>
            </a:r>
            <a:endParaRPr lang="en-US" sz="1300" dirty="0"/>
          </a:p>
        </p:txBody>
      </p:sp>
      <p:sp>
        <p:nvSpPr>
          <p:cNvPr id="11" name="Text 9"/>
          <p:cNvSpPr/>
          <p:nvPr/>
        </p:nvSpPr>
        <p:spPr>
          <a:xfrm>
            <a:off x="3637026" y="3540709"/>
            <a:ext cx="2119122" cy="2759507"/>
          </a:xfrm>
          <a:prstGeom prst="rect">
            <a:avLst/>
          </a:prstGeom>
          <a:noFill/>
          <a:ln/>
        </p:spPr>
        <p:txBody>
          <a:bodyPr wrap="square" rtlCol="0" anchor="t"/>
          <a:lstStyle/>
          <a:p>
            <a:pPr indent="0" marL="0">
              <a:lnSpc>
                <a:spcPct val="125000"/>
              </a:lnSpc>
              <a:buNone/>
            </a:pPr>
            <a:r>
              <a:rPr lang="en-US" sz="1200" dirty="0">
                <a:solidFill>
                  <a:srgbClr val="332F2A"/>
                </a:solidFill>
                <a:latin typeface="Nunito" pitchFamily="34" charset="0"/>
                <a:ea typeface="Nunito" pitchFamily="34" charset="-122"/>
                <a:cs typeface="Nunito" pitchFamily="34" charset="-120"/>
              </a:rPr>
              <a:t>The flagship programme in this deck is a widow’s allowance; verification is open to every citizen equally.</a:t>
            </a:r>
            <a:endParaRPr lang="en-US" sz="1200" dirty="0"/>
          </a:p>
        </p:txBody>
      </p:sp>
      <p:sp>
        <p:nvSpPr>
          <p:cNvPr id="12" name="Shape 10"/>
          <p:cNvSpPr/>
          <p:nvPr/>
        </p:nvSpPr>
        <p:spPr>
          <a:xfrm>
            <a:off x="6231636" y="2900629"/>
            <a:ext cx="2521458" cy="3545891"/>
          </a:xfrm>
          <a:prstGeom prst="roundRect">
            <a:avLst>
              <a:gd name="adj" fmla="val 3626"/>
            </a:avLst>
          </a:prstGeom>
          <a:solidFill>
            <a:srgbClr val="2EC4B6"/>
          </a:solidFill>
          <a:ln w="28575">
            <a:solidFill>
              <a:srgbClr val="1D1D1D"/>
            </a:solidFill>
            <a:prstDash val="solid"/>
          </a:ln>
          <a:effectLst>
            <a:outerShdw sx="100000" sy="100000" kx="0" ky="0" algn="bl" rotWithShape="0" blurRad="7.685437460349399e+197" dist="5.2837382539902146e+197" dir="1.0103515968309554e+231">
              <a:srgbClr val="1D1D1D">
                <a:alpha val="1e+240"/>
              </a:srgbClr>
            </a:outerShdw>
          </a:effectLst>
        </p:spPr>
      </p:sp>
      <p:sp>
        <p:nvSpPr>
          <p:cNvPr id="13" name="Text 11"/>
          <p:cNvSpPr/>
          <p:nvPr/>
        </p:nvSpPr>
        <p:spPr>
          <a:xfrm>
            <a:off x="6432804" y="3065221"/>
            <a:ext cx="2119122" cy="457200"/>
          </a:xfrm>
          <a:prstGeom prst="rect">
            <a:avLst/>
          </a:prstGeom>
          <a:noFill/>
          <a:ln/>
        </p:spPr>
        <p:txBody>
          <a:bodyPr wrap="square" rtlCol="0" anchor="t"/>
          <a:lstStyle/>
          <a:p>
            <a:pPr indent="0" marL="0">
              <a:buNone/>
            </a:pPr>
            <a:r>
              <a:rPr lang="en-US" sz="1300" b="1" dirty="0">
                <a:solidFill>
                  <a:srgbClr val="1D1D1D"/>
                </a:solidFill>
                <a:latin typeface="Nunito" pitchFamily="34" charset="0"/>
                <a:ea typeface="Nunito" pitchFamily="34" charset="-122"/>
                <a:cs typeface="Nunito" pitchFamily="34" charset="-120"/>
              </a:rPr>
              <a:t>SDG 10 — Reduced Inequalities</a:t>
            </a:r>
            <a:endParaRPr lang="en-US" sz="1300" dirty="0"/>
          </a:p>
        </p:txBody>
      </p:sp>
      <p:sp>
        <p:nvSpPr>
          <p:cNvPr id="14" name="Text 12"/>
          <p:cNvSpPr/>
          <p:nvPr/>
        </p:nvSpPr>
        <p:spPr>
          <a:xfrm>
            <a:off x="6432804" y="3540709"/>
            <a:ext cx="2119122" cy="2759507"/>
          </a:xfrm>
          <a:prstGeom prst="rect">
            <a:avLst/>
          </a:prstGeom>
          <a:noFill/>
          <a:ln/>
        </p:spPr>
        <p:txBody>
          <a:bodyPr wrap="square" rtlCol="0" anchor="t"/>
          <a:lstStyle/>
          <a:p>
            <a:pPr indent="0" marL="0">
              <a:lnSpc>
                <a:spcPct val="125000"/>
              </a:lnSpc>
              <a:buNone/>
            </a:pPr>
            <a:r>
              <a:rPr lang="en-US" sz="1200" dirty="0">
                <a:solidFill>
                  <a:srgbClr val="332F2A"/>
                </a:solidFill>
                <a:latin typeface="Nunito" pitchFamily="34" charset="0"/>
                <a:ea typeface="Nunito" pitchFamily="34" charset="-122"/>
                <a:cs typeface="Nunito" pitchFamily="34" charset="-120"/>
              </a:rPr>
              <a:t>Voice-first, USSD and SMS reach citizens with no smartphone, no data plan, or low literacy.</a:t>
            </a:r>
            <a:endParaRPr lang="en-US" sz="1200" dirty="0"/>
          </a:p>
        </p:txBody>
      </p:sp>
      <p:sp>
        <p:nvSpPr>
          <p:cNvPr id="15" name="Shape 13"/>
          <p:cNvSpPr/>
          <p:nvPr/>
        </p:nvSpPr>
        <p:spPr>
          <a:xfrm>
            <a:off x="9027414" y="2900629"/>
            <a:ext cx="2521458" cy="3545891"/>
          </a:xfrm>
          <a:prstGeom prst="roundRect">
            <a:avLst>
              <a:gd name="adj" fmla="val 3626"/>
            </a:avLst>
          </a:prstGeom>
          <a:solidFill>
            <a:srgbClr val="FFBF00"/>
          </a:solidFill>
          <a:ln w="28575">
            <a:solidFill>
              <a:srgbClr val="1D1D1D"/>
            </a:solidFill>
            <a:prstDash val="solid"/>
          </a:ln>
          <a:effectLst>
            <a:outerShdw sx="100000" sy="100000" kx="0" ky="0" algn="bl" rotWithShape="0" blurRad="9.760505574643736e+201" dist="6.710347582567573e+201" dir="6.062109580985733e+235">
              <a:srgbClr val="1D1D1D">
                <a:alpha val="1e+245"/>
              </a:srgbClr>
            </a:outerShdw>
          </a:effectLst>
        </p:spPr>
      </p:sp>
      <p:sp>
        <p:nvSpPr>
          <p:cNvPr id="16" name="Text 14"/>
          <p:cNvSpPr/>
          <p:nvPr/>
        </p:nvSpPr>
        <p:spPr>
          <a:xfrm>
            <a:off x="9228582" y="3065221"/>
            <a:ext cx="2119122" cy="457200"/>
          </a:xfrm>
          <a:prstGeom prst="rect">
            <a:avLst/>
          </a:prstGeom>
          <a:noFill/>
          <a:ln/>
        </p:spPr>
        <p:txBody>
          <a:bodyPr wrap="square" rtlCol="0" anchor="t"/>
          <a:lstStyle/>
          <a:p>
            <a:pPr indent="0" marL="0">
              <a:buNone/>
            </a:pPr>
            <a:r>
              <a:rPr lang="en-US" sz="1300" b="1" dirty="0">
                <a:solidFill>
                  <a:srgbClr val="1D1D1D"/>
                </a:solidFill>
                <a:latin typeface="Nunito" pitchFamily="34" charset="0"/>
                <a:ea typeface="Nunito" pitchFamily="34" charset="-122"/>
                <a:cs typeface="Nunito" pitchFamily="34" charset="-120"/>
              </a:rPr>
              <a:t>SDG 16 — Strong Institutions</a:t>
            </a:r>
            <a:endParaRPr lang="en-US" sz="1300" dirty="0"/>
          </a:p>
        </p:txBody>
      </p:sp>
      <p:sp>
        <p:nvSpPr>
          <p:cNvPr id="17" name="Text 15"/>
          <p:cNvSpPr/>
          <p:nvPr/>
        </p:nvSpPr>
        <p:spPr>
          <a:xfrm>
            <a:off x="9228582" y="3540709"/>
            <a:ext cx="2119122" cy="2759507"/>
          </a:xfrm>
          <a:prstGeom prst="rect">
            <a:avLst/>
          </a:prstGeom>
          <a:noFill/>
          <a:ln/>
        </p:spPr>
        <p:txBody>
          <a:bodyPr wrap="square" rtlCol="0" anchor="t"/>
          <a:lstStyle/>
          <a:p>
            <a:pPr indent="0" marL="0">
              <a:lnSpc>
                <a:spcPct val="125000"/>
              </a:lnSpc>
              <a:buNone/>
            </a:pPr>
            <a:r>
              <a:rPr lang="en-US" sz="1200" dirty="0">
                <a:solidFill>
                  <a:srgbClr val="332F2A"/>
                </a:solidFill>
                <a:latin typeface="Nunito" pitchFamily="34" charset="0"/>
                <a:ea typeface="Nunito" pitchFamily="34" charset="-122"/>
                <a:cs typeface="Nunito" pitchFamily="34" charset="-120"/>
              </a:rPr>
              <a:t>A tamper-evident public ledger and an enforced citizen complaint channel.</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51 / 55</a:t>
            </a:r>
            <a:endParaRPr lang="en-US" sz="1000" dirty="0"/>
          </a:p>
        </p:txBody>
      </p:sp>
      <p:sp>
        <p:nvSpPr>
          <p:cNvPr id="4" name="Text 2"/>
          <p:cNvSpPr/>
          <p:nvPr/>
        </p:nvSpPr>
        <p:spPr>
          <a:xfrm>
            <a:off x="640080" y="502920"/>
            <a:ext cx="548640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JUDGING CRITERION — INNOVATIVE LEADERSHIP</a:t>
            </a:r>
            <a:endParaRPr lang="en-US" sz="1100" dirty="0"/>
          </a:p>
        </p:txBody>
      </p:sp>
      <p:sp>
        <p:nvSpPr>
          <p:cNvPr id="5" name="Text 3"/>
          <p:cNvSpPr/>
          <p:nvPr/>
        </p:nvSpPr>
        <p:spPr>
          <a:xfrm>
            <a:off x="640080" y="109728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The evidence is in the discipline, not a slogan.</a:t>
            </a:r>
            <a:endParaRPr lang="en-US" sz="3800" dirty="0"/>
          </a:p>
        </p:txBody>
      </p:sp>
      <p:sp>
        <p:nvSpPr>
          <p:cNvPr id="6" name="Text 4"/>
          <p:cNvSpPr/>
          <p:nvPr/>
        </p:nvSpPr>
        <p:spPr>
          <a:xfrm>
            <a:off x="640080" y="2854909"/>
            <a:ext cx="10908792" cy="1618234"/>
          </a:xfrm>
          <a:prstGeom prst="rect">
            <a:avLst/>
          </a:prstGeom>
          <a:noFill/>
          <a:ln/>
        </p:spPr>
        <p:txBody>
          <a:bodyPr wrap="square" rtlCol="0" anchor="t"/>
          <a:lstStyle/>
          <a:p>
            <a:pPr algn="l" indent="0" marL="0">
              <a:lnSpc>
                <a:spcPct val="125000"/>
              </a:lnSpc>
              <a:buNone/>
            </a:pPr>
            <a:r>
              <a:rPr lang="en-US" sz="1900" dirty="0">
                <a:solidFill>
                  <a:srgbClr val="1D1D1D"/>
                </a:solidFill>
                <a:latin typeface="Nunito" pitchFamily="34" charset="0"/>
                <a:ea typeface="Nunito" pitchFamily="34" charset="-122"/>
                <a:cs typeface="Nunito" pitchFamily="34" charset="-120"/>
              </a:rPr>
              <a:t>We documented our own gaps in the same repository before anyone else could find them, fixed a real audit-chain bug we found while building the ledger, and layered five civic phases onto an existing platform without breaking what already worked. That’s what initiative looks like in the artifact itself, not just in a claim about it.</a:t>
            </a:r>
            <a:endParaRPr lang="en-US" sz="1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52 / 55</a:t>
            </a:r>
            <a:endParaRPr lang="en-US" sz="1000" dirty="0"/>
          </a:p>
        </p:txBody>
      </p:sp>
      <p:sp>
        <p:nvSpPr>
          <p:cNvPr id="4" name="Text 2"/>
          <p:cNvSpPr/>
          <p:nvPr/>
        </p:nvSpPr>
        <p:spPr>
          <a:xfrm>
            <a:off x="640080" y="502920"/>
            <a:ext cx="548640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JUDGING CRITERION — SOCIAL INCLUSION</a:t>
            </a:r>
            <a:endParaRPr lang="en-US" sz="1100" dirty="0"/>
          </a:p>
        </p:txBody>
      </p:sp>
      <p:sp>
        <p:nvSpPr>
          <p:cNvPr id="5" name="Text 3"/>
          <p:cNvSpPr/>
          <p:nvPr/>
        </p:nvSpPr>
        <p:spPr>
          <a:xfrm>
            <a:off x="640080" y="109728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Designed for the person least likely to be reached by a typical app.</a:t>
            </a:r>
            <a:endParaRPr lang="en-US" sz="3800" dirty="0"/>
          </a:p>
        </p:txBody>
      </p:sp>
      <p:sp>
        <p:nvSpPr>
          <p:cNvPr id="6" name="Text 4"/>
          <p:cNvSpPr/>
          <p:nvPr/>
        </p:nvSpPr>
        <p:spPr>
          <a:xfrm>
            <a:off x="640080" y="2854909"/>
            <a:ext cx="10908792" cy="1618234"/>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Voice-first for citizens who don’t read fluently. No smartphone required — USSD and SMS reach the feature phone already in someone’s pocket. The flagship allowance in this deck serves widows specifically. And civic participation — flagging a budget, filing a report — is open to every verified resident, not just the already-connected few.</a:t>
            </a:r>
            <a:endParaRPr lang="en-US" sz="1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5D7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53 / 55</a:t>
            </a:r>
            <a:endParaRPr lang="en-US" sz="1000" dirty="0"/>
          </a:p>
        </p:txBody>
      </p:sp>
      <p:sp>
        <p:nvSpPr>
          <p:cNvPr id="4" name="Text 2"/>
          <p:cNvSpPr/>
          <p:nvPr/>
        </p:nvSpPr>
        <p:spPr>
          <a:xfrm>
            <a:off x="640080" y="502920"/>
            <a:ext cx="493776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JUDGING CRITERION — ETHICS AND SAFETY</a:t>
            </a:r>
            <a:endParaRPr lang="en-US" sz="1100" dirty="0"/>
          </a:p>
        </p:txBody>
      </p:sp>
      <p:sp>
        <p:nvSpPr>
          <p:cNvPr id="5" name="Text 3"/>
          <p:cNvSpPr/>
          <p:nvPr/>
        </p:nvSpPr>
        <p:spPr>
          <a:xfrm>
            <a:off x="640080" y="109728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The AI is never allowed to decide anything that could </a:t>
            </a:r>
            <a:pPr algn="l" indent="0" marL="0">
              <a:lnSpc>
                <a:spcPct val="105000"/>
              </a:lnSpc>
              <a:buNone/>
            </a:pPr>
            <a:r>
              <a:rPr lang="en-US" sz="3800" b="1" dirty="0">
                <a:solidFill>
                  <a:srgbClr val="1D1D1D"/>
                </a:solidFill>
                <a:highlight>
                  <a:srgbClr val="FFBF00"/>
                </a:highlight>
                <a:latin typeface="Baloo 2" pitchFamily="34" charset="0"/>
                <a:ea typeface="Baloo 2" pitchFamily="34" charset="-122"/>
                <a:cs typeface="Baloo 2" pitchFamily="34" charset="-120"/>
              </a:rPr>
              <a:t>hurt</a:t>
            </a:r>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 someone.</a:t>
            </a:r>
            <a:endParaRPr lang="en-US" sz="3800" dirty="0"/>
          </a:p>
        </p:txBody>
      </p:sp>
      <p:sp>
        <p:nvSpPr>
          <p:cNvPr id="6" name="Shape 4"/>
          <p:cNvSpPr/>
          <p:nvPr/>
        </p:nvSpPr>
        <p:spPr>
          <a:xfrm>
            <a:off x="640080" y="2900629"/>
            <a:ext cx="5317236" cy="1658645"/>
          </a:xfrm>
          <a:prstGeom prst="roundRect">
            <a:avLst>
              <a:gd name="adj" fmla="val 5513"/>
            </a:avLst>
          </a:prstGeom>
          <a:solidFill>
            <a:srgbClr val="FFFFFF"/>
          </a:solidFill>
          <a:ln w="28575">
            <a:solidFill>
              <a:srgbClr val="1D1D1D"/>
            </a:solidFill>
            <a:prstDash val="solid"/>
          </a:ln>
          <a:effectLst>
            <a:outerShdw sx="100000" sy="100000" kx="0" ky="0" algn="bl" rotWithShape="0" blurRad="1.2395842079797546e+206" dist="8.522141429860817e+205" dir="3.63726574859144e+240">
              <a:srgbClr val="1D1D1D">
                <a:alpha val="1.0000000000000001e+250"/>
              </a:srgbClr>
            </a:outerShdw>
          </a:effectLst>
        </p:spPr>
      </p:sp>
      <p:sp>
        <p:nvSpPr>
          <p:cNvPr id="7" name="Text 5"/>
          <p:cNvSpPr/>
          <p:nvPr/>
        </p:nvSpPr>
        <p:spPr>
          <a:xfrm>
            <a:off x="841248" y="3065221"/>
            <a:ext cx="4914900" cy="1347749"/>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Never a fabricated verdict — an unconfigured check says “unavailable,” not a guessed pass.</a:t>
            </a:r>
            <a:endParaRPr lang="en-US" sz="1300" dirty="0"/>
          </a:p>
        </p:txBody>
      </p:sp>
      <p:sp>
        <p:nvSpPr>
          <p:cNvPr id="8" name="Shape 6"/>
          <p:cNvSpPr/>
          <p:nvPr/>
        </p:nvSpPr>
        <p:spPr>
          <a:xfrm>
            <a:off x="6231636" y="2900629"/>
            <a:ext cx="5317236" cy="1658645"/>
          </a:xfrm>
          <a:prstGeom prst="roundRect">
            <a:avLst>
              <a:gd name="adj" fmla="val 5513"/>
            </a:avLst>
          </a:prstGeom>
          <a:solidFill>
            <a:srgbClr val="FFFFFF"/>
          </a:solidFill>
          <a:ln w="28575">
            <a:solidFill>
              <a:srgbClr val="1D1D1D"/>
            </a:solidFill>
            <a:prstDash val="solid"/>
          </a:ln>
          <a:effectLst>
            <a:outerShdw sx="100000" sy="100000" kx="0" ky="0" algn="bl" rotWithShape="0" blurRad="1.5742719441342882e+210" dist="1.0823119615923237e+210" dir="2.182359449154864e+245">
              <a:srgbClr val="1D1D1D">
                <a:alpha val="1e+255"/>
              </a:srgbClr>
            </a:outerShdw>
          </a:effectLst>
        </p:spPr>
      </p:sp>
      <p:sp>
        <p:nvSpPr>
          <p:cNvPr id="9" name="Text 7"/>
          <p:cNvSpPr/>
          <p:nvPr/>
        </p:nvSpPr>
        <p:spPr>
          <a:xfrm>
            <a:off x="6432804" y="3065221"/>
            <a:ext cx="4914900" cy="1347749"/>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Sensitive health data is encrypted at rest; audit logs redact it.</a:t>
            </a:r>
            <a:endParaRPr lang="en-US" sz="1300" dirty="0"/>
          </a:p>
        </p:txBody>
      </p:sp>
      <p:sp>
        <p:nvSpPr>
          <p:cNvPr id="10" name="Shape 8"/>
          <p:cNvSpPr/>
          <p:nvPr/>
        </p:nvSpPr>
        <p:spPr>
          <a:xfrm>
            <a:off x="640080" y="4787875"/>
            <a:ext cx="5317236" cy="1658645"/>
          </a:xfrm>
          <a:prstGeom prst="roundRect">
            <a:avLst>
              <a:gd name="adj" fmla="val 5513"/>
            </a:avLst>
          </a:prstGeom>
          <a:solidFill>
            <a:srgbClr val="FFFFFF"/>
          </a:solidFill>
          <a:ln w="28575">
            <a:solidFill>
              <a:srgbClr val="1D1D1D"/>
            </a:solidFill>
            <a:prstDash val="solid"/>
          </a:ln>
          <a:effectLst>
            <a:outerShdw sx="100000" sy="100000" kx="0" ky="0" algn="bl" rotWithShape="0" blurRad="1.9993253690505461e+214" dist="1.3745361912222512e+214" dir="1.3094156694929184e+250">
              <a:srgbClr val="1D1D1D">
                <a:alpha val="9.999999999999999e+259"/>
              </a:srgbClr>
            </a:outerShdw>
          </a:effectLst>
        </p:spPr>
      </p:sp>
      <p:sp>
        <p:nvSpPr>
          <p:cNvPr id="11" name="Text 9"/>
          <p:cNvSpPr/>
          <p:nvPr/>
        </p:nvSpPr>
        <p:spPr>
          <a:xfrm>
            <a:off x="841248" y="4952467"/>
            <a:ext cx="4914900" cy="1347749"/>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Confidence is capped, never inflated, on unverified information.</a:t>
            </a:r>
            <a:endParaRPr lang="en-US" sz="1300" dirty="0"/>
          </a:p>
        </p:txBody>
      </p:sp>
      <p:sp>
        <p:nvSpPr>
          <p:cNvPr id="12" name="Shape 10"/>
          <p:cNvSpPr/>
          <p:nvPr/>
        </p:nvSpPr>
        <p:spPr>
          <a:xfrm>
            <a:off x="6231636" y="4787875"/>
            <a:ext cx="5317236" cy="1658645"/>
          </a:xfrm>
          <a:prstGeom prst="roundRect">
            <a:avLst>
              <a:gd name="adj" fmla="val 5513"/>
            </a:avLst>
          </a:prstGeom>
          <a:solidFill>
            <a:srgbClr val="FFFFFF"/>
          </a:solidFill>
          <a:ln w="28575">
            <a:solidFill>
              <a:srgbClr val="1D1D1D"/>
            </a:solidFill>
            <a:prstDash val="solid"/>
          </a:ln>
          <a:effectLst>
            <a:outerShdw sx="100000" sy="100000" kx="0" ky="0" algn="bl" rotWithShape="0" blurRad="2.5391432186941937e+218" dist="1.745660962852259e+218" dir="7.85649401695751e+254">
              <a:srgbClr val="1D1D1D">
                <a:alpha val="9.999999999999999e+264"/>
              </a:srgbClr>
            </a:outerShdw>
          </a:effectLst>
        </p:spPr>
      </p:sp>
      <p:sp>
        <p:nvSpPr>
          <p:cNvPr id="13" name="Text 11"/>
          <p:cNvSpPr/>
          <p:nvPr/>
        </p:nvSpPr>
        <p:spPr>
          <a:xfrm>
            <a:off x="6432804" y="4952467"/>
            <a:ext cx="4914900" cy="1347749"/>
          </a:xfrm>
          <a:prstGeom prst="rect">
            <a:avLst/>
          </a:prstGeom>
          <a:noFill/>
          <a:ln/>
        </p:spPr>
        <p:txBody>
          <a:bodyPr wrap="square" rtlCol="0" anchor="t"/>
          <a:lstStyle/>
          <a:p>
            <a:pPr indent="0" marL="0">
              <a:lnSpc>
                <a:spcPct val="125000"/>
              </a:lnSpc>
              <a:buNone/>
            </a:pPr>
            <a:r>
              <a:rPr lang="en-US" sz="1300" dirty="0">
                <a:solidFill>
                  <a:srgbClr val="332F2A"/>
                </a:solidFill>
                <a:latin typeface="Nunito" pitchFamily="34" charset="0"/>
                <a:ea typeface="Nunito" pitchFamily="34" charset="-122"/>
                <a:cs typeface="Nunito" pitchFamily="34" charset="-120"/>
              </a:rPr>
              <a:t>Conversations and AI logs are deleted on a real schedule — the accountability ledger never is.</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6E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54 / 55</a:t>
            </a:r>
            <a:endParaRPr lang="en-US" sz="1000" dirty="0"/>
          </a:p>
        </p:txBody>
      </p:sp>
      <p:sp>
        <p:nvSpPr>
          <p:cNvPr id="4" name="Text 2"/>
          <p:cNvSpPr/>
          <p:nvPr/>
        </p:nvSpPr>
        <p:spPr>
          <a:xfrm>
            <a:off x="640080" y="502920"/>
            <a:ext cx="5486400" cy="384048"/>
          </a:xfrm>
          <a:prstGeom prst="roundRect">
            <a:avLst>
              <a:gd name="adj" fmla="val 119048"/>
            </a:avLst>
          </a:prstGeom>
          <a:solidFill>
            <a:srgbClr val="FFFFFF"/>
          </a:solidFill>
          <a:ln w="25400">
            <a:solidFill>
              <a:srgbClr val="1D1D1D"/>
            </a:solidFill>
          </a:ln>
        </p:spPr>
        <p:txBody>
          <a:bodyPr wrap="square" rtlCol="0" anchor="ctr"/>
          <a:lstStyle/>
          <a:p>
            <a:pPr algn="ctr" indent="0" marL="0">
              <a:buNone/>
            </a:pPr>
            <a:r>
              <a:rPr lang="en-US" sz="1100" b="1" dirty="0">
                <a:solidFill>
                  <a:srgbClr val="1D1D1D"/>
                </a:solidFill>
                <a:latin typeface="Nunito" pitchFamily="34" charset="0"/>
                <a:ea typeface="Nunito" pitchFamily="34" charset="-122"/>
                <a:cs typeface="Nunito" pitchFamily="34" charset="-120"/>
              </a:rPr>
              <a:t>JUDGING CRITERION — MARKET DEMAND</a:t>
            </a:r>
            <a:endParaRPr lang="en-US" sz="1100" dirty="0"/>
          </a:p>
        </p:txBody>
      </p:sp>
      <p:sp>
        <p:nvSpPr>
          <p:cNvPr id="5" name="Text 3"/>
          <p:cNvSpPr/>
          <p:nvPr/>
        </p:nvSpPr>
        <p:spPr>
          <a:xfrm>
            <a:off x="640080" y="1097280"/>
            <a:ext cx="10908792" cy="1382725"/>
          </a:xfrm>
          <a:prstGeom prst="rect">
            <a:avLst/>
          </a:prstGeom>
          <a:noFill/>
          <a:ln/>
        </p:spPr>
        <p:txBody>
          <a:bodyPr wrap="square" rtlCol="0" anchor="t"/>
          <a:lstStyle/>
          <a:p>
            <a:pPr algn="l" indent="0" marL="0">
              <a:lnSpc>
                <a:spcPct val="105000"/>
              </a:lnSpc>
              <a:buNone/>
            </a:pPr>
            <a:r>
              <a:rPr lang="en-US" sz="3800" b="1" dirty="0">
                <a:solidFill>
                  <a:srgbClr val="1D1D1D"/>
                </a:solidFill>
                <a:latin typeface="Baloo 2" pitchFamily="34" charset="0"/>
                <a:ea typeface="Baloo 2" pitchFamily="34" charset="-122"/>
                <a:cs typeface="Baloo 2" pitchFamily="34" charset="-120"/>
              </a:rPr>
              <a:t>The demand already shaped the product, before we pitched anyone.</a:t>
            </a:r>
            <a:endParaRPr lang="en-US" sz="3800" dirty="0"/>
          </a:p>
        </p:txBody>
      </p:sp>
      <p:sp>
        <p:nvSpPr>
          <p:cNvPr id="6" name="Text 4"/>
          <p:cNvSpPr/>
          <p:nvPr/>
        </p:nvSpPr>
        <p:spPr>
          <a:xfrm>
            <a:off x="640080" y="2854909"/>
            <a:ext cx="10908792" cy="1618234"/>
          </a:xfrm>
          <a:prstGeom prst="rect">
            <a:avLst/>
          </a:prstGeom>
          <a:noFill/>
          <a:ln/>
        </p:spPr>
        <p:txBody>
          <a:bodyPr wrap="square" rtlCol="0" anchor="t"/>
          <a:lstStyle/>
          <a:p>
            <a:pPr algn="l" indent="0" marL="0">
              <a:lnSpc>
                <a:spcPct val="125000"/>
              </a:lnSpc>
              <a:buNone/>
            </a:pPr>
            <a:r>
              <a:rPr lang="en-US" sz="1900" dirty="0">
                <a:solidFill>
                  <a:srgbClr val="332F2A"/>
                </a:solidFill>
                <a:latin typeface="Nunito" pitchFamily="34" charset="0"/>
                <a:ea typeface="Nunito" pitchFamily="34" charset="-122"/>
                <a:cs typeface="Nunito" pitchFamily="34" charset="-120"/>
              </a:rPr>
              <a:t>The Donor Portal exists because funders already want proof of impact. The verification workflow exists because institutions already need a trust gate before standing behind data. Nothing else on the market answers both “what can I get” and “where did the money go” — that gap is the demand.</a:t>
            </a:r>
            <a:endParaRPr lang="en-US" sz="1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5D73"/>
          </a:solidFill>
          <a:ln/>
        </p:spPr>
      </p:sp>
      <p:sp>
        <p:nvSpPr>
          <p:cNvPr id="3" name="Text 1"/>
          <p:cNvSpPr/>
          <p:nvPr/>
        </p:nvSpPr>
        <p:spPr>
          <a:xfrm>
            <a:off x="11018520" y="6382512"/>
            <a:ext cx="1005840" cy="329184"/>
          </a:xfrm>
          <a:prstGeom prst="roundRect">
            <a:avLst>
              <a:gd name="adj" fmla="val 138889"/>
            </a:avLst>
          </a:prstGeom>
          <a:solidFill>
            <a:srgbClr val="1D1D1D"/>
          </a:solidFill>
          <a:ln/>
        </p:spPr>
        <p:txBody>
          <a:bodyPr wrap="square" rtlCol="0" anchor="ctr"/>
          <a:lstStyle/>
          <a:p>
            <a:pPr algn="ctr" indent="0" marL="0">
              <a:buNone/>
            </a:pPr>
            <a:r>
              <a:rPr lang="en-US" sz="1000" b="1" dirty="0">
                <a:solidFill>
                  <a:srgbClr val="FFF6E9"/>
                </a:solidFill>
                <a:latin typeface="Baloo 2" pitchFamily="34" charset="0"/>
                <a:ea typeface="Baloo 2" pitchFamily="34" charset="-122"/>
                <a:cs typeface="Baloo 2" pitchFamily="34" charset="-120"/>
              </a:rPr>
              <a:t>55 / 55</a:t>
            </a:r>
            <a:endParaRPr lang="en-US" sz="1000" dirty="0"/>
          </a:p>
        </p:txBody>
      </p:sp>
      <p:sp>
        <p:nvSpPr>
          <p:cNvPr id="4" name="Shape 2"/>
          <p:cNvSpPr/>
          <p:nvPr/>
        </p:nvSpPr>
        <p:spPr>
          <a:xfrm>
            <a:off x="548640" y="731520"/>
            <a:ext cx="548640" cy="548640"/>
          </a:xfrm>
          <a:prstGeom prst="ellipse">
            <a:avLst/>
          </a:prstGeom>
          <a:ln w="38100">
            <a:solidFill>
              <a:srgbClr val="FFF6E9"/>
            </a:solidFill>
            <a:prstDash val="solid"/>
          </a:ln>
        </p:spPr>
      </p:sp>
      <p:sp>
        <p:nvSpPr>
          <p:cNvPr id="5" name="Shape 3"/>
          <p:cNvSpPr/>
          <p:nvPr/>
        </p:nvSpPr>
        <p:spPr>
          <a:xfrm>
            <a:off x="10881360" y="5394960"/>
            <a:ext cx="594360" cy="502920"/>
          </a:xfrm>
          <a:prstGeom prst="triangle">
            <a:avLst/>
          </a:prstGeom>
          <a:solidFill>
            <a:srgbClr val="FF5D73"/>
          </a:solidFill>
          <a:ln w="25400">
            <a:solidFill>
              <a:srgbClr val="FFF6E9"/>
            </a:solidFill>
            <a:prstDash val="solid"/>
          </a:ln>
        </p:spPr>
      </p:sp>
      <p:sp>
        <p:nvSpPr>
          <p:cNvPr id="6" name="Text 4"/>
          <p:cNvSpPr/>
          <p:nvPr/>
        </p:nvSpPr>
        <p:spPr>
          <a:xfrm>
            <a:off x="3520440" y="548640"/>
            <a:ext cx="5120640" cy="384048"/>
          </a:xfrm>
          <a:prstGeom prst="roundRect">
            <a:avLst>
              <a:gd name="adj" fmla="val 119048"/>
            </a:avLst>
          </a:prstGeom>
          <a:solidFill>
            <a:srgbClr val="1D1D1D"/>
          </a:solidFill>
          <a:ln w="25400">
            <a:solidFill>
              <a:srgbClr val="FFF6E9"/>
            </a:solidFill>
          </a:ln>
        </p:spPr>
        <p:txBody>
          <a:bodyPr wrap="square" rtlCol="0" anchor="ctr"/>
          <a:lstStyle/>
          <a:p>
            <a:pPr algn="ctr" indent="0" marL="0">
              <a:buNone/>
            </a:pPr>
            <a:r>
              <a:rPr lang="en-US" sz="1100" b="1" dirty="0">
                <a:solidFill>
                  <a:srgbClr val="FFF6E9"/>
                </a:solidFill>
                <a:latin typeface="Nunito" pitchFamily="34" charset="0"/>
                <a:ea typeface="Nunito" pitchFamily="34" charset="-122"/>
                <a:cs typeface="Nunito" pitchFamily="34" charset="-120"/>
              </a:rPr>
              <a:t>ONE MORE TIME, ALL THE WAY THROUGH</a:t>
            </a:r>
            <a:endParaRPr lang="en-US" sz="1100" dirty="0"/>
          </a:p>
        </p:txBody>
      </p:sp>
      <p:sp>
        <p:nvSpPr>
          <p:cNvPr id="7" name="Text 5"/>
          <p:cNvSpPr/>
          <p:nvPr/>
        </p:nvSpPr>
        <p:spPr>
          <a:xfrm>
            <a:off x="914400" y="1280160"/>
            <a:ext cx="10360152" cy="2000936"/>
          </a:xfrm>
          <a:prstGeom prst="rect">
            <a:avLst/>
          </a:prstGeom>
          <a:noFill/>
          <a:ln/>
        </p:spPr>
        <p:txBody>
          <a:bodyPr wrap="square" rtlCol="0" anchor="t"/>
          <a:lstStyle/>
          <a:p>
            <a:pPr algn="ctr" indent="0" marL="0">
              <a:lnSpc>
                <a:spcPct val="105000"/>
              </a:lnSpc>
              <a:buNone/>
            </a:pPr>
            <a:r>
              <a:rPr lang="en-US" sz="3800" b="1" dirty="0">
                <a:solidFill>
                  <a:srgbClr val="FFF6E9"/>
                </a:solidFill>
                <a:latin typeface="Baloo 2" pitchFamily="34" charset="0"/>
                <a:ea typeface="Baloo 2" pitchFamily="34" charset="-122"/>
                <a:cs typeface="Baloo 2" pitchFamily="34" charset="-120"/>
              </a:rPr>
              <a:t>A widow asks a question in her own words. A rule decides. A ledger remembers.</a:t>
            </a:r>
            <a:endParaRPr lang="en-US" sz="3800" dirty="0"/>
          </a:p>
        </p:txBody>
      </p:sp>
      <p:sp>
        <p:nvSpPr>
          <p:cNvPr id="8" name="Text 6"/>
          <p:cNvSpPr/>
          <p:nvPr/>
        </p:nvSpPr>
        <p:spPr>
          <a:xfrm>
            <a:off x="1463040" y="3701720"/>
            <a:ext cx="9262872" cy="1986217"/>
          </a:xfrm>
          <a:prstGeom prst="rect">
            <a:avLst/>
          </a:prstGeom>
          <a:noFill/>
          <a:ln/>
        </p:spPr>
        <p:txBody>
          <a:bodyPr wrap="square" rtlCol="0" anchor="t"/>
          <a:lstStyle/>
          <a:p>
            <a:pPr algn="ctr" indent="0" marL="0">
              <a:lnSpc>
                <a:spcPct val="125000"/>
              </a:lnSpc>
              <a:buNone/>
            </a:pPr>
            <a:r>
              <a:rPr lang="en-US" sz="1900" dirty="0">
                <a:solidFill>
                  <a:srgbClr val="DCD2BD"/>
                </a:solidFill>
                <a:latin typeface="Nunito" pitchFamily="34" charset="0"/>
                <a:ea typeface="Nunito" pitchFamily="34" charset="-122"/>
                <a:cs typeface="Nunito" pitchFamily="34" charset="-120"/>
              </a:rPr>
              <a:t>We didn’t build a chatbot with a benefits skin, and we didn’t build a transparency dashboard nobody outside an office will ever open. We built the thing a citizen actually opens first — and made sure everything behind it can be checked, by her, by an official, and by you. Every screen in this deck was real. That was the whole point.</a:t>
            </a:r>
            <a:endParaRPr lang="en-US" sz="1900" dirty="0"/>
          </a:p>
        </p:txBody>
      </p:sp>
      <p:sp>
        <p:nvSpPr>
          <p:cNvPr id="9" name="Shape 7"/>
          <p:cNvSpPr/>
          <p:nvPr/>
        </p:nvSpPr>
        <p:spPr>
          <a:xfrm rot="-540000">
            <a:off x="5184648" y="5212080"/>
            <a:ext cx="1828800" cy="1371600"/>
          </a:xfrm>
          <a:prstGeom prst="ellipse">
            <a:avLst/>
          </a:prstGeom>
          <a:solidFill>
            <a:srgbClr val="FFBF00"/>
          </a:solidFill>
          <a:ln w="50800">
            <a:solidFill>
              <a:srgbClr val="1D1D1D"/>
            </a:solidFill>
            <a:prstDash val="solid"/>
          </a:ln>
          <a:effectLst>
            <a:outerShdw sx="100000" sy="100000" kx="0" ky="0" algn="bl" rotWithShape="0" blurRad="2.4795866527063578e+99" dist="2.7895349842946525e+99" dir="2.1322716022447277e+116">
              <a:srgbClr val="1D1D1D">
                <a:alpha val="9.999999999999998e+119"/>
              </a:srgbClr>
            </a:outerShdw>
          </a:effectLst>
        </p:spPr>
      </p:sp>
      <p:sp>
        <p:nvSpPr>
          <p:cNvPr id="10" name="Text 8"/>
          <p:cNvSpPr/>
          <p:nvPr/>
        </p:nvSpPr>
        <p:spPr>
          <a:xfrm rot="-540000">
            <a:off x="5184648" y="5212080"/>
            <a:ext cx="1828800" cy="1371600"/>
          </a:xfrm>
          <a:prstGeom prst="rect">
            <a:avLst/>
          </a:prstGeom>
          <a:noFill/>
          <a:ln/>
        </p:spPr>
        <p:txBody>
          <a:bodyPr wrap="square" rtlCol="0" anchor="ctr"/>
          <a:lstStyle/>
          <a:p>
            <a:pPr algn="ctr" indent="0" marL="0">
              <a:buNone/>
            </a:pPr>
            <a:r>
              <a:rPr lang="en-US" sz="1700" b="1" dirty="0">
                <a:solidFill>
                  <a:srgbClr val="1D1D1D"/>
                </a:solidFill>
                <a:latin typeface="Baloo 2" pitchFamily="34" charset="0"/>
                <a:ea typeface="Baloo 2" pitchFamily="34" charset="-122"/>
                <a:cs typeface="Baloo 2" pitchFamily="34" charset="-120"/>
              </a:rPr>
              <a:t>নাগরিক সাথী</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AccessAI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Nagorik Sathi — Pitch Deck</dc:title>
  <dc:subject>PptxGenJS Presentation</dc:subject>
  <dc:creator>Nagorik Sathi</dc:creator>
  <cp:lastModifiedBy>Nagorik Sathi</cp:lastModifiedBy>
  <cp:revision>1</cp:revision>
  <dcterms:created xsi:type="dcterms:W3CDTF">2026-08-22T13:03:32Z</dcterms:created>
  <dcterms:modified xsi:type="dcterms:W3CDTF">2026-08-22T13:03:32Z</dcterms:modified>
</cp:coreProperties>
</file>